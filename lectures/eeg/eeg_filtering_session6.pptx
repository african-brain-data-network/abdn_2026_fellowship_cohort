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charts/chart5.xml" ContentType="application/vnd.openxmlformats-officedocument.drawingml.chart+xml"/>
  <Override PartName="/ppt/notesSlides/notesSlide15.xml" ContentType="application/vnd.openxmlformats-officedocument.presentationml.notesSlide+xml"/>
  <Override PartName="/ppt/charts/chart6.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77" r:id="rId4"/>
    <p:sldId id="258" r:id="rId5"/>
    <p:sldId id="260" r:id="rId6"/>
    <p:sldId id="259" r:id="rId7"/>
    <p:sldId id="280" r:id="rId8"/>
    <p:sldId id="278" r:id="rId9"/>
    <p:sldId id="279"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8" d="100"/>
          <a:sy n="48" d="100"/>
        </p:scale>
        <p:origin x="53" y="7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bandpass</c:v>
                </c:pt>
              </c:strCache>
            </c:strRef>
          </c:tx>
          <c:spPr>
            <a:ln w="25400" cap="flat">
              <a:solidFill>
                <a:srgbClr val="1C7293"/>
              </a:solidFill>
              <a:prstDash val="solid"/>
              <a:round/>
            </a:ln>
            <a:effectLst/>
          </c:spPr>
          <c:marker>
            <c:symbol val="none"/>
          </c:marker>
          <c:cat>
            <c:strRef>
              <c:f>Sheet1!$A$2:$A$81</c:f>
              <c:strCache>
                <c:ptCount val="8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strCache>
            </c:strRef>
          </c:cat>
          <c:val>
            <c:numRef>
              <c:f>Sheet1!$B$2:$B$81</c:f>
              <c:numCache>
                <c:formatCode>General</c:formatCode>
                <c:ptCount val="80"/>
                <c:pt idx="0">
                  <c:v>0.4</c:v>
                </c:pt>
                <c:pt idx="1">
                  <c:v>0.7</c:v>
                </c:pt>
                <c:pt idx="2">
                  <c:v>1.1000000000000001</c:v>
                </c:pt>
                <c:pt idx="3">
                  <c:v>1.6</c:v>
                </c:pt>
                <c:pt idx="4">
                  <c:v>2.6</c:v>
                </c:pt>
                <c:pt idx="5">
                  <c:v>4</c:v>
                </c:pt>
                <c:pt idx="6">
                  <c:v>6.1</c:v>
                </c:pt>
                <c:pt idx="7">
                  <c:v>9.3000000000000007</c:v>
                </c:pt>
                <c:pt idx="8">
                  <c:v>14</c:v>
                </c:pt>
                <c:pt idx="9">
                  <c:v>20.399999999999999</c:v>
                </c:pt>
                <c:pt idx="10">
                  <c:v>28.7</c:v>
                </c:pt>
                <c:pt idx="11">
                  <c:v>38.799999999999997</c:v>
                </c:pt>
                <c:pt idx="12">
                  <c:v>50</c:v>
                </c:pt>
                <c:pt idx="13">
                  <c:v>61.2</c:v>
                </c:pt>
                <c:pt idx="14">
                  <c:v>71.3</c:v>
                </c:pt>
                <c:pt idx="15">
                  <c:v>79.599999999999994</c:v>
                </c:pt>
                <c:pt idx="16">
                  <c:v>86</c:v>
                </c:pt>
                <c:pt idx="17">
                  <c:v>90.7</c:v>
                </c:pt>
                <c:pt idx="18">
                  <c:v>93.9</c:v>
                </c:pt>
                <c:pt idx="19">
                  <c:v>96</c:v>
                </c:pt>
                <c:pt idx="20">
                  <c:v>97.4</c:v>
                </c:pt>
                <c:pt idx="21">
                  <c:v>98.3</c:v>
                </c:pt>
                <c:pt idx="22">
                  <c:v>98.9</c:v>
                </c:pt>
                <c:pt idx="23">
                  <c:v>99.3</c:v>
                </c:pt>
                <c:pt idx="24">
                  <c:v>99.6</c:v>
                </c:pt>
                <c:pt idx="25">
                  <c:v>99.7</c:v>
                </c:pt>
                <c:pt idx="26">
                  <c:v>99.8</c:v>
                </c:pt>
                <c:pt idx="27">
                  <c:v>99.8</c:v>
                </c:pt>
                <c:pt idx="28">
                  <c:v>99.8</c:v>
                </c:pt>
                <c:pt idx="29">
                  <c:v>99.8</c:v>
                </c:pt>
                <c:pt idx="30">
                  <c:v>99.8</c:v>
                </c:pt>
                <c:pt idx="31">
                  <c:v>99.7</c:v>
                </c:pt>
                <c:pt idx="32">
                  <c:v>99.5</c:v>
                </c:pt>
                <c:pt idx="33">
                  <c:v>99.3</c:v>
                </c:pt>
                <c:pt idx="34">
                  <c:v>99</c:v>
                </c:pt>
                <c:pt idx="35">
                  <c:v>98.6</c:v>
                </c:pt>
                <c:pt idx="36">
                  <c:v>97.9</c:v>
                </c:pt>
                <c:pt idx="37">
                  <c:v>97</c:v>
                </c:pt>
                <c:pt idx="38">
                  <c:v>95.6</c:v>
                </c:pt>
                <c:pt idx="39">
                  <c:v>93.7</c:v>
                </c:pt>
                <c:pt idx="40">
                  <c:v>91</c:v>
                </c:pt>
                <c:pt idx="41">
                  <c:v>87.2</c:v>
                </c:pt>
                <c:pt idx="42">
                  <c:v>82.3</c:v>
                </c:pt>
                <c:pt idx="43">
                  <c:v>76</c:v>
                </c:pt>
                <c:pt idx="44">
                  <c:v>68.3</c:v>
                </c:pt>
                <c:pt idx="45">
                  <c:v>59.5</c:v>
                </c:pt>
                <c:pt idx="46">
                  <c:v>50</c:v>
                </c:pt>
                <c:pt idx="47">
                  <c:v>40.5</c:v>
                </c:pt>
                <c:pt idx="48">
                  <c:v>31.7</c:v>
                </c:pt>
                <c:pt idx="49">
                  <c:v>24</c:v>
                </c:pt>
                <c:pt idx="50">
                  <c:v>17.7</c:v>
                </c:pt>
                <c:pt idx="51">
                  <c:v>12.8</c:v>
                </c:pt>
                <c:pt idx="52">
                  <c:v>9</c:v>
                </c:pt>
                <c:pt idx="53">
                  <c:v>6.3</c:v>
                </c:pt>
                <c:pt idx="54">
                  <c:v>4.4000000000000004</c:v>
                </c:pt>
                <c:pt idx="55">
                  <c:v>3</c:v>
                </c:pt>
                <c:pt idx="56">
                  <c:v>2.1</c:v>
                </c:pt>
                <c:pt idx="57">
                  <c:v>1.4</c:v>
                </c:pt>
                <c:pt idx="58">
                  <c:v>1</c:v>
                </c:pt>
                <c:pt idx="59">
                  <c:v>0.7</c:v>
                </c:pt>
                <c:pt idx="60">
                  <c:v>0.5</c:v>
                </c:pt>
                <c:pt idx="61">
                  <c:v>0.3</c:v>
                </c:pt>
                <c:pt idx="62">
                  <c:v>0.2</c:v>
                </c:pt>
                <c:pt idx="63">
                  <c:v>0.1</c:v>
                </c:pt>
                <c:pt idx="64">
                  <c:v>0.1</c:v>
                </c:pt>
                <c:pt idx="65">
                  <c:v>0.1</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numCache>
            </c:numRef>
          </c:val>
          <c:smooth val="0"/>
          <c:extLst>
            <c:ext xmlns:c16="http://schemas.microsoft.com/office/drawing/2014/chart" uri="{C3380CC4-5D6E-409C-BE32-E72D297353CC}">
              <c16:uniqueId val="{00000000-6937-45AE-9637-8239E7C2805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05"/>
          <c:min val="0"/>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raw_spectrum</c:v>
                </c:pt>
              </c:strCache>
            </c:strRef>
          </c:tx>
          <c:spPr>
            <a:ln w="25400" cap="flat">
              <a:solidFill>
                <a:srgbClr val="1B3A5C"/>
              </a:solidFill>
              <a:prstDash val="solid"/>
              <a:round/>
            </a:ln>
            <a:effectLst/>
          </c:spPr>
          <c:marker>
            <c:symbol val="none"/>
          </c:marker>
          <c:cat>
            <c:strRef>
              <c:f>Sheet1!$A$2:$A$81</c:f>
              <c:strCache>
                <c:ptCount val="8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strCache>
            </c:strRef>
          </c:cat>
          <c:val>
            <c:numRef>
              <c:f>Sheet1!$B$2:$B$81</c:f>
              <c:numCache>
                <c:formatCode>General</c:formatCode>
                <c:ptCount val="80"/>
                <c:pt idx="0">
                  <c:v>100.5</c:v>
                </c:pt>
                <c:pt idx="1">
                  <c:v>100.8</c:v>
                </c:pt>
                <c:pt idx="2">
                  <c:v>100.6</c:v>
                </c:pt>
                <c:pt idx="3">
                  <c:v>99.8</c:v>
                </c:pt>
                <c:pt idx="4">
                  <c:v>99.2</c:v>
                </c:pt>
                <c:pt idx="5">
                  <c:v>99.8</c:v>
                </c:pt>
                <c:pt idx="6">
                  <c:v>99.4</c:v>
                </c:pt>
                <c:pt idx="7">
                  <c:v>98.2</c:v>
                </c:pt>
                <c:pt idx="8">
                  <c:v>99.7</c:v>
                </c:pt>
                <c:pt idx="9">
                  <c:v>98.1</c:v>
                </c:pt>
                <c:pt idx="10">
                  <c:v>100.6</c:v>
                </c:pt>
                <c:pt idx="11">
                  <c:v>101.5</c:v>
                </c:pt>
                <c:pt idx="12">
                  <c:v>101.3</c:v>
                </c:pt>
                <c:pt idx="13">
                  <c:v>100.3</c:v>
                </c:pt>
                <c:pt idx="14">
                  <c:v>100.1</c:v>
                </c:pt>
                <c:pt idx="15">
                  <c:v>100.4</c:v>
                </c:pt>
                <c:pt idx="16">
                  <c:v>101</c:v>
                </c:pt>
                <c:pt idx="17">
                  <c:v>100.9</c:v>
                </c:pt>
                <c:pt idx="18">
                  <c:v>98.3</c:v>
                </c:pt>
                <c:pt idx="19">
                  <c:v>98.1</c:v>
                </c:pt>
                <c:pt idx="20">
                  <c:v>98.3</c:v>
                </c:pt>
                <c:pt idx="21">
                  <c:v>99.2</c:v>
                </c:pt>
                <c:pt idx="22">
                  <c:v>99.6</c:v>
                </c:pt>
                <c:pt idx="23">
                  <c:v>98.4</c:v>
                </c:pt>
                <c:pt idx="24">
                  <c:v>98.4</c:v>
                </c:pt>
                <c:pt idx="25">
                  <c:v>100.2</c:v>
                </c:pt>
                <c:pt idx="26">
                  <c:v>102</c:v>
                </c:pt>
                <c:pt idx="27">
                  <c:v>100.1</c:v>
                </c:pt>
                <c:pt idx="28">
                  <c:v>101.6</c:v>
                </c:pt>
                <c:pt idx="29">
                  <c:v>97.7</c:v>
                </c:pt>
                <c:pt idx="30">
                  <c:v>95.6</c:v>
                </c:pt>
                <c:pt idx="31">
                  <c:v>93.1</c:v>
                </c:pt>
                <c:pt idx="32">
                  <c:v>87.9</c:v>
                </c:pt>
                <c:pt idx="33">
                  <c:v>84.8</c:v>
                </c:pt>
                <c:pt idx="34">
                  <c:v>83</c:v>
                </c:pt>
                <c:pt idx="35">
                  <c:v>81.400000000000006</c:v>
                </c:pt>
                <c:pt idx="36">
                  <c:v>79.900000000000006</c:v>
                </c:pt>
                <c:pt idx="37">
                  <c:v>76.3</c:v>
                </c:pt>
                <c:pt idx="38">
                  <c:v>75.5</c:v>
                </c:pt>
                <c:pt idx="39">
                  <c:v>73.099999999999994</c:v>
                </c:pt>
                <c:pt idx="40">
                  <c:v>73.5</c:v>
                </c:pt>
                <c:pt idx="41">
                  <c:v>72.400000000000006</c:v>
                </c:pt>
                <c:pt idx="42">
                  <c:v>69.7</c:v>
                </c:pt>
                <c:pt idx="43">
                  <c:v>68.2</c:v>
                </c:pt>
                <c:pt idx="44">
                  <c:v>67.099999999999994</c:v>
                </c:pt>
                <c:pt idx="45">
                  <c:v>66.099999999999994</c:v>
                </c:pt>
                <c:pt idx="46">
                  <c:v>64.599999999999994</c:v>
                </c:pt>
                <c:pt idx="47">
                  <c:v>61.5</c:v>
                </c:pt>
                <c:pt idx="48">
                  <c:v>60.3</c:v>
                </c:pt>
                <c:pt idx="49">
                  <c:v>114.6</c:v>
                </c:pt>
                <c:pt idx="50">
                  <c:v>112.9</c:v>
                </c:pt>
                <c:pt idx="51">
                  <c:v>112.2</c:v>
                </c:pt>
                <c:pt idx="52">
                  <c:v>56.3</c:v>
                </c:pt>
                <c:pt idx="53">
                  <c:v>55.3</c:v>
                </c:pt>
                <c:pt idx="54">
                  <c:v>54.9</c:v>
                </c:pt>
                <c:pt idx="55">
                  <c:v>55.7</c:v>
                </c:pt>
                <c:pt idx="56">
                  <c:v>53.6</c:v>
                </c:pt>
                <c:pt idx="57">
                  <c:v>53.7</c:v>
                </c:pt>
                <c:pt idx="58">
                  <c:v>52.7</c:v>
                </c:pt>
                <c:pt idx="59">
                  <c:v>52.8</c:v>
                </c:pt>
                <c:pt idx="60">
                  <c:v>50.7</c:v>
                </c:pt>
                <c:pt idx="61">
                  <c:v>49.3</c:v>
                </c:pt>
                <c:pt idx="62">
                  <c:v>48.3</c:v>
                </c:pt>
                <c:pt idx="63">
                  <c:v>47.7</c:v>
                </c:pt>
                <c:pt idx="64">
                  <c:v>46.8</c:v>
                </c:pt>
                <c:pt idx="65">
                  <c:v>46</c:v>
                </c:pt>
                <c:pt idx="66">
                  <c:v>44.4</c:v>
                </c:pt>
                <c:pt idx="67">
                  <c:v>44.8</c:v>
                </c:pt>
                <c:pt idx="68">
                  <c:v>44</c:v>
                </c:pt>
                <c:pt idx="69">
                  <c:v>45.5</c:v>
                </c:pt>
                <c:pt idx="70">
                  <c:v>43.3</c:v>
                </c:pt>
                <c:pt idx="71">
                  <c:v>43.3</c:v>
                </c:pt>
                <c:pt idx="72">
                  <c:v>43.1</c:v>
                </c:pt>
                <c:pt idx="73">
                  <c:v>43.2</c:v>
                </c:pt>
                <c:pt idx="74">
                  <c:v>42.9</c:v>
                </c:pt>
                <c:pt idx="75">
                  <c:v>41.3</c:v>
                </c:pt>
                <c:pt idx="76">
                  <c:v>41.1</c:v>
                </c:pt>
                <c:pt idx="77">
                  <c:v>39.1</c:v>
                </c:pt>
                <c:pt idx="78">
                  <c:v>37.799999999999997</c:v>
                </c:pt>
                <c:pt idx="79">
                  <c:v>37.5</c:v>
                </c:pt>
              </c:numCache>
            </c:numRef>
          </c:val>
          <c:smooth val="0"/>
          <c:extLst>
            <c:ext xmlns:c16="http://schemas.microsoft.com/office/drawing/2014/chart" uri="{C3380CC4-5D6E-409C-BE32-E72D297353CC}">
              <c16:uniqueId val="{00000000-5072-430F-8592-0F127A60502A}"/>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05"/>
          <c:min val="0"/>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cut15</c:v>
                </c:pt>
              </c:strCache>
            </c:strRef>
          </c:tx>
          <c:spPr>
            <a:ln w="25400" cap="flat">
              <a:solidFill>
                <a:srgbClr val="1C7293"/>
              </a:solidFill>
              <a:prstDash val="solid"/>
              <a:round/>
            </a:ln>
            <a:effectLst/>
          </c:spPr>
          <c:marker>
            <c:symbol val="none"/>
          </c:marker>
          <c:cat>
            <c:strRef>
              <c:f>Sheet1!$A$2:$A$81</c:f>
              <c:strCache>
                <c:ptCount val="8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strCache>
            </c:strRef>
          </c:cat>
          <c:val>
            <c:numRef>
              <c:f>Sheet1!$B$2:$B$81</c:f>
              <c:numCache>
                <c:formatCode>General</c:formatCode>
                <c:ptCount val="80"/>
                <c:pt idx="0">
                  <c:v>99.8</c:v>
                </c:pt>
                <c:pt idx="1">
                  <c:v>99.6</c:v>
                </c:pt>
                <c:pt idx="2">
                  <c:v>99.3</c:v>
                </c:pt>
                <c:pt idx="3">
                  <c:v>98.9</c:v>
                </c:pt>
                <c:pt idx="4">
                  <c:v>98.2</c:v>
                </c:pt>
                <c:pt idx="5">
                  <c:v>97.1</c:v>
                </c:pt>
                <c:pt idx="6">
                  <c:v>95.3</c:v>
                </c:pt>
                <c:pt idx="7">
                  <c:v>92.4</c:v>
                </c:pt>
                <c:pt idx="8">
                  <c:v>88.1</c:v>
                </c:pt>
                <c:pt idx="9">
                  <c:v>81.8</c:v>
                </c:pt>
                <c:pt idx="10">
                  <c:v>73.099999999999994</c:v>
                </c:pt>
                <c:pt idx="11">
                  <c:v>62.2</c:v>
                </c:pt>
                <c:pt idx="12">
                  <c:v>50</c:v>
                </c:pt>
                <c:pt idx="13">
                  <c:v>37.799999999999997</c:v>
                </c:pt>
                <c:pt idx="14">
                  <c:v>26.9</c:v>
                </c:pt>
                <c:pt idx="15">
                  <c:v>18.2</c:v>
                </c:pt>
                <c:pt idx="16">
                  <c:v>11.9</c:v>
                </c:pt>
                <c:pt idx="17">
                  <c:v>7.6</c:v>
                </c:pt>
                <c:pt idx="18">
                  <c:v>4.7</c:v>
                </c:pt>
                <c:pt idx="19">
                  <c:v>2.9</c:v>
                </c:pt>
                <c:pt idx="20">
                  <c:v>1.8</c:v>
                </c:pt>
                <c:pt idx="21">
                  <c:v>1.1000000000000001</c:v>
                </c:pt>
                <c:pt idx="22">
                  <c:v>0.7</c:v>
                </c:pt>
                <c:pt idx="23">
                  <c:v>0.4</c:v>
                </c:pt>
                <c:pt idx="24">
                  <c:v>0.2</c:v>
                </c:pt>
                <c:pt idx="25">
                  <c:v>0.2</c:v>
                </c:pt>
                <c:pt idx="26">
                  <c:v>0.1</c:v>
                </c:pt>
                <c:pt idx="27">
                  <c:v>0.1</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numCache>
            </c:numRef>
          </c:val>
          <c:smooth val="0"/>
          <c:extLst>
            <c:ext xmlns:c16="http://schemas.microsoft.com/office/drawing/2014/chart" uri="{C3380CC4-5D6E-409C-BE32-E72D297353CC}">
              <c16:uniqueId val="{00000000-B8F7-4315-87EA-97A93723387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05"/>
          <c:min val="0"/>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lowpass</c:v>
                </c:pt>
              </c:strCache>
            </c:strRef>
          </c:tx>
          <c:spPr>
            <a:ln w="25400" cap="flat">
              <a:solidFill>
                <a:srgbClr val="1B3A5C"/>
              </a:solidFill>
              <a:prstDash val="solid"/>
              <a:round/>
            </a:ln>
            <a:effectLst/>
          </c:spPr>
          <c:marker>
            <c:symbol val="none"/>
          </c:marker>
          <c:cat>
            <c:strRef>
              <c:f>Sheet1!$A$2:$A$81</c:f>
              <c:strCache>
                <c:ptCount val="8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strCache>
            </c:strRef>
          </c:cat>
          <c:val>
            <c:numRef>
              <c:f>Sheet1!$B$2:$B$81</c:f>
              <c:numCache>
                <c:formatCode>General</c:formatCode>
                <c:ptCount val="80"/>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99.9</c:v>
                </c:pt>
                <c:pt idx="29">
                  <c:v>99.9</c:v>
                </c:pt>
                <c:pt idx="30">
                  <c:v>99.9</c:v>
                </c:pt>
                <c:pt idx="31">
                  <c:v>99.9</c:v>
                </c:pt>
                <c:pt idx="32">
                  <c:v>99.8</c:v>
                </c:pt>
                <c:pt idx="33">
                  <c:v>99.7</c:v>
                </c:pt>
                <c:pt idx="34">
                  <c:v>99.6</c:v>
                </c:pt>
                <c:pt idx="35">
                  <c:v>99.5</c:v>
                </c:pt>
                <c:pt idx="36">
                  <c:v>99.3</c:v>
                </c:pt>
                <c:pt idx="37">
                  <c:v>99.1</c:v>
                </c:pt>
                <c:pt idx="38">
                  <c:v>98.8</c:v>
                </c:pt>
                <c:pt idx="39">
                  <c:v>98.3</c:v>
                </c:pt>
                <c:pt idx="40">
                  <c:v>97.7</c:v>
                </c:pt>
                <c:pt idx="41">
                  <c:v>96.9</c:v>
                </c:pt>
                <c:pt idx="42">
                  <c:v>95.8</c:v>
                </c:pt>
                <c:pt idx="43">
                  <c:v>94.3</c:v>
                </c:pt>
                <c:pt idx="44">
                  <c:v>92.4</c:v>
                </c:pt>
                <c:pt idx="45">
                  <c:v>89.9</c:v>
                </c:pt>
                <c:pt idx="46">
                  <c:v>86.7</c:v>
                </c:pt>
                <c:pt idx="47">
                  <c:v>82.7</c:v>
                </c:pt>
                <c:pt idx="48">
                  <c:v>77.7</c:v>
                </c:pt>
                <c:pt idx="49">
                  <c:v>71.900000000000006</c:v>
                </c:pt>
                <c:pt idx="50">
                  <c:v>65.099999999999994</c:v>
                </c:pt>
                <c:pt idx="51">
                  <c:v>57.7</c:v>
                </c:pt>
                <c:pt idx="52">
                  <c:v>50</c:v>
                </c:pt>
                <c:pt idx="53">
                  <c:v>42.3</c:v>
                </c:pt>
                <c:pt idx="54">
                  <c:v>34.9</c:v>
                </c:pt>
                <c:pt idx="55">
                  <c:v>28.1</c:v>
                </c:pt>
                <c:pt idx="56">
                  <c:v>22.3</c:v>
                </c:pt>
                <c:pt idx="57">
                  <c:v>17.3</c:v>
                </c:pt>
                <c:pt idx="58">
                  <c:v>13.3</c:v>
                </c:pt>
                <c:pt idx="59">
                  <c:v>10.1</c:v>
                </c:pt>
                <c:pt idx="60">
                  <c:v>7.6</c:v>
                </c:pt>
                <c:pt idx="61">
                  <c:v>5.7</c:v>
                </c:pt>
                <c:pt idx="62">
                  <c:v>4.2</c:v>
                </c:pt>
                <c:pt idx="63">
                  <c:v>3.1</c:v>
                </c:pt>
                <c:pt idx="64">
                  <c:v>2.2999999999999998</c:v>
                </c:pt>
                <c:pt idx="65">
                  <c:v>1.7</c:v>
                </c:pt>
                <c:pt idx="66">
                  <c:v>1.2</c:v>
                </c:pt>
                <c:pt idx="67">
                  <c:v>0.9</c:v>
                </c:pt>
                <c:pt idx="68">
                  <c:v>0.7</c:v>
                </c:pt>
                <c:pt idx="69">
                  <c:v>0.5</c:v>
                </c:pt>
                <c:pt idx="70">
                  <c:v>0.4</c:v>
                </c:pt>
                <c:pt idx="71">
                  <c:v>0.3</c:v>
                </c:pt>
                <c:pt idx="72">
                  <c:v>0.2</c:v>
                </c:pt>
                <c:pt idx="73">
                  <c:v>0.1</c:v>
                </c:pt>
                <c:pt idx="74">
                  <c:v>0.1</c:v>
                </c:pt>
                <c:pt idx="75">
                  <c:v>0.1</c:v>
                </c:pt>
                <c:pt idx="76">
                  <c:v>0.1</c:v>
                </c:pt>
                <c:pt idx="77">
                  <c:v>0</c:v>
                </c:pt>
                <c:pt idx="78">
                  <c:v>0</c:v>
                </c:pt>
                <c:pt idx="79">
                  <c:v>0</c:v>
                </c:pt>
              </c:numCache>
            </c:numRef>
          </c:val>
          <c:smooth val="0"/>
          <c:extLst>
            <c:ext xmlns:c16="http://schemas.microsoft.com/office/drawing/2014/chart" uri="{C3380CC4-5D6E-409C-BE32-E72D297353CC}">
              <c16:uniqueId val="{00000000-4CFF-4149-A998-7874D468F178}"/>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05"/>
          <c:min val="0"/>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bandpass</c:v>
                </c:pt>
              </c:strCache>
            </c:strRef>
          </c:tx>
          <c:spPr>
            <a:ln w="25400" cap="flat">
              <a:solidFill>
                <a:srgbClr val="F2A541"/>
              </a:solidFill>
              <a:prstDash val="solid"/>
              <a:round/>
            </a:ln>
            <a:effectLst/>
          </c:spPr>
          <c:marker>
            <c:symbol val="none"/>
          </c:marker>
          <c:cat>
            <c:strRef>
              <c:f>Sheet1!$A$2:$A$81</c:f>
              <c:strCache>
                <c:ptCount val="8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strCache>
            </c:strRef>
          </c:cat>
          <c:val>
            <c:numRef>
              <c:f>Sheet1!$B$2:$B$81</c:f>
              <c:numCache>
                <c:formatCode>General</c:formatCode>
                <c:ptCount val="80"/>
                <c:pt idx="0">
                  <c:v>0.4</c:v>
                </c:pt>
                <c:pt idx="1">
                  <c:v>0.7</c:v>
                </c:pt>
                <c:pt idx="2">
                  <c:v>1.1000000000000001</c:v>
                </c:pt>
                <c:pt idx="3">
                  <c:v>1.6</c:v>
                </c:pt>
                <c:pt idx="4">
                  <c:v>2.6</c:v>
                </c:pt>
                <c:pt idx="5">
                  <c:v>4</c:v>
                </c:pt>
                <c:pt idx="6">
                  <c:v>6.1</c:v>
                </c:pt>
                <c:pt idx="7">
                  <c:v>9.3000000000000007</c:v>
                </c:pt>
                <c:pt idx="8">
                  <c:v>14</c:v>
                </c:pt>
                <c:pt idx="9">
                  <c:v>20.399999999999999</c:v>
                </c:pt>
                <c:pt idx="10">
                  <c:v>28.7</c:v>
                </c:pt>
                <c:pt idx="11">
                  <c:v>38.799999999999997</c:v>
                </c:pt>
                <c:pt idx="12">
                  <c:v>50</c:v>
                </c:pt>
                <c:pt idx="13">
                  <c:v>61.2</c:v>
                </c:pt>
                <c:pt idx="14">
                  <c:v>71.3</c:v>
                </c:pt>
                <c:pt idx="15">
                  <c:v>79.599999999999994</c:v>
                </c:pt>
                <c:pt idx="16">
                  <c:v>86</c:v>
                </c:pt>
                <c:pt idx="17">
                  <c:v>90.7</c:v>
                </c:pt>
                <c:pt idx="18">
                  <c:v>93.9</c:v>
                </c:pt>
                <c:pt idx="19">
                  <c:v>96</c:v>
                </c:pt>
                <c:pt idx="20">
                  <c:v>97.4</c:v>
                </c:pt>
                <c:pt idx="21">
                  <c:v>98.3</c:v>
                </c:pt>
                <c:pt idx="22">
                  <c:v>98.9</c:v>
                </c:pt>
                <c:pt idx="23">
                  <c:v>99.3</c:v>
                </c:pt>
                <c:pt idx="24">
                  <c:v>99.6</c:v>
                </c:pt>
                <c:pt idx="25">
                  <c:v>99.7</c:v>
                </c:pt>
                <c:pt idx="26">
                  <c:v>99.8</c:v>
                </c:pt>
                <c:pt idx="27">
                  <c:v>99.8</c:v>
                </c:pt>
                <c:pt idx="28">
                  <c:v>99.8</c:v>
                </c:pt>
                <c:pt idx="29">
                  <c:v>99.8</c:v>
                </c:pt>
                <c:pt idx="30">
                  <c:v>99.8</c:v>
                </c:pt>
                <c:pt idx="31">
                  <c:v>99.7</c:v>
                </c:pt>
                <c:pt idx="32">
                  <c:v>99.5</c:v>
                </c:pt>
                <c:pt idx="33">
                  <c:v>99.3</c:v>
                </c:pt>
                <c:pt idx="34">
                  <c:v>99</c:v>
                </c:pt>
                <c:pt idx="35">
                  <c:v>98.6</c:v>
                </c:pt>
                <c:pt idx="36">
                  <c:v>97.9</c:v>
                </c:pt>
                <c:pt idx="37">
                  <c:v>97</c:v>
                </c:pt>
                <c:pt idx="38">
                  <c:v>95.6</c:v>
                </c:pt>
                <c:pt idx="39">
                  <c:v>93.7</c:v>
                </c:pt>
                <c:pt idx="40">
                  <c:v>91</c:v>
                </c:pt>
                <c:pt idx="41">
                  <c:v>87.2</c:v>
                </c:pt>
                <c:pt idx="42">
                  <c:v>82.3</c:v>
                </c:pt>
                <c:pt idx="43">
                  <c:v>76</c:v>
                </c:pt>
                <c:pt idx="44">
                  <c:v>68.3</c:v>
                </c:pt>
                <c:pt idx="45">
                  <c:v>59.5</c:v>
                </c:pt>
                <c:pt idx="46">
                  <c:v>50</c:v>
                </c:pt>
                <c:pt idx="47">
                  <c:v>40.5</c:v>
                </c:pt>
                <c:pt idx="48">
                  <c:v>31.7</c:v>
                </c:pt>
                <c:pt idx="49">
                  <c:v>24</c:v>
                </c:pt>
                <c:pt idx="50">
                  <c:v>17.7</c:v>
                </c:pt>
                <c:pt idx="51">
                  <c:v>12.8</c:v>
                </c:pt>
                <c:pt idx="52">
                  <c:v>9</c:v>
                </c:pt>
                <c:pt idx="53">
                  <c:v>6.3</c:v>
                </c:pt>
                <c:pt idx="54">
                  <c:v>4.4000000000000004</c:v>
                </c:pt>
                <c:pt idx="55">
                  <c:v>3</c:v>
                </c:pt>
                <c:pt idx="56">
                  <c:v>2.1</c:v>
                </c:pt>
                <c:pt idx="57">
                  <c:v>1.4</c:v>
                </c:pt>
                <c:pt idx="58">
                  <c:v>1</c:v>
                </c:pt>
                <c:pt idx="59">
                  <c:v>0.7</c:v>
                </c:pt>
                <c:pt idx="60">
                  <c:v>0.5</c:v>
                </c:pt>
                <c:pt idx="61">
                  <c:v>0.3</c:v>
                </c:pt>
                <c:pt idx="62">
                  <c:v>0.2</c:v>
                </c:pt>
                <c:pt idx="63">
                  <c:v>0.1</c:v>
                </c:pt>
                <c:pt idx="64">
                  <c:v>0.1</c:v>
                </c:pt>
                <c:pt idx="65">
                  <c:v>0.1</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numCache>
            </c:numRef>
          </c:val>
          <c:smooth val="0"/>
          <c:extLst>
            <c:ext xmlns:c16="http://schemas.microsoft.com/office/drawing/2014/chart" uri="{C3380CC4-5D6E-409C-BE32-E72D297353CC}">
              <c16:uniqueId val="{00000000-A7DE-4003-8887-137B9874A14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05"/>
          <c:min val="0"/>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notch</c:v>
                </c:pt>
              </c:strCache>
            </c:strRef>
          </c:tx>
          <c:spPr>
            <a:ln w="25400" cap="flat">
              <a:solidFill>
                <a:srgbClr val="D64550"/>
              </a:solidFill>
              <a:prstDash val="solid"/>
              <a:round/>
            </a:ln>
            <a:effectLst/>
          </c:spPr>
          <c:marker>
            <c:symbol val="none"/>
          </c:marker>
          <c:cat>
            <c:strRef>
              <c:f>Sheet1!$A$2:$A$81</c:f>
              <c:strCache>
                <c:ptCount val="8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strCache>
            </c:strRef>
          </c:cat>
          <c:val>
            <c:numRef>
              <c:f>Sheet1!$B$2:$B$81</c:f>
              <c:numCache>
                <c:formatCode>General</c:formatCode>
                <c:ptCount val="80"/>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99.8</c:v>
                </c:pt>
                <c:pt idx="45">
                  <c:v>98.6</c:v>
                </c:pt>
                <c:pt idx="46">
                  <c:v>93.6</c:v>
                </c:pt>
                <c:pt idx="47">
                  <c:v>79.5</c:v>
                </c:pt>
                <c:pt idx="48">
                  <c:v>52.8</c:v>
                </c:pt>
                <c:pt idx="49">
                  <c:v>22.1</c:v>
                </c:pt>
                <c:pt idx="50">
                  <c:v>8</c:v>
                </c:pt>
                <c:pt idx="51">
                  <c:v>22.1</c:v>
                </c:pt>
                <c:pt idx="52">
                  <c:v>52.8</c:v>
                </c:pt>
                <c:pt idx="53">
                  <c:v>79.5</c:v>
                </c:pt>
                <c:pt idx="54">
                  <c:v>93.6</c:v>
                </c:pt>
                <c:pt idx="55">
                  <c:v>98.6</c:v>
                </c:pt>
                <c:pt idx="56">
                  <c:v>99.8</c:v>
                </c:pt>
                <c:pt idx="57">
                  <c:v>100</c:v>
                </c:pt>
                <c:pt idx="58">
                  <c:v>100</c:v>
                </c:pt>
                <c:pt idx="59">
                  <c:v>100</c:v>
                </c:pt>
                <c:pt idx="60">
                  <c:v>100</c:v>
                </c:pt>
                <c:pt idx="61">
                  <c:v>100</c:v>
                </c:pt>
                <c:pt idx="62">
                  <c:v>100</c:v>
                </c:pt>
                <c:pt idx="63">
                  <c:v>100</c:v>
                </c:pt>
                <c:pt idx="64">
                  <c:v>100</c:v>
                </c:pt>
                <c:pt idx="65">
                  <c:v>100</c:v>
                </c:pt>
                <c:pt idx="66">
                  <c:v>100</c:v>
                </c:pt>
                <c:pt idx="67">
                  <c:v>100</c:v>
                </c:pt>
                <c:pt idx="68">
                  <c:v>100</c:v>
                </c:pt>
                <c:pt idx="69">
                  <c:v>100</c:v>
                </c:pt>
                <c:pt idx="70">
                  <c:v>100</c:v>
                </c:pt>
                <c:pt idx="71">
                  <c:v>100</c:v>
                </c:pt>
                <c:pt idx="72">
                  <c:v>100</c:v>
                </c:pt>
                <c:pt idx="73">
                  <c:v>100</c:v>
                </c:pt>
                <c:pt idx="74">
                  <c:v>100</c:v>
                </c:pt>
                <c:pt idx="75">
                  <c:v>100</c:v>
                </c:pt>
                <c:pt idx="76">
                  <c:v>100</c:v>
                </c:pt>
                <c:pt idx="77">
                  <c:v>100</c:v>
                </c:pt>
                <c:pt idx="78">
                  <c:v>100</c:v>
                </c:pt>
                <c:pt idx="79">
                  <c:v>100</c:v>
                </c:pt>
              </c:numCache>
            </c:numRef>
          </c:val>
          <c:smooth val="0"/>
          <c:extLst>
            <c:ext xmlns:c16="http://schemas.microsoft.com/office/drawing/2014/chart" uri="{C3380CC4-5D6E-409C-BE32-E72D297353CC}">
              <c16:uniqueId val="{00000000-C1C7-4038-B202-77D1699910C3}"/>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05"/>
          <c:min val="0"/>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0E574C-F227-4BF5-AD9B-9E306CF815B7}" type="doc">
      <dgm:prSet loTypeId="urn:microsoft.com/office/officeart/2024/layout/BulletTimeline" loCatId="process" qsTypeId="urn:microsoft.com/office/officeart/2005/8/quickstyle/simple5" qsCatId="simple" csTypeId="urn:microsoft.com/office/officeart/2005/8/colors/accent1_2" csCatId="accent1" phldr="1"/>
      <dgm:spPr/>
      <dgm:t>
        <a:bodyPr/>
        <a:lstStyle/>
        <a:p>
          <a:endParaRPr lang="en-GH"/>
        </a:p>
      </dgm:t>
    </dgm:pt>
    <dgm:pt modelId="{5C514F86-8FFE-4BB2-A34E-E4848DE4A9C8}">
      <dgm:prSet phldrT="[Text]" phldr="0"/>
      <dgm:spPr/>
      <dgm:t>
        <a:bodyPr/>
        <a:lstStyle/>
        <a:p>
          <a:pPr>
            <a:defRPr b="1"/>
          </a:pPr>
          <a:r>
            <a:rPr lang="en-US" dirty="0"/>
            <a:t>Raw EEG</a:t>
          </a:r>
          <a:endParaRPr lang="en-GH" dirty="0"/>
        </a:p>
      </dgm:t>
    </dgm:pt>
    <dgm:pt modelId="{39E25ADB-AA76-4C04-A10A-8524A8D6B589}" type="parTrans" cxnId="{54C7007C-BA73-4937-8C17-E65490C66C35}">
      <dgm:prSet/>
      <dgm:spPr/>
      <dgm:t>
        <a:bodyPr/>
        <a:lstStyle/>
        <a:p>
          <a:endParaRPr lang="en-GH"/>
        </a:p>
      </dgm:t>
    </dgm:pt>
    <dgm:pt modelId="{B6C5FEB7-CA2B-442E-BF0B-8EC5F6407963}" type="sibTrans" cxnId="{54C7007C-BA73-4937-8C17-E65490C66C35}">
      <dgm:prSet/>
      <dgm:spPr/>
      <dgm:t>
        <a:bodyPr/>
        <a:lstStyle/>
        <a:p>
          <a:endParaRPr lang="en-GH"/>
        </a:p>
      </dgm:t>
    </dgm:pt>
    <dgm:pt modelId="{E4381EF7-7062-48AC-BA0D-1BB2238E5C3A}">
      <dgm:prSet phldrT="[Text]" phldr="0"/>
      <dgm:spPr/>
      <dgm:t>
        <a:bodyPr/>
        <a:lstStyle/>
        <a:p>
          <a:pPr>
            <a:defRPr b="1"/>
          </a:pPr>
          <a:r>
            <a:rPr lang="en-US" dirty="0"/>
            <a:t>Get Data</a:t>
          </a:r>
          <a:endParaRPr lang="en-GH" dirty="0"/>
        </a:p>
      </dgm:t>
    </dgm:pt>
    <dgm:pt modelId="{18F7D798-31C4-435E-B451-87A282D55CC8}" type="parTrans" cxnId="{016A0F4C-6F05-474F-B80B-5B9CC322432C}">
      <dgm:prSet/>
      <dgm:spPr/>
      <dgm:t>
        <a:bodyPr/>
        <a:lstStyle/>
        <a:p>
          <a:endParaRPr lang="en-GH"/>
        </a:p>
      </dgm:t>
    </dgm:pt>
    <dgm:pt modelId="{E18AF98F-7043-43B4-90E3-45615B8E3894}" type="sibTrans" cxnId="{016A0F4C-6F05-474F-B80B-5B9CC322432C}">
      <dgm:prSet/>
      <dgm:spPr/>
      <dgm:t>
        <a:bodyPr/>
        <a:lstStyle/>
        <a:p>
          <a:endParaRPr lang="en-GH"/>
        </a:p>
      </dgm:t>
    </dgm:pt>
    <dgm:pt modelId="{62595277-5049-4522-AD94-D484163A4F7C}">
      <dgm:prSet phldrT="[Text]" phldr="0"/>
      <dgm:spPr/>
      <dgm:t>
        <a:bodyPr/>
        <a:lstStyle/>
        <a:p>
          <a:pPr>
            <a:defRPr b="1"/>
          </a:pPr>
          <a:r>
            <a:rPr lang="en-US"/>
            <a:t>Filtering</a:t>
          </a:r>
          <a:endParaRPr lang="en-GH" dirty="0"/>
        </a:p>
      </dgm:t>
    </dgm:pt>
    <dgm:pt modelId="{EDC48B21-EF06-4A29-A6BB-0777E089CDFB}" type="parTrans" cxnId="{CF9FA236-0C9B-4203-9A20-DA473EFFCBBE}">
      <dgm:prSet/>
      <dgm:spPr/>
      <dgm:t>
        <a:bodyPr/>
        <a:lstStyle/>
        <a:p>
          <a:endParaRPr lang="en-GH"/>
        </a:p>
      </dgm:t>
    </dgm:pt>
    <dgm:pt modelId="{70615A0D-113D-484E-8CE4-452367C0FF93}" type="sibTrans" cxnId="{CF9FA236-0C9B-4203-9A20-DA473EFFCBBE}">
      <dgm:prSet/>
      <dgm:spPr/>
      <dgm:t>
        <a:bodyPr/>
        <a:lstStyle/>
        <a:p>
          <a:endParaRPr lang="en-GH"/>
        </a:p>
      </dgm:t>
    </dgm:pt>
    <dgm:pt modelId="{818DED32-1D96-4226-BA63-3647EE084EE3}">
      <dgm:prSet phldrT="[Text]" phldr="0"/>
      <dgm:spPr/>
      <dgm:t>
        <a:bodyPr/>
        <a:lstStyle/>
        <a:p>
          <a:pPr>
            <a:defRPr b="1"/>
          </a:pPr>
          <a:r>
            <a:rPr lang="en-US" dirty="0"/>
            <a:t>Re-referencing</a:t>
          </a:r>
          <a:endParaRPr lang="en-GH" dirty="0"/>
        </a:p>
      </dgm:t>
    </dgm:pt>
    <dgm:pt modelId="{EB533A51-05D1-4019-90EA-C9391FAA55F1}" type="parTrans" cxnId="{C8FFBD57-F4FA-4661-B163-AAB0111AF92D}">
      <dgm:prSet/>
      <dgm:spPr/>
      <dgm:t>
        <a:bodyPr/>
        <a:lstStyle/>
        <a:p>
          <a:endParaRPr lang="en-GH"/>
        </a:p>
      </dgm:t>
    </dgm:pt>
    <dgm:pt modelId="{7D0C315C-E267-4989-A113-BB21DEE0F4B0}" type="sibTrans" cxnId="{C8FFBD57-F4FA-4661-B163-AAB0111AF92D}">
      <dgm:prSet/>
      <dgm:spPr/>
      <dgm:t>
        <a:bodyPr/>
        <a:lstStyle/>
        <a:p>
          <a:endParaRPr lang="en-GH"/>
        </a:p>
      </dgm:t>
    </dgm:pt>
    <dgm:pt modelId="{D96C97A6-EDB2-49F0-9FF2-A2DD316F3341}">
      <dgm:prSet phldrT="[Text]" phldr="0"/>
      <dgm:spPr/>
      <dgm:t>
        <a:bodyPr/>
        <a:lstStyle/>
        <a:p>
          <a:pPr>
            <a:defRPr b="1"/>
          </a:pPr>
          <a:r>
            <a:rPr lang="en-US"/>
            <a:t>Artifact Removal</a:t>
          </a:r>
          <a:endParaRPr lang="en-GH" dirty="0"/>
        </a:p>
      </dgm:t>
    </dgm:pt>
    <dgm:pt modelId="{87306203-FE0D-4EBD-B2DE-035991F40306}" type="parTrans" cxnId="{C68DA34D-4912-43BE-8D83-EB9D35C8B8CB}">
      <dgm:prSet/>
      <dgm:spPr/>
      <dgm:t>
        <a:bodyPr/>
        <a:lstStyle/>
        <a:p>
          <a:endParaRPr lang="en-GH"/>
        </a:p>
      </dgm:t>
    </dgm:pt>
    <dgm:pt modelId="{97578D36-7393-43A9-B51C-B8094DD500B2}" type="sibTrans" cxnId="{C68DA34D-4912-43BE-8D83-EB9D35C8B8CB}">
      <dgm:prSet/>
      <dgm:spPr/>
      <dgm:t>
        <a:bodyPr/>
        <a:lstStyle/>
        <a:p>
          <a:endParaRPr lang="en-GH"/>
        </a:p>
      </dgm:t>
    </dgm:pt>
    <dgm:pt modelId="{DE69B308-49A1-438F-8515-5B766B21D0D2}">
      <dgm:prSet phldrT="[Text]" phldr="0"/>
      <dgm:spPr/>
      <dgm:t>
        <a:bodyPr/>
        <a:lstStyle/>
        <a:p>
          <a:pPr>
            <a:defRPr b="1"/>
          </a:pPr>
          <a:r>
            <a:rPr lang="en-US"/>
            <a:t>Epoching</a:t>
          </a:r>
          <a:endParaRPr lang="en-GH" dirty="0"/>
        </a:p>
      </dgm:t>
    </dgm:pt>
    <dgm:pt modelId="{77EFDC48-E6D6-4E26-93B9-BEADC52A1B08}" type="parTrans" cxnId="{D0447EC7-2C4C-409F-B500-9964C616CC9C}">
      <dgm:prSet/>
      <dgm:spPr/>
      <dgm:t>
        <a:bodyPr/>
        <a:lstStyle/>
        <a:p>
          <a:endParaRPr lang="en-GH"/>
        </a:p>
      </dgm:t>
    </dgm:pt>
    <dgm:pt modelId="{052ED9B6-A7B8-44A7-B4D1-507E75571FB8}" type="sibTrans" cxnId="{D0447EC7-2C4C-409F-B500-9964C616CC9C}">
      <dgm:prSet/>
      <dgm:spPr/>
      <dgm:t>
        <a:bodyPr/>
        <a:lstStyle/>
        <a:p>
          <a:endParaRPr lang="en-GH"/>
        </a:p>
      </dgm:t>
    </dgm:pt>
    <dgm:pt modelId="{EEFA336F-81D6-4F73-9A55-8B12F2EE82E3}">
      <dgm:prSet phldrT="[Text]" phldr="0"/>
      <dgm:spPr/>
      <dgm:t>
        <a:bodyPr/>
        <a:lstStyle/>
        <a:p>
          <a:pPr>
            <a:defRPr b="1"/>
          </a:pPr>
          <a:r>
            <a:rPr lang="en-US"/>
            <a:t>Baseline Correction</a:t>
          </a:r>
          <a:endParaRPr lang="en-GH" dirty="0"/>
        </a:p>
      </dgm:t>
    </dgm:pt>
    <dgm:pt modelId="{2967D61D-2EE8-4135-B963-F2CA6386D172}" type="parTrans" cxnId="{42F55861-77B5-4718-B003-DEA62CDE70CA}">
      <dgm:prSet/>
      <dgm:spPr/>
      <dgm:t>
        <a:bodyPr/>
        <a:lstStyle/>
        <a:p>
          <a:endParaRPr lang="en-GH"/>
        </a:p>
      </dgm:t>
    </dgm:pt>
    <dgm:pt modelId="{503C73C8-5B9D-4F0F-B70C-D5C40079BF19}" type="sibTrans" cxnId="{42F55861-77B5-4718-B003-DEA62CDE70CA}">
      <dgm:prSet/>
      <dgm:spPr/>
      <dgm:t>
        <a:bodyPr/>
        <a:lstStyle/>
        <a:p>
          <a:endParaRPr lang="en-GH"/>
        </a:p>
      </dgm:t>
    </dgm:pt>
    <dgm:pt modelId="{FA4A5C51-CFB6-4C38-B061-C5DB0A2A7722}">
      <dgm:prSet phldrT="[Text]" phldr="0"/>
      <dgm:spPr/>
      <dgm:t>
        <a:bodyPr/>
        <a:lstStyle/>
        <a:p>
          <a:pPr>
            <a:defRPr b="1"/>
          </a:pPr>
          <a:r>
            <a:rPr lang="en-US"/>
            <a:t>Analysis</a:t>
          </a:r>
          <a:endParaRPr lang="en-GH" dirty="0"/>
        </a:p>
      </dgm:t>
    </dgm:pt>
    <dgm:pt modelId="{DAA3F235-1415-43F9-9295-0D54EA4E96D6}" type="parTrans" cxnId="{13329457-D084-4644-9BB0-D14A2CA289FA}">
      <dgm:prSet/>
      <dgm:spPr/>
      <dgm:t>
        <a:bodyPr/>
        <a:lstStyle/>
        <a:p>
          <a:endParaRPr lang="en-GH"/>
        </a:p>
      </dgm:t>
    </dgm:pt>
    <dgm:pt modelId="{3744CE0F-3E96-4D71-91E9-FA67DB1C5CCC}" type="sibTrans" cxnId="{13329457-D084-4644-9BB0-D14A2CA289FA}">
      <dgm:prSet/>
      <dgm:spPr/>
      <dgm:t>
        <a:bodyPr/>
        <a:lstStyle/>
        <a:p>
          <a:endParaRPr lang="en-GH"/>
        </a:p>
      </dgm:t>
    </dgm:pt>
    <dgm:pt modelId="{9BC48699-13D8-429F-B354-E2471E0FE23F}" type="pres">
      <dgm:prSet presAssocID="{B50E574C-F227-4BF5-AD9B-9E306CF815B7}" presName="root" presStyleCnt="0">
        <dgm:presLayoutVars>
          <dgm:dir/>
          <dgm:animLvl val="lvl"/>
        </dgm:presLayoutVars>
      </dgm:prSet>
      <dgm:spPr/>
    </dgm:pt>
    <dgm:pt modelId="{931A22D9-60FB-490E-A05E-67784757C4F7}" type="pres">
      <dgm:prSet presAssocID="{B50E574C-F227-4BF5-AD9B-9E306CF815B7}" presName="divider" presStyleCnt="0"/>
      <dgm:spPr/>
    </dgm:pt>
    <dgm:pt modelId="{F9BC27B2-3768-45D2-B82C-FEFA88EF4BAE}" type="pres">
      <dgm:prSet presAssocID="{B50E574C-F227-4BF5-AD9B-9E306CF815B7}" presName="rectBar" presStyleLbl="dkBgShp" presStyleIdx="0" presStyleCnt="10"/>
      <dgm:spPr>
        <a:gradFill rotWithShape="0">
          <a:gsLst>
            <a:gs pos="0">
              <a:schemeClr val="accent1">
                <a:tint val="76000"/>
              </a:schemeClr>
            </a:gs>
            <a:gs pos="100000">
              <a:schemeClr val="accent1">
                <a:tint val="76000"/>
              </a:schemeClr>
            </a:gs>
          </a:gsLst>
          <a:lin ang="0" scaled="0"/>
        </a:gradFill>
        <a:ln>
          <a:noFill/>
        </a:ln>
        <a:effectLst>
          <a:outerShdw blurRad="57150" dist="19050" dir="5400000" algn="ctr" rotWithShape="0">
            <a:srgbClr val="000000">
              <a:alpha val="63000"/>
            </a:srgbClr>
          </a:outerShdw>
        </a:effectLst>
      </dgm:spPr>
    </dgm:pt>
    <dgm:pt modelId="{E5FB07EB-CE2F-4B55-B43F-DA58625E6BA0}" type="pres">
      <dgm:prSet presAssocID="{B50E574C-F227-4BF5-AD9B-9E306CF815B7}" presName="chevronArrow" presStyleLbl="dkBgShp" presStyleIdx="1" presStyleCnt="10"/>
      <dgm:spPr>
        <a:gradFill rotWithShape="0">
          <a:gsLst>
            <a:gs pos="0">
              <a:schemeClr val="accent1">
                <a:tint val="76000"/>
              </a:schemeClr>
            </a:gs>
            <a:gs pos="100000">
              <a:schemeClr val="accent1">
                <a:tint val="76000"/>
              </a:schemeClr>
            </a:gs>
          </a:gsLst>
          <a:lin ang="0" scaled="0"/>
        </a:gradFill>
        <a:ln>
          <a:noFill/>
        </a:ln>
        <a:effectLst>
          <a:outerShdw blurRad="57150" dist="19050" dir="5400000" algn="ctr" rotWithShape="0">
            <a:srgbClr val="000000">
              <a:alpha val="63000"/>
            </a:srgbClr>
          </a:outerShdw>
        </a:effectLst>
      </dgm:spPr>
    </dgm:pt>
    <dgm:pt modelId="{1164B64F-0D0C-4D65-8D4F-5F3B45BF69FB}" type="pres">
      <dgm:prSet presAssocID="{B50E574C-F227-4BF5-AD9B-9E306CF815B7}" presName="nodes" presStyleCnt="0">
        <dgm:presLayoutVars>
          <dgm:chMax/>
          <dgm:chPref/>
          <dgm:animLvl val="lvl"/>
        </dgm:presLayoutVars>
      </dgm:prSet>
      <dgm:spPr/>
    </dgm:pt>
    <dgm:pt modelId="{216E6D96-31CB-4F67-92F9-6AD3B0615D7B}" type="pres">
      <dgm:prSet presAssocID="{5C514F86-8FFE-4BB2-A34E-E4848DE4A9C8}" presName="composite" presStyleCnt="0"/>
      <dgm:spPr/>
    </dgm:pt>
    <dgm:pt modelId="{476241F2-8197-4AAC-AB2B-6FB05E18E417}" type="pres">
      <dgm:prSet presAssocID="{5C514F86-8FFE-4BB2-A34E-E4848DE4A9C8}" presName="DropPinPlaceHolder" presStyleCnt="0"/>
      <dgm:spPr/>
    </dgm:pt>
    <dgm:pt modelId="{ADE31DF9-D42A-4213-8E20-1C25FB43A512}" type="pres">
      <dgm:prSet presAssocID="{5C514F86-8FFE-4BB2-A34E-E4848DE4A9C8}" presName="DropPin" presStyleLbl="alignNode1" presStyleIdx="0" presStyleCnt="8"/>
      <dgm:spPr/>
    </dgm:pt>
    <dgm:pt modelId="{9A75A1FE-B112-4258-89DD-580FB65C04A7}" type="pres">
      <dgm:prSet presAssocID="{5C514F86-8FFE-4BB2-A34E-E4848DE4A9C8}" presName="Ellipse" presStyleLbl="fgAcc1" presStyleIdx="0" presStyleCnt="8"/>
      <dgm:spPr/>
    </dgm:pt>
    <dgm:pt modelId="{4DFD203B-2342-47CA-A2EC-EA4788394F55}" type="pres">
      <dgm:prSet presAssocID="{5C514F86-8FFE-4BB2-A34E-E4848DE4A9C8}" presName="L2TextContainer" presStyleLbl="revTx" presStyleIdx="0" presStyleCnt="16">
        <dgm:presLayoutVars>
          <dgm:bulletEnabled val="1"/>
        </dgm:presLayoutVars>
      </dgm:prSet>
      <dgm:spPr/>
    </dgm:pt>
    <dgm:pt modelId="{1C29BC1C-DA09-4F78-9A90-09820C30464B}" type="pres">
      <dgm:prSet presAssocID="{5C514F86-8FFE-4BB2-A34E-E4848DE4A9C8}" presName="L1TextContainer" presStyleLbl="revTx" presStyleIdx="1" presStyleCnt="16">
        <dgm:presLayoutVars>
          <dgm:chMax val="1"/>
          <dgm:chPref val="1"/>
          <dgm:bulletEnabled val="1"/>
        </dgm:presLayoutVars>
      </dgm:prSet>
      <dgm:spPr/>
    </dgm:pt>
    <dgm:pt modelId="{A17566D3-A860-4EE1-AF1A-0D78D0ACB3D9}" type="pres">
      <dgm:prSet presAssocID="{5C514F86-8FFE-4BB2-A34E-E4848DE4A9C8}" presName="ConnectLine" presStyleLbl="dkBgShp" presStyleIdx="2" presStyleCnt="10"/>
      <dgm:spPr/>
    </dgm:pt>
    <dgm:pt modelId="{A8A9CD89-6FF7-4CFB-9D53-14533D213FC8}" type="pres">
      <dgm:prSet presAssocID="{5C514F86-8FFE-4BB2-A34E-E4848DE4A9C8}" presName="ConnectorPoint" presStyleCnt="0"/>
      <dgm:spPr/>
    </dgm:pt>
    <dgm:pt modelId="{B2E1DD3A-B244-417E-AF1E-8350818B76B4}" type="pres">
      <dgm:prSet presAssocID="{5C514F86-8FFE-4BB2-A34E-E4848DE4A9C8}" presName="Bullet" presStyleLbl="lnNode1" presStyleIdx="0" presStyleCnt="8"/>
      <dgm:spPr/>
    </dgm:pt>
    <dgm:pt modelId="{4D829999-9BE6-42F2-869E-23A04AC91792}" type="pres">
      <dgm:prSet presAssocID="{5C514F86-8FFE-4BB2-A34E-E4848DE4A9C8}" presName="EmptyPlaceHolder" presStyleCnt="0"/>
      <dgm:spPr/>
    </dgm:pt>
    <dgm:pt modelId="{4F4D705A-AC21-4451-BF0E-F67C408CBAC4}" type="pres">
      <dgm:prSet presAssocID="{B6C5FEB7-CA2B-442E-BF0B-8EC5F6407963}" presName="spaceBetweenRectangles" presStyleCnt="0"/>
      <dgm:spPr/>
    </dgm:pt>
    <dgm:pt modelId="{7C49CAB1-7224-4C88-A20F-980F158C79CE}" type="pres">
      <dgm:prSet presAssocID="{E4381EF7-7062-48AC-BA0D-1BB2238E5C3A}" presName="composite" presStyleCnt="0"/>
      <dgm:spPr/>
    </dgm:pt>
    <dgm:pt modelId="{A997BA60-33F8-43A8-A114-43A2BEAF94AE}" type="pres">
      <dgm:prSet presAssocID="{E4381EF7-7062-48AC-BA0D-1BB2238E5C3A}" presName="DropPinPlaceHolder" presStyleCnt="0"/>
      <dgm:spPr/>
    </dgm:pt>
    <dgm:pt modelId="{5695F75B-C350-4299-AD41-71B1E8512969}" type="pres">
      <dgm:prSet presAssocID="{E4381EF7-7062-48AC-BA0D-1BB2238E5C3A}" presName="DropPin" presStyleLbl="alignNode1" presStyleIdx="1" presStyleCnt="8"/>
      <dgm:spPr/>
    </dgm:pt>
    <dgm:pt modelId="{F748FDF4-AFFB-498D-89DA-8734E8395737}" type="pres">
      <dgm:prSet presAssocID="{E4381EF7-7062-48AC-BA0D-1BB2238E5C3A}" presName="Ellipse" presStyleLbl="fgAcc1" presStyleIdx="1" presStyleCnt="8"/>
      <dgm:spPr/>
    </dgm:pt>
    <dgm:pt modelId="{ABC4FE30-0294-4488-B62A-FA1BD5108994}" type="pres">
      <dgm:prSet presAssocID="{E4381EF7-7062-48AC-BA0D-1BB2238E5C3A}" presName="L2TextContainer" presStyleLbl="revTx" presStyleIdx="2" presStyleCnt="16">
        <dgm:presLayoutVars>
          <dgm:bulletEnabled val="1"/>
        </dgm:presLayoutVars>
      </dgm:prSet>
      <dgm:spPr/>
    </dgm:pt>
    <dgm:pt modelId="{492C6D5E-12BC-4878-8E36-5BA5A30C5653}" type="pres">
      <dgm:prSet presAssocID="{E4381EF7-7062-48AC-BA0D-1BB2238E5C3A}" presName="L1TextContainer" presStyleLbl="revTx" presStyleIdx="3" presStyleCnt="16">
        <dgm:presLayoutVars>
          <dgm:chMax val="1"/>
          <dgm:chPref val="1"/>
          <dgm:bulletEnabled val="1"/>
        </dgm:presLayoutVars>
      </dgm:prSet>
      <dgm:spPr/>
    </dgm:pt>
    <dgm:pt modelId="{6E1006C1-64E4-43D8-B996-60D1BC08730A}" type="pres">
      <dgm:prSet presAssocID="{E4381EF7-7062-48AC-BA0D-1BB2238E5C3A}" presName="ConnectLine" presStyleLbl="dkBgShp" presStyleIdx="3" presStyleCnt="10"/>
      <dgm:spPr/>
    </dgm:pt>
    <dgm:pt modelId="{980F4A4F-220C-44C8-85ED-079EDD378026}" type="pres">
      <dgm:prSet presAssocID="{E4381EF7-7062-48AC-BA0D-1BB2238E5C3A}" presName="ConnectorPoint" presStyleCnt="0"/>
      <dgm:spPr/>
    </dgm:pt>
    <dgm:pt modelId="{A20491DA-56A7-4DA1-ADF2-DDAB293E6AFD}" type="pres">
      <dgm:prSet presAssocID="{E4381EF7-7062-48AC-BA0D-1BB2238E5C3A}" presName="Bullet" presStyleLbl="lnNode1" presStyleIdx="1" presStyleCnt="8"/>
      <dgm:spPr/>
    </dgm:pt>
    <dgm:pt modelId="{D3BCA893-7F33-4E96-950B-94D135AB4981}" type="pres">
      <dgm:prSet presAssocID="{E4381EF7-7062-48AC-BA0D-1BB2238E5C3A}" presName="EmptyPlaceHolder" presStyleCnt="0"/>
      <dgm:spPr/>
    </dgm:pt>
    <dgm:pt modelId="{27FEF609-771F-460D-A1A8-5747C588141A}" type="pres">
      <dgm:prSet presAssocID="{E18AF98F-7043-43B4-90E3-45615B8E3894}" presName="spaceBetweenRectangles" presStyleCnt="0"/>
      <dgm:spPr/>
    </dgm:pt>
    <dgm:pt modelId="{4821398D-9088-498F-9456-B47197B76BBB}" type="pres">
      <dgm:prSet presAssocID="{62595277-5049-4522-AD94-D484163A4F7C}" presName="composite" presStyleCnt="0"/>
      <dgm:spPr/>
    </dgm:pt>
    <dgm:pt modelId="{C5084EEB-A4D9-46BA-9038-B50AEDDC7482}" type="pres">
      <dgm:prSet presAssocID="{62595277-5049-4522-AD94-D484163A4F7C}" presName="DropPinPlaceHolder" presStyleCnt="0"/>
      <dgm:spPr/>
    </dgm:pt>
    <dgm:pt modelId="{96AC0FD7-AD2B-4638-9A67-C3BFB341DB5C}" type="pres">
      <dgm:prSet presAssocID="{62595277-5049-4522-AD94-D484163A4F7C}" presName="DropPin" presStyleLbl="alignNode1" presStyleIdx="2" presStyleCnt="8"/>
      <dgm:spPr/>
    </dgm:pt>
    <dgm:pt modelId="{E451D24B-1B26-44BA-B679-26374D9A44D9}" type="pres">
      <dgm:prSet presAssocID="{62595277-5049-4522-AD94-D484163A4F7C}" presName="Ellipse" presStyleLbl="fgAcc1" presStyleIdx="2" presStyleCnt="8"/>
      <dgm:spPr/>
    </dgm:pt>
    <dgm:pt modelId="{FA671CF2-C1C8-47AB-9561-A5F90ABE7DA9}" type="pres">
      <dgm:prSet presAssocID="{62595277-5049-4522-AD94-D484163A4F7C}" presName="L2TextContainer" presStyleLbl="revTx" presStyleIdx="4" presStyleCnt="16">
        <dgm:presLayoutVars>
          <dgm:bulletEnabled val="1"/>
        </dgm:presLayoutVars>
      </dgm:prSet>
      <dgm:spPr/>
    </dgm:pt>
    <dgm:pt modelId="{04612687-CAD4-4A7E-AA48-213DA808DD0F}" type="pres">
      <dgm:prSet presAssocID="{62595277-5049-4522-AD94-D484163A4F7C}" presName="L1TextContainer" presStyleLbl="revTx" presStyleIdx="5" presStyleCnt="16">
        <dgm:presLayoutVars>
          <dgm:chMax val="1"/>
          <dgm:chPref val="1"/>
          <dgm:bulletEnabled val="1"/>
        </dgm:presLayoutVars>
      </dgm:prSet>
      <dgm:spPr/>
    </dgm:pt>
    <dgm:pt modelId="{154EA5DA-D49B-4C03-980D-560151762D01}" type="pres">
      <dgm:prSet presAssocID="{62595277-5049-4522-AD94-D484163A4F7C}" presName="ConnectLine" presStyleLbl="dkBgShp" presStyleIdx="4" presStyleCnt="10"/>
      <dgm:spPr/>
    </dgm:pt>
    <dgm:pt modelId="{7A3D9A3F-DD29-49A8-9A3D-9FA9AB2B7C5F}" type="pres">
      <dgm:prSet presAssocID="{62595277-5049-4522-AD94-D484163A4F7C}" presName="ConnectorPoint" presStyleCnt="0"/>
      <dgm:spPr/>
    </dgm:pt>
    <dgm:pt modelId="{468775A2-00DE-49D6-BB3C-D8294FF94C1A}" type="pres">
      <dgm:prSet presAssocID="{62595277-5049-4522-AD94-D484163A4F7C}" presName="Bullet" presStyleLbl="lnNode1" presStyleIdx="2" presStyleCnt="8"/>
      <dgm:spPr/>
    </dgm:pt>
    <dgm:pt modelId="{1B710036-231F-4B9C-9E1F-CF6F1CD817D4}" type="pres">
      <dgm:prSet presAssocID="{62595277-5049-4522-AD94-D484163A4F7C}" presName="EmptyPlaceHolder" presStyleCnt="0"/>
      <dgm:spPr/>
    </dgm:pt>
    <dgm:pt modelId="{720C20B1-0E52-414A-80F6-375A259F79F2}" type="pres">
      <dgm:prSet presAssocID="{70615A0D-113D-484E-8CE4-452367C0FF93}" presName="spaceBetweenRectangles" presStyleCnt="0"/>
      <dgm:spPr/>
    </dgm:pt>
    <dgm:pt modelId="{38634E7F-12A2-40B4-B695-F64E8DD42663}" type="pres">
      <dgm:prSet presAssocID="{818DED32-1D96-4226-BA63-3647EE084EE3}" presName="composite" presStyleCnt="0"/>
      <dgm:spPr/>
    </dgm:pt>
    <dgm:pt modelId="{3C9AC531-6E71-4F10-8DA5-D95B39A84441}" type="pres">
      <dgm:prSet presAssocID="{818DED32-1D96-4226-BA63-3647EE084EE3}" presName="DropPinPlaceHolder" presStyleCnt="0"/>
      <dgm:spPr/>
    </dgm:pt>
    <dgm:pt modelId="{C8FE02C4-B6A7-41F6-B7E0-CF891D6D993B}" type="pres">
      <dgm:prSet presAssocID="{818DED32-1D96-4226-BA63-3647EE084EE3}" presName="DropPin" presStyleLbl="alignNode1" presStyleIdx="3" presStyleCnt="8"/>
      <dgm:spPr/>
    </dgm:pt>
    <dgm:pt modelId="{8F5D96FF-862E-4C4F-BA61-DF9F684A442E}" type="pres">
      <dgm:prSet presAssocID="{818DED32-1D96-4226-BA63-3647EE084EE3}" presName="Ellipse" presStyleLbl="fgAcc1" presStyleIdx="3" presStyleCnt="8"/>
      <dgm:spPr/>
    </dgm:pt>
    <dgm:pt modelId="{1328DCAB-BDCD-434C-BCF8-E65924062E52}" type="pres">
      <dgm:prSet presAssocID="{818DED32-1D96-4226-BA63-3647EE084EE3}" presName="L2TextContainer" presStyleLbl="revTx" presStyleIdx="6" presStyleCnt="16">
        <dgm:presLayoutVars>
          <dgm:bulletEnabled val="1"/>
        </dgm:presLayoutVars>
      </dgm:prSet>
      <dgm:spPr/>
    </dgm:pt>
    <dgm:pt modelId="{52D3766B-2381-4481-9233-D46F0DF31CE6}" type="pres">
      <dgm:prSet presAssocID="{818DED32-1D96-4226-BA63-3647EE084EE3}" presName="L1TextContainer" presStyleLbl="revTx" presStyleIdx="7" presStyleCnt="16">
        <dgm:presLayoutVars>
          <dgm:chMax val="1"/>
          <dgm:chPref val="1"/>
          <dgm:bulletEnabled val="1"/>
        </dgm:presLayoutVars>
      </dgm:prSet>
      <dgm:spPr/>
    </dgm:pt>
    <dgm:pt modelId="{07C4431A-189E-4E23-AC92-F6852B16F323}" type="pres">
      <dgm:prSet presAssocID="{818DED32-1D96-4226-BA63-3647EE084EE3}" presName="ConnectLine" presStyleLbl="dkBgShp" presStyleIdx="5" presStyleCnt="10"/>
      <dgm:spPr/>
    </dgm:pt>
    <dgm:pt modelId="{BDC01394-63D6-4802-A424-10A1B381B53A}" type="pres">
      <dgm:prSet presAssocID="{818DED32-1D96-4226-BA63-3647EE084EE3}" presName="ConnectorPoint" presStyleCnt="0"/>
      <dgm:spPr/>
    </dgm:pt>
    <dgm:pt modelId="{6543D36B-93BF-4B4D-941E-40A7428BC129}" type="pres">
      <dgm:prSet presAssocID="{818DED32-1D96-4226-BA63-3647EE084EE3}" presName="Bullet" presStyleLbl="lnNode1" presStyleIdx="3" presStyleCnt="8"/>
      <dgm:spPr/>
    </dgm:pt>
    <dgm:pt modelId="{3AA53F0D-92EA-45CC-8BD2-0AC333B82F54}" type="pres">
      <dgm:prSet presAssocID="{818DED32-1D96-4226-BA63-3647EE084EE3}" presName="EmptyPlaceHolder" presStyleCnt="0"/>
      <dgm:spPr/>
    </dgm:pt>
    <dgm:pt modelId="{F7A4AA94-59FF-47D2-880F-164A86142AE5}" type="pres">
      <dgm:prSet presAssocID="{7D0C315C-E267-4989-A113-BB21DEE0F4B0}" presName="spaceBetweenRectangles" presStyleCnt="0"/>
      <dgm:spPr/>
    </dgm:pt>
    <dgm:pt modelId="{ED432DAA-96D8-4C28-9683-7D1BD175F5B4}" type="pres">
      <dgm:prSet presAssocID="{D96C97A6-EDB2-49F0-9FF2-A2DD316F3341}" presName="composite" presStyleCnt="0"/>
      <dgm:spPr/>
    </dgm:pt>
    <dgm:pt modelId="{AB406FAF-3EDB-457A-95EF-E9B4E98037F8}" type="pres">
      <dgm:prSet presAssocID="{D96C97A6-EDB2-49F0-9FF2-A2DD316F3341}" presName="DropPinPlaceHolder" presStyleCnt="0"/>
      <dgm:spPr/>
    </dgm:pt>
    <dgm:pt modelId="{1DBEF848-0A33-4612-83EB-5C3B68EE2874}" type="pres">
      <dgm:prSet presAssocID="{D96C97A6-EDB2-49F0-9FF2-A2DD316F3341}" presName="DropPin" presStyleLbl="alignNode1" presStyleIdx="4" presStyleCnt="8"/>
      <dgm:spPr/>
    </dgm:pt>
    <dgm:pt modelId="{2B66F1B9-1C6F-4CB0-B897-FDFC67545CE0}" type="pres">
      <dgm:prSet presAssocID="{D96C97A6-EDB2-49F0-9FF2-A2DD316F3341}" presName="Ellipse" presStyleLbl="fgAcc1" presStyleIdx="4" presStyleCnt="8"/>
      <dgm:spPr/>
    </dgm:pt>
    <dgm:pt modelId="{06578374-C4DF-4C04-B626-63F9823E09D0}" type="pres">
      <dgm:prSet presAssocID="{D96C97A6-EDB2-49F0-9FF2-A2DD316F3341}" presName="L2TextContainer" presStyleLbl="revTx" presStyleIdx="8" presStyleCnt="16">
        <dgm:presLayoutVars>
          <dgm:bulletEnabled val="1"/>
        </dgm:presLayoutVars>
      </dgm:prSet>
      <dgm:spPr/>
    </dgm:pt>
    <dgm:pt modelId="{000C2AC7-AC74-4D26-8DA4-0797D66226DD}" type="pres">
      <dgm:prSet presAssocID="{D96C97A6-EDB2-49F0-9FF2-A2DD316F3341}" presName="L1TextContainer" presStyleLbl="revTx" presStyleIdx="9" presStyleCnt="16">
        <dgm:presLayoutVars>
          <dgm:chMax val="1"/>
          <dgm:chPref val="1"/>
          <dgm:bulletEnabled val="1"/>
        </dgm:presLayoutVars>
      </dgm:prSet>
      <dgm:spPr/>
    </dgm:pt>
    <dgm:pt modelId="{115E9C0F-F3AA-4765-8E66-F8C6697ACACA}" type="pres">
      <dgm:prSet presAssocID="{D96C97A6-EDB2-49F0-9FF2-A2DD316F3341}" presName="ConnectLine" presStyleLbl="dkBgShp" presStyleIdx="6" presStyleCnt="10"/>
      <dgm:spPr/>
    </dgm:pt>
    <dgm:pt modelId="{8F7E31E3-1007-4AE3-B7D9-9EB31F15AC58}" type="pres">
      <dgm:prSet presAssocID="{D96C97A6-EDB2-49F0-9FF2-A2DD316F3341}" presName="ConnectorPoint" presStyleCnt="0"/>
      <dgm:spPr/>
    </dgm:pt>
    <dgm:pt modelId="{0ACEA677-0068-4436-85FD-9DCC3DA129C7}" type="pres">
      <dgm:prSet presAssocID="{D96C97A6-EDB2-49F0-9FF2-A2DD316F3341}" presName="Bullet" presStyleLbl="lnNode1" presStyleIdx="4" presStyleCnt="8"/>
      <dgm:spPr/>
    </dgm:pt>
    <dgm:pt modelId="{50961E86-DC27-4548-AEB2-24FC186EF7EA}" type="pres">
      <dgm:prSet presAssocID="{D96C97A6-EDB2-49F0-9FF2-A2DD316F3341}" presName="EmptyPlaceHolder" presStyleCnt="0"/>
      <dgm:spPr/>
    </dgm:pt>
    <dgm:pt modelId="{CBABED66-27C7-448F-94A4-1AC3A48CA377}" type="pres">
      <dgm:prSet presAssocID="{97578D36-7393-43A9-B51C-B8094DD500B2}" presName="spaceBetweenRectangles" presStyleCnt="0"/>
      <dgm:spPr/>
    </dgm:pt>
    <dgm:pt modelId="{66CBF675-40D6-45E8-97D2-6CE56D87384C}" type="pres">
      <dgm:prSet presAssocID="{DE69B308-49A1-438F-8515-5B766B21D0D2}" presName="composite" presStyleCnt="0"/>
      <dgm:spPr/>
    </dgm:pt>
    <dgm:pt modelId="{AFBB643B-E029-48F6-A9F6-4CAE6B47A431}" type="pres">
      <dgm:prSet presAssocID="{DE69B308-49A1-438F-8515-5B766B21D0D2}" presName="DropPinPlaceHolder" presStyleCnt="0"/>
      <dgm:spPr/>
    </dgm:pt>
    <dgm:pt modelId="{A2D1C7A5-9C6B-4561-B781-3F5A9A75583D}" type="pres">
      <dgm:prSet presAssocID="{DE69B308-49A1-438F-8515-5B766B21D0D2}" presName="DropPin" presStyleLbl="alignNode1" presStyleIdx="5" presStyleCnt="8"/>
      <dgm:spPr/>
    </dgm:pt>
    <dgm:pt modelId="{B8794A92-03DE-4716-8846-DA5927898062}" type="pres">
      <dgm:prSet presAssocID="{DE69B308-49A1-438F-8515-5B766B21D0D2}" presName="Ellipse" presStyleLbl="fgAcc1" presStyleIdx="5" presStyleCnt="8"/>
      <dgm:spPr/>
    </dgm:pt>
    <dgm:pt modelId="{6701F0FA-3723-47DE-98A7-803AFDC4AF23}" type="pres">
      <dgm:prSet presAssocID="{DE69B308-49A1-438F-8515-5B766B21D0D2}" presName="L2TextContainer" presStyleLbl="revTx" presStyleIdx="10" presStyleCnt="16">
        <dgm:presLayoutVars>
          <dgm:bulletEnabled val="1"/>
        </dgm:presLayoutVars>
      </dgm:prSet>
      <dgm:spPr/>
    </dgm:pt>
    <dgm:pt modelId="{DF05443A-78FB-43F4-B216-E1D41829ED90}" type="pres">
      <dgm:prSet presAssocID="{DE69B308-49A1-438F-8515-5B766B21D0D2}" presName="L1TextContainer" presStyleLbl="revTx" presStyleIdx="11" presStyleCnt="16">
        <dgm:presLayoutVars>
          <dgm:chMax val="1"/>
          <dgm:chPref val="1"/>
          <dgm:bulletEnabled val="1"/>
        </dgm:presLayoutVars>
      </dgm:prSet>
      <dgm:spPr/>
    </dgm:pt>
    <dgm:pt modelId="{8446757A-2B27-4988-B6A5-C6E075D825F2}" type="pres">
      <dgm:prSet presAssocID="{DE69B308-49A1-438F-8515-5B766B21D0D2}" presName="ConnectLine" presStyleLbl="dkBgShp" presStyleIdx="7" presStyleCnt="10"/>
      <dgm:spPr/>
    </dgm:pt>
    <dgm:pt modelId="{C178F857-D05A-4131-8C5E-D19FB8274312}" type="pres">
      <dgm:prSet presAssocID="{DE69B308-49A1-438F-8515-5B766B21D0D2}" presName="ConnectorPoint" presStyleCnt="0"/>
      <dgm:spPr/>
    </dgm:pt>
    <dgm:pt modelId="{7FF1354C-3FDA-4C03-AEEE-7FFA1D6A09DA}" type="pres">
      <dgm:prSet presAssocID="{DE69B308-49A1-438F-8515-5B766B21D0D2}" presName="Bullet" presStyleLbl="lnNode1" presStyleIdx="5" presStyleCnt="8"/>
      <dgm:spPr/>
    </dgm:pt>
    <dgm:pt modelId="{BAD21729-9938-441B-9271-E4BB2C4AA4C4}" type="pres">
      <dgm:prSet presAssocID="{DE69B308-49A1-438F-8515-5B766B21D0D2}" presName="EmptyPlaceHolder" presStyleCnt="0"/>
      <dgm:spPr/>
    </dgm:pt>
    <dgm:pt modelId="{17B5712C-ED20-48D6-A572-EE22854F5C38}" type="pres">
      <dgm:prSet presAssocID="{052ED9B6-A7B8-44A7-B4D1-507E75571FB8}" presName="spaceBetweenRectangles" presStyleCnt="0"/>
      <dgm:spPr/>
    </dgm:pt>
    <dgm:pt modelId="{ED27A372-C535-4439-BAA7-DD90D786FF19}" type="pres">
      <dgm:prSet presAssocID="{EEFA336F-81D6-4F73-9A55-8B12F2EE82E3}" presName="composite" presStyleCnt="0"/>
      <dgm:spPr/>
    </dgm:pt>
    <dgm:pt modelId="{2B2B8545-2491-421A-8E0C-BFA412321252}" type="pres">
      <dgm:prSet presAssocID="{EEFA336F-81D6-4F73-9A55-8B12F2EE82E3}" presName="DropPinPlaceHolder" presStyleCnt="0"/>
      <dgm:spPr/>
    </dgm:pt>
    <dgm:pt modelId="{B939DE2D-094E-451B-A5A8-AE10B6E034F6}" type="pres">
      <dgm:prSet presAssocID="{EEFA336F-81D6-4F73-9A55-8B12F2EE82E3}" presName="DropPin" presStyleLbl="alignNode1" presStyleIdx="6" presStyleCnt="8"/>
      <dgm:spPr/>
    </dgm:pt>
    <dgm:pt modelId="{D6E25790-9881-42C5-AFE4-2FA10D281E07}" type="pres">
      <dgm:prSet presAssocID="{EEFA336F-81D6-4F73-9A55-8B12F2EE82E3}" presName="Ellipse" presStyleLbl="fgAcc1" presStyleIdx="6" presStyleCnt="8"/>
      <dgm:spPr/>
    </dgm:pt>
    <dgm:pt modelId="{99693715-F899-474F-8DBA-F40189C71465}" type="pres">
      <dgm:prSet presAssocID="{EEFA336F-81D6-4F73-9A55-8B12F2EE82E3}" presName="L2TextContainer" presStyleLbl="revTx" presStyleIdx="12" presStyleCnt="16">
        <dgm:presLayoutVars>
          <dgm:bulletEnabled val="1"/>
        </dgm:presLayoutVars>
      </dgm:prSet>
      <dgm:spPr/>
    </dgm:pt>
    <dgm:pt modelId="{89F9A538-76E6-4257-BFDC-9170F16B760F}" type="pres">
      <dgm:prSet presAssocID="{EEFA336F-81D6-4F73-9A55-8B12F2EE82E3}" presName="L1TextContainer" presStyleLbl="revTx" presStyleIdx="13" presStyleCnt="16">
        <dgm:presLayoutVars>
          <dgm:chMax val="1"/>
          <dgm:chPref val="1"/>
          <dgm:bulletEnabled val="1"/>
        </dgm:presLayoutVars>
      </dgm:prSet>
      <dgm:spPr/>
    </dgm:pt>
    <dgm:pt modelId="{C130C05B-BDDE-43C0-81B5-8713ED903A99}" type="pres">
      <dgm:prSet presAssocID="{EEFA336F-81D6-4F73-9A55-8B12F2EE82E3}" presName="ConnectLine" presStyleLbl="dkBgShp" presStyleIdx="8" presStyleCnt="10"/>
      <dgm:spPr/>
    </dgm:pt>
    <dgm:pt modelId="{55AAB004-3A59-43DE-8DA7-22E1A38D8C59}" type="pres">
      <dgm:prSet presAssocID="{EEFA336F-81D6-4F73-9A55-8B12F2EE82E3}" presName="ConnectorPoint" presStyleCnt="0"/>
      <dgm:spPr/>
    </dgm:pt>
    <dgm:pt modelId="{98C738D8-72E4-4E42-92E2-BE1CE86C8071}" type="pres">
      <dgm:prSet presAssocID="{EEFA336F-81D6-4F73-9A55-8B12F2EE82E3}" presName="Bullet" presStyleLbl="lnNode1" presStyleIdx="6" presStyleCnt="8"/>
      <dgm:spPr/>
    </dgm:pt>
    <dgm:pt modelId="{CCFD1FDF-50B8-4F15-8490-EEA84309FB19}" type="pres">
      <dgm:prSet presAssocID="{EEFA336F-81D6-4F73-9A55-8B12F2EE82E3}" presName="EmptyPlaceHolder" presStyleCnt="0"/>
      <dgm:spPr/>
    </dgm:pt>
    <dgm:pt modelId="{01A33730-AF60-40E8-9041-A7D78220CF8E}" type="pres">
      <dgm:prSet presAssocID="{503C73C8-5B9D-4F0F-B70C-D5C40079BF19}" presName="spaceBetweenRectangles" presStyleCnt="0"/>
      <dgm:spPr/>
    </dgm:pt>
    <dgm:pt modelId="{D5497C02-7051-43BD-AB2B-33E0BAA3CF9B}" type="pres">
      <dgm:prSet presAssocID="{FA4A5C51-CFB6-4C38-B061-C5DB0A2A7722}" presName="composite" presStyleCnt="0"/>
      <dgm:spPr/>
    </dgm:pt>
    <dgm:pt modelId="{D25B3E63-399A-4CB4-96F9-55A844D64A28}" type="pres">
      <dgm:prSet presAssocID="{FA4A5C51-CFB6-4C38-B061-C5DB0A2A7722}" presName="DropPinPlaceHolder" presStyleCnt="0"/>
      <dgm:spPr/>
    </dgm:pt>
    <dgm:pt modelId="{9502423F-1CD1-4F8E-9CF3-F098380EFE9F}" type="pres">
      <dgm:prSet presAssocID="{FA4A5C51-CFB6-4C38-B061-C5DB0A2A7722}" presName="DropPin" presStyleLbl="alignNode1" presStyleIdx="7" presStyleCnt="8"/>
      <dgm:spPr/>
    </dgm:pt>
    <dgm:pt modelId="{185A77E1-3BB9-48F0-84BE-39B83F89A5D8}" type="pres">
      <dgm:prSet presAssocID="{FA4A5C51-CFB6-4C38-B061-C5DB0A2A7722}" presName="Ellipse" presStyleLbl="fgAcc1" presStyleIdx="7" presStyleCnt="8"/>
      <dgm:spPr/>
    </dgm:pt>
    <dgm:pt modelId="{B34FD0D9-DB22-424B-AFD6-63C8EEBB6369}" type="pres">
      <dgm:prSet presAssocID="{FA4A5C51-CFB6-4C38-B061-C5DB0A2A7722}" presName="L2TextContainer" presStyleLbl="revTx" presStyleIdx="14" presStyleCnt="16">
        <dgm:presLayoutVars>
          <dgm:bulletEnabled val="1"/>
        </dgm:presLayoutVars>
      </dgm:prSet>
      <dgm:spPr/>
    </dgm:pt>
    <dgm:pt modelId="{A69EFC00-90B1-4C61-B5FB-C78FDD0A8632}" type="pres">
      <dgm:prSet presAssocID="{FA4A5C51-CFB6-4C38-B061-C5DB0A2A7722}" presName="L1TextContainer" presStyleLbl="revTx" presStyleIdx="15" presStyleCnt="16">
        <dgm:presLayoutVars>
          <dgm:chMax val="1"/>
          <dgm:chPref val="1"/>
          <dgm:bulletEnabled val="1"/>
        </dgm:presLayoutVars>
      </dgm:prSet>
      <dgm:spPr/>
    </dgm:pt>
    <dgm:pt modelId="{6C6447C3-0700-4237-BA3A-DB2E813BF4D4}" type="pres">
      <dgm:prSet presAssocID="{FA4A5C51-CFB6-4C38-B061-C5DB0A2A7722}" presName="ConnectLine" presStyleLbl="dkBgShp" presStyleIdx="9" presStyleCnt="10"/>
      <dgm:spPr/>
    </dgm:pt>
    <dgm:pt modelId="{E5BAFE1D-5A5D-481C-B3AD-7BEAC91E1C61}" type="pres">
      <dgm:prSet presAssocID="{FA4A5C51-CFB6-4C38-B061-C5DB0A2A7722}" presName="ConnectorPoint" presStyleCnt="0"/>
      <dgm:spPr/>
    </dgm:pt>
    <dgm:pt modelId="{A88DD86C-BCCE-43CE-BEA0-9613F1D4798A}" type="pres">
      <dgm:prSet presAssocID="{FA4A5C51-CFB6-4C38-B061-C5DB0A2A7722}" presName="Bullet" presStyleLbl="lnNode1" presStyleIdx="7" presStyleCnt="8"/>
      <dgm:spPr/>
    </dgm:pt>
    <dgm:pt modelId="{9B55C036-E081-4D7C-8776-5C8433B48BA8}" type="pres">
      <dgm:prSet presAssocID="{FA4A5C51-CFB6-4C38-B061-C5DB0A2A7722}" presName="EmptyPlaceHolder" presStyleCnt="0"/>
      <dgm:spPr/>
    </dgm:pt>
  </dgm:ptLst>
  <dgm:cxnLst>
    <dgm:cxn modelId="{CF9FA236-0C9B-4203-9A20-DA473EFFCBBE}" srcId="{B50E574C-F227-4BF5-AD9B-9E306CF815B7}" destId="{62595277-5049-4522-AD94-D484163A4F7C}" srcOrd="2" destOrd="0" parTransId="{EDC48B21-EF06-4A29-A6BB-0777E089CDFB}" sibTransId="{70615A0D-113D-484E-8CE4-452367C0FF93}"/>
    <dgm:cxn modelId="{42F55861-77B5-4718-B003-DEA62CDE70CA}" srcId="{B50E574C-F227-4BF5-AD9B-9E306CF815B7}" destId="{EEFA336F-81D6-4F73-9A55-8B12F2EE82E3}" srcOrd="6" destOrd="0" parTransId="{2967D61D-2EE8-4135-B963-F2CA6386D172}" sibTransId="{503C73C8-5B9D-4F0F-B70C-D5C40079BF19}"/>
    <dgm:cxn modelId="{9428D163-F7ED-4917-9BCF-03437DDCE983}" type="presOf" srcId="{FA4A5C51-CFB6-4C38-B061-C5DB0A2A7722}" destId="{A69EFC00-90B1-4C61-B5FB-C78FDD0A8632}" srcOrd="0" destOrd="0" presId="urn:microsoft.com/office/officeart/2024/layout/BulletTimeline"/>
    <dgm:cxn modelId="{45D30F46-5B43-4791-8735-EECD27F9FA46}" type="presOf" srcId="{5C514F86-8FFE-4BB2-A34E-E4848DE4A9C8}" destId="{1C29BC1C-DA09-4F78-9A90-09820C30464B}" srcOrd="0" destOrd="0" presId="urn:microsoft.com/office/officeart/2024/layout/BulletTimeline"/>
    <dgm:cxn modelId="{7A51DF6B-8D7A-4A78-8E52-76949C85B390}" type="presOf" srcId="{818DED32-1D96-4226-BA63-3647EE084EE3}" destId="{52D3766B-2381-4481-9233-D46F0DF31CE6}" srcOrd="0" destOrd="0" presId="urn:microsoft.com/office/officeart/2024/layout/BulletTimeline"/>
    <dgm:cxn modelId="{016A0F4C-6F05-474F-B80B-5B9CC322432C}" srcId="{B50E574C-F227-4BF5-AD9B-9E306CF815B7}" destId="{E4381EF7-7062-48AC-BA0D-1BB2238E5C3A}" srcOrd="1" destOrd="0" parTransId="{18F7D798-31C4-435E-B451-87A282D55CC8}" sibTransId="{E18AF98F-7043-43B4-90E3-45615B8E3894}"/>
    <dgm:cxn modelId="{C68DA34D-4912-43BE-8D83-EB9D35C8B8CB}" srcId="{B50E574C-F227-4BF5-AD9B-9E306CF815B7}" destId="{D96C97A6-EDB2-49F0-9FF2-A2DD316F3341}" srcOrd="4" destOrd="0" parTransId="{87306203-FE0D-4EBD-B2DE-035991F40306}" sibTransId="{97578D36-7393-43A9-B51C-B8094DD500B2}"/>
    <dgm:cxn modelId="{5276C774-9554-4F17-9288-65B643E1CC90}" type="presOf" srcId="{E4381EF7-7062-48AC-BA0D-1BB2238E5C3A}" destId="{492C6D5E-12BC-4878-8E36-5BA5A30C5653}" srcOrd="0" destOrd="0" presId="urn:microsoft.com/office/officeart/2024/layout/BulletTimeline"/>
    <dgm:cxn modelId="{13329457-D084-4644-9BB0-D14A2CA289FA}" srcId="{B50E574C-F227-4BF5-AD9B-9E306CF815B7}" destId="{FA4A5C51-CFB6-4C38-B061-C5DB0A2A7722}" srcOrd="7" destOrd="0" parTransId="{DAA3F235-1415-43F9-9295-0D54EA4E96D6}" sibTransId="{3744CE0F-3E96-4D71-91E9-FA67DB1C5CCC}"/>
    <dgm:cxn modelId="{C8FFBD57-F4FA-4661-B163-AAB0111AF92D}" srcId="{B50E574C-F227-4BF5-AD9B-9E306CF815B7}" destId="{818DED32-1D96-4226-BA63-3647EE084EE3}" srcOrd="3" destOrd="0" parTransId="{EB533A51-05D1-4019-90EA-C9391FAA55F1}" sibTransId="{7D0C315C-E267-4989-A113-BB21DEE0F4B0}"/>
    <dgm:cxn modelId="{54C7007C-BA73-4937-8C17-E65490C66C35}" srcId="{B50E574C-F227-4BF5-AD9B-9E306CF815B7}" destId="{5C514F86-8FFE-4BB2-A34E-E4848DE4A9C8}" srcOrd="0" destOrd="0" parTransId="{39E25ADB-AA76-4C04-A10A-8524A8D6B589}" sibTransId="{B6C5FEB7-CA2B-442E-BF0B-8EC5F6407963}"/>
    <dgm:cxn modelId="{588F0184-3917-4325-AD4A-F503BEA30777}" type="presOf" srcId="{DE69B308-49A1-438F-8515-5B766B21D0D2}" destId="{DF05443A-78FB-43F4-B216-E1D41829ED90}" srcOrd="0" destOrd="0" presId="urn:microsoft.com/office/officeart/2024/layout/BulletTimeline"/>
    <dgm:cxn modelId="{A85E4293-E51B-4D0F-B10C-1ADD84932835}" type="presOf" srcId="{EEFA336F-81D6-4F73-9A55-8B12F2EE82E3}" destId="{89F9A538-76E6-4257-BFDC-9170F16B760F}" srcOrd="0" destOrd="0" presId="urn:microsoft.com/office/officeart/2024/layout/BulletTimeline"/>
    <dgm:cxn modelId="{3479049C-7E0D-47D8-9CCB-9B0D07C22588}" type="presOf" srcId="{62595277-5049-4522-AD94-D484163A4F7C}" destId="{04612687-CAD4-4A7E-AA48-213DA808DD0F}" srcOrd="0" destOrd="0" presId="urn:microsoft.com/office/officeart/2024/layout/BulletTimeline"/>
    <dgm:cxn modelId="{D0447EC7-2C4C-409F-B500-9964C616CC9C}" srcId="{B50E574C-F227-4BF5-AD9B-9E306CF815B7}" destId="{DE69B308-49A1-438F-8515-5B766B21D0D2}" srcOrd="5" destOrd="0" parTransId="{77EFDC48-E6D6-4E26-93B9-BEADC52A1B08}" sibTransId="{052ED9B6-A7B8-44A7-B4D1-507E75571FB8}"/>
    <dgm:cxn modelId="{CA8C69DA-50E0-44B9-9451-D15CF1B79376}" type="presOf" srcId="{D96C97A6-EDB2-49F0-9FF2-A2DD316F3341}" destId="{000C2AC7-AC74-4D26-8DA4-0797D66226DD}" srcOrd="0" destOrd="0" presId="urn:microsoft.com/office/officeart/2024/layout/BulletTimeline"/>
    <dgm:cxn modelId="{163EF3E3-73F6-424D-8881-D641C6A262FF}" type="presOf" srcId="{B50E574C-F227-4BF5-AD9B-9E306CF815B7}" destId="{9BC48699-13D8-429F-B354-E2471E0FE23F}" srcOrd="0" destOrd="0" presId="urn:microsoft.com/office/officeart/2024/layout/BulletTimeline"/>
    <dgm:cxn modelId="{BE67284D-FFE6-4747-AF61-B3800DD5EC45}" type="presParOf" srcId="{9BC48699-13D8-429F-B354-E2471E0FE23F}" destId="{931A22D9-60FB-490E-A05E-67784757C4F7}" srcOrd="0" destOrd="0" presId="urn:microsoft.com/office/officeart/2024/layout/BulletTimeline"/>
    <dgm:cxn modelId="{B3891BFB-2FFA-4DE5-AB37-06B11F6B93D4}" type="presParOf" srcId="{931A22D9-60FB-490E-A05E-67784757C4F7}" destId="{F9BC27B2-3768-45D2-B82C-FEFA88EF4BAE}" srcOrd="0" destOrd="0" presId="urn:microsoft.com/office/officeart/2024/layout/BulletTimeline"/>
    <dgm:cxn modelId="{1296DE33-6FD7-4BB3-AD61-A6BE3C32DE5A}" type="presParOf" srcId="{931A22D9-60FB-490E-A05E-67784757C4F7}" destId="{E5FB07EB-CE2F-4B55-B43F-DA58625E6BA0}" srcOrd="1" destOrd="0" presId="urn:microsoft.com/office/officeart/2024/layout/BulletTimeline"/>
    <dgm:cxn modelId="{D0BA841B-05C5-45BA-8E9E-7FED3AA9037B}" type="presParOf" srcId="{9BC48699-13D8-429F-B354-E2471E0FE23F}" destId="{1164B64F-0D0C-4D65-8D4F-5F3B45BF69FB}" srcOrd="1" destOrd="0" presId="urn:microsoft.com/office/officeart/2024/layout/BulletTimeline"/>
    <dgm:cxn modelId="{B5B2DC7C-758B-4183-8DE8-CC3C8FB2AB7B}" type="presParOf" srcId="{1164B64F-0D0C-4D65-8D4F-5F3B45BF69FB}" destId="{216E6D96-31CB-4F67-92F9-6AD3B0615D7B}" srcOrd="0" destOrd="0" presId="urn:microsoft.com/office/officeart/2024/layout/BulletTimeline"/>
    <dgm:cxn modelId="{EAF81C1C-95F4-4FB1-BF12-80DFF9D0B5D4}" type="presParOf" srcId="{216E6D96-31CB-4F67-92F9-6AD3B0615D7B}" destId="{476241F2-8197-4AAC-AB2B-6FB05E18E417}" srcOrd="0" destOrd="0" presId="urn:microsoft.com/office/officeart/2024/layout/BulletTimeline"/>
    <dgm:cxn modelId="{6D90A9F7-F833-425F-9E65-C94F99C62435}" type="presParOf" srcId="{476241F2-8197-4AAC-AB2B-6FB05E18E417}" destId="{ADE31DF9-D42A-4213-8E20-1C25FB43A512}" srcOrd="0" destOrd="0" presId="urn:microsoft.com/office/officeart/2024/layout/BulletTimeline"/>
    <dgm:cxn modelId="{35BDFD91-8B4B-4F90-BFEB-5CEFADF04F92}" type="presParOf" srcId="{476241F2-8197-4AAC-AB2B-6FB05E18E417}" destId="{9A75A1FE-B112-4258-89DD-580FB65C04A7}" srcOrd="1" destOrd="0" presId="urn:microsoft.com/office/officeart/2024/layout/BulletTimeline"/>
    <dgm:cxn modelId="{B24ED15A-6CF2-41B5-A971-004BD0DB995D}" type="presParOf" srcId="{216E6D96-31CB-4F67-92F9-6AD3B0615D7B}" destId="{4DFD203B-2342-47CA-A2EC-EA4788394F55}" srcOrd="1" destOrd="0" presId="urn:microsoft.com/office/officeart/2024/layout/BulletTimeline"/>
    <dgm:cxn modelId="{184925BD-4D5E-48FC-8411-760009D0214F}" type="presParOf" srcId="{216E6D96-31CB-4F67-92F9-6AD3B0615D7B}" destId="{1C29BC1C-DA09-4F78-9A90-09820C30464B}" srcOrd="2" destOrd="0" presId="urn:microsoft.com/office/officeart/2024/layout/BulletTimeline"/>
    <dgm:cxn modelId="{8B69088B-7BC9-4B29-A6A4-47966245F67A}" type="presParOf" srcId="{216E6D96-31CB-4F67-92F9-6AD3B0615D7B}" destId="{A17566D3-A860-4EE1-AF1A-0D78D0ACB3D9}" srcOrd="3" destOrd="0" presId="urn:microsoft.com/office/officeart/2024/layout/BulletTimeline"/>
    <dgm:cxn modelId="{EF443D80-B01B-4E3B-8F72-4A542AF53163}" type="presParOf" srcId="{216E6D96-31CB-4F67-92F9-6AD3B0615D7B}" destId="{A8A9CD89-6FF7-4CFB-9D53-14533D213FC8}" srcOrd="4" destOrd="0" presId="urn:microsoft.com/office/officeart/2024/layout/BulletTimeline"/>
    <dgm:cxn modelId="{1509B466-66A6-4787-9933-4E8F26ACCE5E}" type="presParOf" srcId="{A8A9CD89-6FF7-4CFB-9D53-14533D213FC8}" destId="{B2E1DD3A-B244-417E-AF1E-8350818B76B4}" srcOrd="0" destOrd="0" presId="urn:microsoft.com/office/officeart/2024/layout/BulletTimeline"/>
    <dgm:cxn modelId="{16540453-ED80-432C-A444-01F144AECB75}" type="presParOf" srcId="{216E6D96-31CB-4F67-92F9-6AD3B0615D7B}" destId="{4D829999-9BE6-42F2-869E-23A04AC91792}" srcOrd="5" destOrd="0" presId="urn:microsoft.com/office/officeart/2024/layout/BulletTimeline"/>
    <dgm:cxn modelId="{2F6E4DAE-0BCA-4A18-BB10-371CF3309BC9}" type="presParOf" srcId="{1164B64F-0D0C-4D65-8D4F-5F3B45BF69FB}" destId="{4F4D705A-AC21-4451-BF0E-F67C408CBAC4}" srcOrd="1" destOrd="0" presId="urn:microsoft.com/office/officeart/2024/layout/BulletTimeline"/>
    <dgm:cxn modelId="{48DE913A-5961-4B24-8F49-F2CAB9FABDD6}" type="presParOf" srcId="{1164B64F-0D0C-4D65-8D4F-5F3B45BF69FB}" destId="{7C49CAB1-7224-4C88-A20F-980F158C79CE}" srcOrd="2" destOrd="0" presId="urn:microsoft.com/office/officeart/2024/layout/BulletTimeline"/>
    <dgm:cxn modelId="{3A5D1E8D-EF22-4FE3-ACF5-6BC6AF82D0FE}" type="presParOf" srcId="{7C49CAB1-7224-4C88-A20F-980F158C79CE}" destId="{A997BA60-33F8-43A8-A114-43A2BEAF94AE}" srcOrd="0" destOrd="0" presId="urn:microsoft.com/office/officeart/2024/layout/BulletTimeline"/>
    <dgm:cxn modelId="{E0B9584F-84EB-4A3C-8EF9-34C868C768D5}" type="presParOf" srcId="{A997BA60-33F8-43A8-A114-43A2BEAF94AE}" destId="{5695F75B-C350-4299-AD41-71B1E8512969}" srcOrd="0" destOrd="0" presId="urn:microsoft.com/office/officeart/2024/layout/BulletTimeline"/>
    <dgm:cxn modelId="{7D8D8D64-1AC9-4F8A-8398-EF917B19209E}" type="presParOf" srcId="{A997BA60-33F8-43A8-A114-43A2BEAF94AE}" destId="{F748FDF4-AFFB-498D-89DA-8734E8395737}" srcOrd="1" destOrd="0" presId="urn:microsoft.com/office/officeart/2024/layout/BulletTimeline"/>
    <dgm:cxn modelId="{50A90724-04DD-48DE-952A-92D6A6CBBA80}" type="presParOf" srcId="{7C49CAB1-7224-4C88-A20F-980F158C79CE}" destId="{ABC4FE30-0294-4488-B62A-FA1BD5108994}" srcOrd="1" destOrd="0" presId="urn:microsoft.com/office/officeart/2024/layout/BulletTimeline"/>
    <dgm:cxn modelId="{D79BA38D-C1B6-4343-8A16-B8A1D0DEEEE7}" type="presParOf" srcId="{7C49CAB1-7224-4C88-A20F-980F158C79CE}" destId="{492C6D5E-12BC-4878-8E36-5BA5A30C5653}" srcOrd="2" destOrd="0" presId="urn:microsoft.com/office/officeart/2024/layout/BulletTimeline"/>
    <dgm:cxn modelId="{13E391E9-D8BF-41F5-A2B0-37EC9CA63D39}" type="presParOf" srcId="{7C49CAB1-7224-4C88-A20F-980F158C79CE}" destId="{6E1006C1-64E4-43D8-B996-60D1BC08730A}" srcOrd="3" destOrd="0" presId="urn:microsoft.com/office/officeart/2024/layout/BulletTimeline"/>
    <dgm:cxn modelId="{F7F60763-E869-409D-8D6E-326747E042DB}" type="presParOf" srcId="{7C49CAB1-7224-4C88-A20F-980F158C79CE}" destId="{980F4A4F-220C-44C8-85ED-079EDD378026}" srcOrd="4" destOrd="0" presId="urn:microsoft.com/office/officeart/2024/layout/BulletTimeline"/>
    <dgm:cxn modelId="{68CC6124-7556-4934-9770-11A507C05B85}" type="presParOf" srcId="{980F4A4F-220C-44C8-85ED-079EDD378026}" destId="{A20491DA-56A7-4DA1-ADF2-DDAB293E6AFD}" srcOrd="0" destOrd="0" presId="urn:microsoft.com/office/officeart/2024/layout/BulletTimeline"/>
    <dgm:cxn modelId="{1675D4F7-BC44-462A-AC9F-CBD8BB7B06A3}" type="presParOf" srcId="{7C49CAB1-7224-4C88-A20F-980F158C79CE}" destId="{D3BCA893-7F33-4E96-950B-94D135AB4981}" srcOrd="5" destOrd="0" presId="urn:microsoft.com/office/officeart/2024/layout/BulletTimeline"/>
    <dgm:cxn modelId="{EE6DCFF2-C989-4DF5-83FF-9137897A816E}" type="presParOf" srcId="{1164B64F-0D0C-4D65-8D4F-5F3B45BF69FB}" destId="{27FEF609-771F-460D-A1A8-5747C588141A}" srcOrd="3" destOrd="0" presId="urn:microsoft.com/office/officeart/2024/layout/BulletTimeline"/>
    <dgm:cxn modelId="{EC58AAC8-2FC7-48E0-AC76-193C340DD656}" type="presParOf" srcId="{1164B64F-0D0C-4D65-8D4F-5F3B45BF69FB}" destId="{4821398D-9088-498F-9456-B47197B76BBB}" srcOrd="4" destOrd="0" presId="urn:microsoft.com/office/officeart/2024/layout/BulletTimeline"/>
    <dgm:cxn modelId="{E4E55A35-5D12-4CC3-8355-F120CF1AE093}" type="presParOf" srcId="{4821398D-9088-498F-9456-B47197B76BBB}" destId="{C5084EEB-A4D9-46BA-9038-B50AEDDC7482}" srcOrd="0" destOrd="0" presId="urn:microsoft.com/office/officeart/2024/layout/BulletTimeline"/>
    <dgm:cxn modelId="{536AE874-952F-41D8-9795-22D720ECBA72}" type="presParOf" srcId="{C5084EEB-A4D9-46BA-9038-B50AEDDC7482}" destId="{96AC0FD7-AD2B-4638-9A67-C3BFB341DB5C}" srcOrd="0" destOrd="0" presId="urn:microsoft.com/office/officeart/2024/layout/BulletTimeline"/>
    <dgm:cxn modelId="{32DC837C-7E2F-4DD7-A9F7-9CE70CC8FC3C}" type="presParOf" srcId="{C5084EEB-A4D9-46BA-9038-B50AEDDC7482}" destId="{E451D24B-1B26-44BA-B679-26374D9A44D9}" srcOrd="1" destOrd="0" presId="urn:microsoft.com/office/officeart/2024/layout/BulletTimeline"/>
    <dgm:cxn modelId="{075A24A0-4375-4902-A414-38D8DE0A9595}" type="presParOf" srcId="{4821398D-9088-498F-9456-B47197B76BBB}" destId="{FA671CF2-C1C8-47AB-9561-A5F90ABE7DA9}" srcOrd="1" destOrd="0" presId="urn:microsoft.com/office/officeart/2024/layout/BulletTimeline"/>
    <dgm:cxn modelId="{1FAFF23F-8E07-4374-BA89-997BA16CD521}" type="presParOf" srcId="{4821398D-9088-498F-9456-B47197B76BBB}" destId="{04612687-CAD4-4A7E-AA48-213DA808DD0F}" srcOrd="2" destOrd="0" presId="urn:microsoft.com/office/officeart/2024/layout/BulletTimeline"/>
    <dgm:cxn modelId="{E6AC93A8-1404-44C3-B1FA-7207554EFDC5}" type="presParOf" srcId="{4821398D-9088-498F-9456-B47197B76BBB}" destId="{154EA5DA-D49B-4C03-980D-560151762D01}" srcOrd="3" destOrd="0" presId="urn:microsoft.com/office/officeart/2024/layout/BulletTimeline"/>
    <dgm:cxn modelId="{5B8716C9-FFC1-4BA1-8278-8C31715F0DD8}" type="presParOf" srcId="{4821398D-9088-498F-9456-B47197B76BBB}" destId="{7A3D9A3F-DD29-49A8-9A3D-9FA9AB2B7C5F}" srcOrd="4" destOrd="0" presId="urn:microsoft.com/office/officeart/2024/layout/BulletTimeline"/>
    <dgm:cxn modelId="{D1DB4952-5578-46DC-816B-03F5CFBE0FE2}" type="presParOf" srcId="{7A3D9A3F-DD29-49A8-9A3D-9FA9AB2B7C5F}" destId="{468775A2-00DE-49D6-BB3C-D8294FF94C1A}" srcOrd="0" destOrd="0" presId="urn:microsoft.com/office/officeart/2024/layout/BulletTimeline"/>
    <dgm:cxn modelId="{A72784BF-B69B-45C5-B0CE-1D52B73136C1}" type="presParOf" srcId="{4821398D-9088-498F-9456-B47197B76BBB}" destId="{1B710036-231F-4B9C-9E1F-CF6F1CD817D4}" srcOrd="5" destOrd="0" presId="urn:microsoft.com/office/officeart/2024/layout/BulletTimeline"/>
    <dgm:cxn modelId="{1BE9F0F9-1F5F-4033-84AC-C0105AFDAB77}" type="presParOf" srcId="{1164B64F-0D0C-4D65-8D4F-5F3B45BF69FB}" destId="{720C20B1-0E52-414A-80F6-375A259F79F2}" srcOrd="5" destOrd="0" presId="urn:microsoft.com/office/officeart/2024/layout/BulletTimeline"/>
    <dgm:cxn modelId="{0EE90D5F-CFD8-43EF-8CCA-3E9008D60C6A}" type="presParOf" srcId="{1164B64F-0D0C-4D65-8D4F-5F3B45BF69FB}" destId="{38634E7F-12A2-40B4-B695-F64E8DD42663}" srcOrd="6" destOrd="0" presId="urn:microsoft.com/office/officeart/2024/layout/BulletTimeline"/>
    <dgm:cxn modelId="{5F21C2F3-E179-45B0-957A-E543E78525DB}" type="presParOf" srcId="{38634E7F-12A2-40B4-B695-F64E8DD42663}" destId="{3C9AC531-6E71-4F10-8DA5-D95B39A84441}" srcOrd="0" destOrd="0" presId="urn:microsoft.com/office/officeart/2024/layout/BulletTimeline"/>
    <dgm:cxn modelId="{E6F37195-ADE7-4107-914B-0674C5F38219}" type="presParOf" srcId="{3C9AC531-6E71-4F10-8DA5-D95B39A84441}" destId="{C8FE02C4-B6A7-41F6-B7E0-CF891D6D993B}" srcOrd="0" destOrd="0" presId="urn:microsoft.com/office/officeart/2024/layout/BulletTimeline"/>
    <dgm:cxn modelId="{C3EFD070-9BA8-47F5-8784-E904738C95AA}" type="presParOf" srcId="{3C9AC531-6E71-4F10-8DA5-D95B39A84441}" destId="{8F5D96FF-862E-4C4F-BA61-DF9F684A442E}" srcOrd="1" destOrd="0" presId="urn:microsoft.com/office/officeart/2024/layout/BulletTimeline"/>
    <dgm:cxn modelId="{0A6F51C8-2879-449D-A3AE-5786497294BD}" type="presParOf" srcId="{38634E7F-12A2-40B4-B695-F64E8DD42663}" destId="{1328DCAB-BDCD-434C-BCF8-E65924062E52}" srcOrd="1" destOrd="0" presId="urn:microsoft.com/office/officeart/2024/layout/BulletTimeline"/>
    <dgm:cxn modelId="{67CE9926-EAE7-440B-A80D-5A11963505FC}" type="presParOf" srcId="{38634E7F-12A2-40B4-B695-F64E8DD42663}" destId="{52D3766B-2381-4481-9233-D46F0DF31CE6}" srcOrd="2" destOrd="0" presId="urn:microsoft.com/office/officeart/2024/layout/BulletTimeline"/>
    <dgm:cxn modelId="{7E33819B-D39F-49C0-9461-07F134EA3CC6}" type="presParOf" srcId="{38634E7F-12A2-40B4-B695-F64E8DD42663}" destId="{07C4431A-189E-4E23-AC92-F6852B16F323}" srcOrd="3" destOrd="0" presId="urn:microsoft.com/office/officeart/2024/layout/BulletTimeline"/>
    <dgm:cxn modelId="{C84FCF9E-41A1-46D5-9FE0-4B142F266305}" type="presParOf" srcId="{38634E7F-12A2-40B4-B695-F64E8DD42663}" destId="{BDC01394-63D6-4802-A424-10A1B381B53A}" srcOrd="4" destOrd="0" presId="urn:microsoft.com/office/officeart/2024/layout/BulletTimeline"/>
    <dgm:cxn modelId="{8A6FEE1E-248B-41F8-BC99-196EE2BFBC00}" type="presParOf" srcId="{BDC01394-63D6-4802-A424-10A1B381B53A}" destId="{6543D36B-93BF-4B4D-941E-40A7428BC129}" srcOrd="0" destOrd="0" presId="urn:microsoft.com/office/officeart/2024/layout/BulletTimeline"/>
    <dgm:cxn modelId="{A26E1C83-DD6F-4E28-9336-A7805CAB548F}" type="presParOf" srcId="{38634E7F-12A2-40B4-B695-F64E8DD42663}" destId="{3AA53F0D-92EA-45CC-8BD2-0AC333B82F54}" srcOrd="5" destOrd="0" presId="urn:microsoft.com/office/officeart/2024/layout/BulletTimeline"/>
    <dgm:cxn modelId="{B1FEA10C-00EA-4FCC-99A9-755BEB75D3EF}" type="presParOf" srcId="{1164B64F-0D0C-4D65-8D4F-5F3B45BF69FB}" destId="{F7A4AA94-59FF-47D2-880F-164A86142AE5}" srcOrd="7" destOrd="0" presId="urn:microsoft.com/office/officeart/2024/layout/BulletTimeline"/>
    <dgm:cxn modelId="{49B51127-835C-440F-94B7-EE17D6183528}" type="presParOf" srcId="{1164B64F-0D0C-4D65-8D4F-5F3B45BF69FB}" destId="{ED432DAA-96D8-4C28-9683-7D1BD175F5B4}" srcOrd="8" destOrd="0" presId="urn:microsoft.com/office/officeart/2024/layout/BulletTimeline"/>
    <dgm:cxn modelId="{D7D9E1A1-AE51-4373-A86E-DE8205DC52E4}" type="presParOf" srcId="{ED432DAA-96D8-4C28-9683-7D1BD175F5B4}" destId="{AB406FAF-3EDB-457A-95EF-E9B4E98037F8}" srcOrd="0" destOrd="0" presId="urn:microsoft.com/office/officeart/2024/layout/BulletTimeline"/>
    <dgm:cxn modelId="{601C19C5-3115-45E3-B3CD-0FF2BB8480CE}" type="presParOf" srcId="{AB406FAF-3EDB-457A-95EF-E9B4E98037F8}" destId="{1DBEF848-0A33-4612-83EB-5C3B68EE2874}" srcOrd="0" destOrd="0" presId="urn:microsoft.com/office/officeart/2024/layout/BulletTimeline"/>
    <dgm:cxn modelId="{8047BF08-2D9C-472E-8E33-CA2994A17F3F}" type="presParOf" srcId="{AB406FAF-3EDB-457A-95EF-E9B4E98037F8}" destId="{2B66F1B9-1C6F-4CB0-B897-FDFC67545CE0}" srcOrd="1" destOrd="0" presId="urn:microsoft.com/office/officeart/2024/layout/BulletTimeline"/>
    <dgm:cxn modelId="{19A41FAC-641C-464A-ABFF-345338DB801E}" type="presParOf" srcId="{ED432DAA-96D8-4C28-9683-7D1BD175F5B4}" destId="{06578374-C4DF-4C04-B626-63F9823E09D0}" srcOrd="1" destOrd="0" presId="urn:microsoft.com/office/officeart/2024/layout/BulletTimeline"/>
    <dgm:cxn modelId="{E0720567-EB3D-4583-8074-792D047496C8}" type="presParOf" srcId="{ED432DAA-96D8-4C28-9683-7D1BD175F5B4}" destId="{000C2AC7-AC74-4D26-8DA4-0797D66226DD}" srcOrd="2" destOrd="0" presId="urn:microsoft.com/office/officeart/2024/layout/BulletTimeline"/>
    <dgm:cxn modelId="{1A9F19DA-0A89-45D1-870F-AD84A7EF2120}" type="presParOf" srcId="{ED432DAA-96D8-4C28-9683-7D1BD175F5B4}" destId="{115E9C0F-F3AA-4765-8E66-F8C6697ACACA}" srcOrd="3" destOrd="0" presId="urn:microsoft.com/office/officeart/2024/layout/BulletTimeline"/>
    <dgm:cxn modelId="{86297011-5B7C-441D-B7EA-F147E24BAB4C}" type="presParOf" srcId="{ED432DAA-96D8-4C28-9683-7D1BD175F5B4}" destId="{8F7E31E3-1007-4AE3-B7D9-9EB31F15AC58}" srcOrd="4" destOrd="0" presId="urn:microsoft.com/office/officeart/2024/layout/BulletTimeline"/>
    <dgm:cxn modelId="{2435D915-5959-48A3-81D5-1D6EC22EC853}" type="presParOf" srcId="{8F7E31E3-1007-4AE3-B7D9-9EB31F15AC58}" destId="{0ACEA677-0068-4436-85FD-9DCC3DA129C7}" srcOrd="0" destOrd="0" presId="urn:microsoft.com/office/officeart/2024/layout/BulletTimeline"/>
    <dgm:cxn modelId="{93BDF3F2-6CC9-4A2E-A5AD-2550ED6F39F9}" type="presParOf" srcId="{ED432DAA-96D8-4C28-9683-7D1BD175F5B4}" destId="{50961E86-DC27-4548-AEB2-24FC186EF7EA}" srcOrd="5" destOrd="0" presId="urn:microsoft.com/office/officeart/2024/layout/BulletTimeline"/>
    <dgm:cxn modelId="{B2350A64-95D0-4AC9-96A5-CE1CD3A9D36F}" type="presParOf" srcId="{1164B64F-0D0C-4D65-8D4F-5F3B45BF69FB}" destId="{CBABED66-27C7-448F-94A4-1AC3A48CA377}" srcOrd="9" destOrd="0" presId="urn:microsoft.com/office/officeart/2024/layout/BulletTimeline"/>
    <dgm:cxn modelId="{F19C8E39-FAEE-4436-A65C-5C919B0BE0FB}" type="presParOf" srcId="{1164B64F-0D0C-4D65-8D4F-5F3B45BF69FB}" destId="{66CBF675-40D6-45E8-97D2-6CE56D87384C}" srcOrd="10" destOrd="0" presId="urn:microsoft.com/office/officeart/2024/layout/BulletTimeline"/>
    <dgm:cxn modelId="{C4DC3A10-9211-4CFF-846B-589C7055EDBF}" type="presParOf" srcId="{66CBF675-40D6-45E8-97D2-6CE56D87384C}" destId="{AFBB643B-E029-48F6-A9F6-4CAE6B47A431}" srcOrd="0" destOrd="0" presId="urn:microsoft.com/office/officeart/2024/layout/BulletTimeline"/>
    <dgm:cxn modelId="{873648DF-E26C-4404-9C9D-CE00450732E7}" type="presParOf" srcId="{AFBB643B-E029-48F6-A9F6-4CAE6B47A431}" destId="{A2D1C7A5-9C6B-4561-B781-3F5A9A75583D}" srcOrd="0" destOrd="0" presId="urn:microsoft.com/office/officeart/2024/layout/BulletTimeline"/>
    <dgm:cxn modelId="{0D49F6E6-C3CD-41BC-8913-A474ACF7F992}" type="presParOf" srcId="{AFBB643B-E029-48F6-A9F6-4CAE6B47A431}" destId="{B8794A92-03DE-4716-8846-DA5927898062}" srcOrd="1" destOrd="0" presId="urn:microsoft.com/office/officeart/2024/layout/BulletTimeline"/>
    <dgm:cxn modelId="{982BF427-B8B1-4D71-BFA5-1DA63D5456E0}" type="presParOf" srcId="{66CBF675-40D6-45E8-97D2-6CE56D87384C}" destId="{6701F0FA-3723-47DE-98A7-803AFDC4AF23}" srcOrd="1" destOrd="0" presId="urn:microsoft.com/office/officeart/2024/layout/BulletTimeline"/>
    <dgm:cxn modelId="{56E5B501-679A-40A0-9DBE-F1E761C2D0FF}" type="presParOf" srcId="{66CBF675-40D6-45E8-97D2-6CE56D87384C}" destId="{DF05443A-78FB-43F4-B216-E1D41829ED90}" srcOrd="2" destOrd="0" presId="urn:microsoft.com/office/officeart/2024/layout/BulletTimeline"/>
    <dgm:cxn modelId="{011BADFF-0E81-4D86-A7CA-26C495656851}" type="presParOf" srcId="{66CBF675-40D6-45E8-97D2-6CE56D87384C}" destId="{8446757A-2B27-4988-B6A5-C6E075D825F2}" srcOrd="3" destOrd="0" presId="urn:microsoft.com/office/officeart/2024/layout/BulletTimeline"/>
    <dgm:cxn modelId="{0F48DFA9-6CC1-41E4-96E2-95F669C4FF59}" type="presParOf" srcId="{66CBF675-40D6-45E8-97D2-6CE56D87384C}" destId="{C178F857-D05A-4131-8C5E-D19FB8274312}" srcOrd="4" destOrd="0" presId="urn:microsoft.com/office/officeart/2024/layout/BulletTimeline"/>
    <dgm:cxn modelId="{E45205FA-4DAA-4820-8393-8EA36111765D}" type="presParOf" srcId="{C178F857-D05A-4131-8C5E-D19FB8274312}" destId="{7FF1354C-3FDA-4C03-AEEE-7FFA1D6A09DA}" srcOrd="0" destOrd="0" presId="urn:microsoft.com/office/officeart/2024/layout/BulletTimeline"/>
    <dgm:cxn modelId="{6BCDBEDF-6E58-4FC2-BD27-DB01F5BA1D36}" type="presParOf" srcId="{66CBF675-40D6-45E8-97D2-6CE56D87384C}" destId="{BAD21729-9938-441B-9271-E4BB2C4AA4C4}" srcOrd="5" destOrd="0" presId="urn:microsoft.com/office/officeart/2024/layout/BulletTimeline"/>
    <dgm:cxn modelId="{75592824-D18B-49BD-B4E3-F81B2E946288}" type="presParOf" srcId="{1164B64F-0D0C-4D65-8D4F-5F3B45BF69FB}" destId="{17B5712C-ED20-48D6-A572-EE22854F5C38}" srcOrd="11" destOrd="0" presId="urn:microsoft.com/office/officeart/2024/layout/BulletTimeline"/>
    <dgm:cxn modelId="{46C7FE4A-95A9-42E0-87F2-0D286513D1D6}" type="presParOf" srcId="{1164B64F-0D0C-4D65-8D4F-5F3B45BF69FB}" destId="{ED27A372-C535-4439-BAA7-DD90D786FF19}" srcOrd="12" destOrd="0" presId="urn:microsoft.com/office/officeart/2024/layout/BulletTimeline"/>
    <dgm:cxn modelId="{D95F688E-A0C5-4A0E-B22F-B383E46E62D5}" type="presParOf" srcId="{ED27A372-C535-4439-BAA7-DD90D786FF19}" destId="{2B2B8545-2491-421A-8E0C-BFA412321252}" srcOrd="0" destOrd="0" presId="urn:microsoft.com/office/officeart/2024/layout/BulletTimeline"/>
    <dgm:cxn modelId="{B744F0D0-1D25-4582-88DB-A0B364DB07EE}" type="presParOf" srcId="{2B2B8545-2491-421A-8E0C-BFA412321252}" destId="{B939DE2D-094E-451B-A5A8-AE10B6E034F6}" srcOrd="0" destOrd="0" presId="urn:microsoft.com/office/officeart/2024/layout/BulletTimeline"/>
    <dgm:cxn modelId="{A4BE92AB-3302-4D53-BC91-2B9987FB513F}" type="presParOf" srcId="{2B2B8545-2491-421A-8E0C-BFA412321252}" destId="{D6E25790-9881-42C5-AFE4-2FA10D281E07}" srcOrd="1" destOrd="0" presId="urn:microsoft.com/office/officeart/2024/layout/BulletTimeline"/>
    <dgm:cxn modelId="{D82D1742-94C3-4405-82C0-82449F9D13D4}" type="presParOf" srcId="{ED27A372-C535-4439-BAA7-DD90D786FF19}" destId="{99693715-F899-474F-8DBA-F40189C71465}" srcOrd="1" destOrd="0" presId="urn:microsoft.com/office/officeart/2024/layout/BulletTimeline"/>
    <dgm:cxn modelId="{26D27DBB-1A80-4E06-913E-61C0A4F143DE}" type="presParOf" srcId="{ED27A372-C535-4439-BAA7-DD90D786FF19}" destId="{89F9A538-76E6-4257-BFDC-9170F16B760F}" srcOrd="2" destOrd="0" presId="urn:microsoft.com/office/officeart/2024/layout/BulletTimeline"/>
    <dgm:cxn modelId="{EFE993B4-9B14-4304-9456-46740FEC1F3D}" type="presParOf" srcId="{ED27A372-C535-4439-BAA7-DD90D786FF19}" destId="{C130C05B-BDDE-43C0-81B5-8713ED903A99}" srcOrd="3" destOrd="0" presId="urn:microsoft.com/office/officeart/2024/layout/BulletTimeline"/>
    <dgm:cxn modelId="{7AB0AB89-C3F3-43C7-9659-B513975B5325}" type="presParOf" srcId="{ED27A372-C535-4439-BAA7-DD90D786FF19}" destId="{55AAB004-3A59-43DE-8DA7-22E1A38D8C59}" srcOrd="4" destOrd="0" presId="urn:microsoft.com/office/officeart/2024/layout/BulletTimeline"/>
    <dgm:cxn modelId="{1253D66E-D589-4041-B845-9CE41663DD40}" type="presParOf" srcId="{55AAB004-3A59-43DE-8DA7-22E1A38D8C59}" destId="{98C738D8-72E4-4E42-92E2-BE1CE86C8071}" srcOrd="0" destOrd="0" presId="urn:microsoft.com/office/officeart/2024/layout/BulletTimeline"/>
    <dgm:cxn modelId="{F337AF50-C1AB-4F09-8936-82966923A95F}" type="presParOf" srcId="{ED27A372-C535-4439-BAA7-DD90D786FF19}" destId="{CCFD1FDF-50B8-4F15-8490-EEA84309FB19}" srcOrd="5" destOrd="0" presId="urn:microsoft.com/office/officeart/2024/layout/BulletTimeline"/>
    <dgm:cxn modelId="{DCECCA45-C656-40C2-9A9B-25B02189CFA6}" type="presParOf" srcId="{1164B64F-0D0C-4D65-8D4F-5F3B45BF69FB}" destId="{01A33730-AF60-40E8-9041-A7D78220CF8E}" srcOrd="13" destOrd="0" presId="urn:microsoft.com/office/officeart/2024/layout/BulletTimeline"/>
    <dgm:cxn modelId="{AC686DE2-6FF2-4AB5-9847-A562F606CB33}" type="presParOf" srcId="{1164B64F-0D0C-4D65-8D4F-5F3B45BF69FB}" destId="{D5497C02-7051-43BD-AB2B-33E0BAA3CF9B}" srcOrd="14" destOrd="0" presId="urn:microsoft.com/office/officeart/2024/layout/BulletTimeline"/>
    <dgm:cxn modelId="{008074EE-DA03-4B20-A781-233EF972EEF7}" type="presParOf" srcId="{D5497C02-7051-43BD-AB2B-33E0BAA3CF9B}" destId="{D25B3E63-399A-4CB4-96F9-55A844D64A28}" srcOrd="0" destOrd="0" presId="urn:microsoft.com/office/officeart/2024/layout/BulletTimeline"/>
    <dgm:cxn modelId="{A87F07A2-1B8A-4BD9-BAE8-605DA53C02B9}" type="presParOf" srcId="{D25B3E63-399A-4CB4-96F9-55A844D64A28}" destId="{9502423F-1CD1-4F8E-9CF3-F098380EFE9F}" srcOrd="0" destOrd="0" presId="urn:microsoft.com/office/officeart/2024/layout/BulletTimeline"/>
    <dgm:cxn modelId="{F6CD471C-D379-4556-8405-5EA916A99167}" type="presParOf" srcId="{D25B3E63-399A-4CB4-96F9-55A844D64A28}" destId="{185A77E1-3BB9-48F0-84BE-39B83F89A5D8}" srcOrd="1" destOrd="0" presId="urn:microsoft.com/office/officeart/2024/layout/BulletTimeline"/>
    <dgm:cxn modelId="{0A17B6B5-C724-4DA5-84D1-FE6CAE6AD180}" type="presParOf" srcId="{D5497C02-7051-43BD-AB2B-33E0BAA3CF9B}" destId="{B34FD0D9-DB22-424B-AFD6-63C8EEBB6369}" srcOrd="1" destOrd="0" presId="urn:microsoft.com/office/officeart/2024/layout/BulletTimeline"/>
    <dgm:cxn modelId="{5045051E-BB10-45E1-8344-0A9DABF5C45F}" type="presParOf" srcId="{D5497C02-7051-43BD-AB2B-33E0BAA3CF9B}" destId="{A69EFC00-90B1-4C61-B5FB-C78FDD0A8632}" srcOrd="2" destOrd="0" presId="urn:microsoft.com/office/officeart/2024/layout/BulletTimeline"/>
    <dgm:cxn modelId="{7ACF570F-1357-49FC-AA23-8B44F0BBAF19}" type="presParOf" srcId="{D5497C02-7051-43BD-AB2B-33E0BAA3CF9B}" destId="{6C6447C3-0700-4237-BA3A-DB2E813BF4D4}" srcOrd="3" destOrd="0" presId="urn:microsoft.com/office/officeart/2024/layout/BulletTimeline"/>
    <dgm:cxn modelId="{D90E27EE-A1F3-46BC-854A-DEC18A95A7DD}" type="presParOf" srcId="{D5497C02-7051-43BD-AB2B-33E0BAA3CF9B}" destId="{E5BAFE1D-5A5D-481C-B3AD-7BEAC91E1C61}" srcOrd="4" destOrd="0" presId="urn:microsoft.com/office/officeart/2024/layout/BulletTimeline"/>
    <dgm:cxn modelId="{8B778A3F-FCC8-4A55-BD29-C3812F318094}" type="presParOf" srcId="{E5BAFE1D-5A5D-481C-B3AD-7BEAC91E1C61}" destId="{A88DD86C-BCCE-43CE-BEA0-9613F1D4798A}" srcOrd="0" destOrd="0" presId="urn:microsoft.com/office/officeart/2024/layout/BulletTimeline"/>
    <dgm:cxn modelId="{95F8FFCD-ED17-48C2-8FB8-A176C92E817D}" type="presParOf" srcId="{D5497C02-7051-43BD-AB2B-33E0BAA3CF9B}" destId="{9B55C036-E081-4D7C-8776-5C8433B48BA8}" srcOrd="5" destOrd="0" presId="urn:microsoft.com/office/officeart/2024/layout/Bullet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BC27B2-3768-45D2-B82C-FEFA88EF4BAE}">
      <dsp:nvSpPr>
        <dsp:cNvPr id="0" name=""/>
        <dsp:cNvSpPr/>
      </dsp:nvSpPr>
      <dsp:spPr>
        <a:xfrm>
          <a:off x="0" y="2682240"/>
          <a:ext cx="8095488" cy="54186"/>
        </a:xfrm>
        <a:prstGeom prst="rect">
          <a:avLst/>
        </a:prstGeom>
        <a:gradFill rotWithShape="0">
          <a:gsLst>
            <a:gs pos="0">
              <a:schemeClr val="accent1">
                <a:tint val="76000"/>
              </a:schemeClr>
            </a:gs>
            <a:gs pos="100000">
              <a:schemeClr val="accent1">
                <a:tint val="76000"/>
              </a:schemeClr>
            </a:gs>
          </a:gsLst>
          <a:lin ang="0" scaled="0"/>
        </a:gra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E5FB07EB-CE2F-4B55-B43F-DA58625E6BA0}">
      <dsp:nvSpPr>
        <dsp:cNvPr id="0" name=""/>
        <dsp:cNvSpPr/>
      </dsp:nvSpPr>
      <dsp:spPr>
        <a:xfrm>
          <a:off x="7802879" y="2492586"/>
          <a:ext cx="325120" cy="433493"/>
        </a:xfrm>
        <a:prstGeom prst="chevron">
          <a:avLst>
            <a:gd name="adj" fmla="val 75000"/>
          </a:avLst>
        </a:prstGeom>
        <a:gradFill rotWithShape="0">
          <a:gsLst>
            <a:gs pos="0">
              <a:schemeClr val="accent1">
                <a:tint val="76000"/>
              </a:schemeClr>
            </a:gs>
            <a:gs pos="100000">
              <a:schemeClr val="accent1">
                <a:tint val="76000"/>
              </a:schemeClr>
            </a:gs>
          </a:gsLst>
          <a:lin ang="0" scaled="0"/>
        </a:gra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4DFD203B-2342-47CA-A2EC-EA4788394F55}">
      <dsp:nvSpPr>
        <dsp:cNvPr id="0" name=""/>
        <dsp:cNvSpPr/>
      </dsp:nvSpPr>
      <dsp:spPr>
        <a:xfrm>
          <a:off x="572273" y="1235456"/>
          <a:ext cx="1234499" cy="1257130"/>
        </a:xfrm>
        <a:prstGeom prst="rect">
          <a:avLst/>
        </a:prstGeom>
        <a:noFill/>
        <a:ln>
          <a:noFill/>
        </a:ln>
        <a:effectLst/>
      </dsp:spPr>
      <dsp:style>
        <a:lnRef idx="0">
          <a:scrgbClr r="0" g="0" b="0"/>
        </a:lnRef>
        <a:fillRef idx="0">
          <a:scrgbClr r="0" g="0" b="0"/>
        </a:fillRef>
        <a:effectRef idx="0">
          <a:scrgbClr r="0" g="0" b="0"/>
        </a:effectRef>
        <a:fontRef idx="minor"/>
      </dsp:style>
    </dsp:sp>
    <dsp:sp modelId="{1C29BC1C-DA09-4F78-9A90-09820C30464B}">
      <dsp:nvSpPr>
        <dsp:cNvPr id="0" name=""/>
        <dsp:cNvSpPr/>
      </dsp:nvSpPr>
      <dsp:spPr>
        <a:xfrm>
          <a:off x="572273" y="585216"/>
          <a:ext cx="1234499" cy="65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t>Raw EEG</a:t>
          </a:r>
          <a:endParaRPr lang="en-GH" sz="2000" kern="1200" dirty="0"/>
        </a:p>
      </dsp:txBody>
      <dsp:txXfrm>
        <a:off x="572273" y="585216"/>
        <a:ext cx="1234499" cy="650240"/>
      </dsp:txXfrm>
    </dsp:sp>
    <dsp:sp modelId="{A17566D3-A860-4EE1-AF1A-0D78D0ACB3D9}">
      <dsp:nvSpPr>
        <dsp:cNvPr id="0" name=""/>
        <dsp:cNvSpPr/>
      </dsp:nvSpPr>
      <dsp:spPr>
        <a:xfrm>
          <a:off x="268780" y="541866"/>
          <a:ext cx="35705" cy="2167466"/>
        </a:xfrm>
        <a:prstGeom prst="rect">
          <a:avLst/>
        </a:prstGeom>
        <a:solidFill>
          <a:schemeClr val="accent1">
            <a:shade val="8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ABC4FE30-0294-4488-B62A-FA1BD5108994}">
      <dsp:nvSpPr>
        <dsp:cNvPr id="0" name=""/>
        <dsp:cNvSpPr/>
      </dsp:nvSpPr>
      <dsp:spPr>
        <a:xfrm>
          <a:off x="1475164" y="3814741"/>
          <a:ext cx="1234499" cy="1018709"/>
        </a:xfrm>
        <a:prstGeom prst="rect">
          <a:avLst/>
        </a:prstGeom>
        <a:noFill/>
        <a:ln>
          <a:noFill/>
        </a:ln>
        <a:effectLst/>
      </dsp:spPr>
      <dsp:style>
        <a:lnRef idx="0">
          <a:scrgbClr r="0" g="0" b="0"/>
        </a:lnRef>
        <a:fillRef idx="0">
          <a:scrgbClr r="0" g="0" b="0"/>
        </a:fillRef>
        <a:effectRef idx="0">
          <a:scrgbClr r="0" g="0" b="0"/>
        </a:effectRef>
        <a:fontRef idx="minor"/>
      </dsp:style>
    </dsp:sp>
    <dsp:sp modelId="{492C6D5E-12BC-4878-8E36-5BA5A30C5653}">
      <dsp:nvSpPr>
        <dsp:cNvPr id="0" name=""/>
        <dsp:cNvSpPr/>
      </dsp:nvSpPr>
      <dsp:spPr>
        <a:xfrm>
          <a:off x="1475164" y="3142826"/>
          <a:ext cx="1234499" cy="671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t>Get Data</a:t>
          </a:r>
          <a:endParaRPr lang="en-GH" sz="2000" kern="1200" dirty="0"/>
        </a:p>
      </dsp:txBody>
      <dsp:txXfrm>
        <a:off x="1475164" y="3142826"/>
        <a:ext cx="1234499" cy="671914"/>
      </dsp:txXfrm>
    </dsp:sp>
    <dsp:sp modelId="{6E1006C1-64E4-43D8-B996-60D1BC08730A}">
      <dsp:nvSpPr>
        <dsp:cNvPr id="0" name=""/>
        <dsp:cNvSpPr/>
      </dsp:nvSpPr>
      <dsp:spPr>
        <a:xfrm>
          <a:off x="1171671" y="2709333"/>
          <a:ext cx="35705" cy="2167466"/>
        </a:xfrm>
        <a:prstGeom prst="rect">
          <a:avLst/>
        </a:prstGeom>
        <a:solidFill>
          <a:schemeClr val="accent1">
            <a:shade val="8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B2E1DD3A-B244-417E-AF1E-8350818B76B4}">
      <dsp:nvSpPr>
        <dsp:cNvPr id="0" name=""/>
        <dsp:cNvSpPr/>
      </dsp:nvSpPr>
      <dsp:spPr>
        <a:xfrm>
          <a:off x="193799" y="2616500"/>
          <a:ext cx="185666" cy="185666"/>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20491DA-56A7-4DA1-ADF2-DDAB293E6AFD}">
      <dsp:nvSpPr>
        <dsp:cNvPr id="0" name=""/>
        <dsp:cNvSpPr/>
      </dsp:nvSpPr>
      <dsp:spPr>
        <a:xfrm>
          <a:off x="1096690" y="2616500"/>
          <a:ext cx="185666" cy="185666"/>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A671CF2-C1C8-47AB-9561-A5F90ABE7DA9}">
      <dsp:nvSpPr>
        <dsp:cNvPr id="0" name=""/>
        <dsp:cNvSpPr/>
      </dsp:nvSpPr>
      <dsp:spPr>
        <a:xfrm>
          <a:off x="2378054" y="1235456"/>
          <a:ext cx="1234499" cy="1257130"/>
        </a:xfrm>
        <a:prstGeom prst="rect">
          <a:avLst/>
        </a:prstGeom>
        <a:noFill/>
        <a:ln>
          <a:noFill/>
        </a:ln>
        <a:effectLst/>
      </dsp:spPr>
      <dsp:style>
        <a:lnRef idx="0">
          <a:scrgbClr r="0" g="0" b="0"/>
        </a:lnRef>
        <a:fillRef idx="0">
          <a:scrgbClr r="0" g="0" b="0"/>
        </a:fillRef>
        <a:effectRef idx="0">
          <a:scrgbClr r="0" g="0" b="0"/>
        </a:effectRef>
        <a:fontRef idx="minor"/>
      </dsp:style>
    </dsp:sp>
    <dsp:sp modelId="{04612687-CAD4-4A7E-AA48-213DA808DD0F}">
      <dsp:nvSpPr>
        <dsp:cNvPr id="0" name=""/>
        <dsp:cNvSpPr/>
      </dsp:nvSpPr>
      <dsp:spPr>
        <a:xfrm>
          <a:off x="2378054" y="585216"/>
          <a:ext cx="1234499" cy="65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a:t>Filtering</a:t>
          </a:r>
          <a:endParaRPr lang="en-GH" sz="2000" kern="1200" dirty="0"/>
        </a:p>
      </dsp:txBody>
      <dsp:txXfrm>
        <a:off x="2378054" y="585216"/>
        <a:ext cx="1234499" cy="650240"/>
      </dsp:txXfrm>
    </dsp:sp>
    <dsp:sp modelId="{154EA5DA-D49B-4C03-980D-560151762D01}">
      <dsp:nvSpPr>
        <dsp:cNvPr id="0" name=""/>
        <dsp:cNvSpPr/>
      </dsp:nvSpPr>
      <dsp:spPr>
        <a:xfrm>
          <a:off x="2074561" y="541866"/>
          <a:ext cx="35705" cy="2167466"/>
        </a:xfrm>
        <a:prstGeom prst="rect">
          <a:avLst/>
        </a:prstGeom>
        <a:solidFill>
          <a:schemeClr val="accent1">
            <a:shade val="8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1328DCAB-BDCD-434C-BCF8-E65924062E52}">
      <dsp:nvSpPr>
        <dsp:cNvPr id="0" name=""/>
        <dsp:cNvSpPr/>
      </dsp:nvSpPr>
      <dsp:spPr>
        <a:xfrm>
          <a:off x="3280945" y="3814741"/>
          <a:ext cx="1234499" cy="1018709"/>
        </a:xfrm>
        <a:prstGeom prst="rect">
          <a:avLst/>
        </a:prstGeom>
        <a:noFill/>
        <a:ln>
          <a:noFill/>
        </a:ln>
        <a:effectLst/>
      </dsp:spPr>
      <dsp:style>
        <a:lnRef idx="0">
          <a:scrgbClr r="0" g="0" b="0"/>
        </a:lnRef>
        <a:fillRef idx="0">
          <a:scrgbClr r="0" g="0" b="0"/>
        </a:fillRef>
        <a:effectRef idx="0">
          <a:scrgbClr r="0" g="0" b="0"/>
        </a:effectRef>
        <a:fontRef idx="minor"/>
      </dsp:style>
    </dsp:sp>
    <dsp:sp modelId="{52D3766B-2381-4481-9233-D46F0DF31CE6}">
      <dsp:nvSpPr>
        <dsp:cNvPr id="0" name=""/>
        <dsp:cNvSpPr/>
      </dsp:nvSpPr>
      <dsp:spPr>
        <a:xfrm>
          <a:off x="3280945" y="3142826"/>
          <a:ext cx="1234499" cy="671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t>Re-referencing</a:t>
          </a:r>
          <a:endParaRPr lang="en-GH" sz="2000" kern="1200" dirty="0"/>
        </a:p>
      </dsp:txBody>
      <dsp:txXfrm>
        <a:off x="3280945" y="3142826"/>
        <a:ext cx="1234499" cy="671914"/>
      </dsp:txXfrm>
    </dsp:sp>
    <dsp:sp modelId="{07C4431A-189E-4E23-AC92-F6852B16F323}">
      <dsp:nvSpPr>
        <dsp:cNvPr id="0" name=""/>
        <dsp:cNvSpPr/>
      </dsp:nvSpPr>
      <dsp:spPr>
        <a:xfrm>
          <a:off x="2977452" y="2709333"/>
          <a:ext cx="35705" cy="2167466"/>
        </a:xfrm>
        <a:prstGeom prst="rect">
          <a:avLst/>
        </a:prstGeom>
        <a:solidFill>
          <a:schemeClr val="accent1">
            <a:shade val="8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468775A2-00DE-49D6-BB3C-D8294FF94C1A}">
      <dsp:nvSpPr>
        <dsp:cNvPr id="0" name=""/>
        <dsp:cNvSpPr/>
      </dsp:nvSpPr>
      <dsp:spPr>
        <a:xfrm>
          <a:off x="1999580" y="2616500"/>
          <a:ext cx="185666" cy="185666"/>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6543D36B-93BF-4B4D-941E-40A7428BC129}">
      <dsp:nvSpPr>
        <dsp:cNvPr id="0" name=""/>
        <dsp:cNvSpPr/>
      </dsp:nvSpPr>
      <dsp:spPr>
        <a:xfrm>
          <a:off x="2902471" y="2616500"/>
          <a:ext cx="185666" cy="185666"/>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6578374-C4DF-4C04-B626-63F9823E09D0}">
      <dsp:nvSpPr>
        <dsp:cNvPr id="0" name=""/>
        <dsp:cNvSpPr/>
      </dsp:nvSpPr>
      <dsp:spPr>
        <a:xfrm>
          <a:off x="4183836" y="1235456"/>
          <a:ext cx="1234499" cy="1257130"/>
        </a:xfrm>
        <a:prstGeom prst="rect">
          <a:avLst/>
        </a:prstGeom>
        <a:noFill/>
        <a:ln>
          <a:noFill/>
        </a:ln>
        <a:effectLst/>
      </dsp:spPr>
      <dsp:style>
        <a:lnRef idx="0">
          <a:scrgbClr r="0" g="0" b="0"/>
        </a:lnRef>
        <a:fillRef idx="0">
          <a:scrgbClr r="0" g="0" b="0"/>
        </a:fillRef>
        <a:effectRef idx="0">
          <a:scrgbClr r="0" g="0" b="0"/>
        </a:effectRef>
        <a:fontRef idx="minor"/>
      </dsp:style>
    </dsp:sp>
    <dsp:sp modelId="{000C2AC7-AC74-4D26-8DA4-0797D66226DD}">
      <dsp:nvSpPr>
        <dsp:cNvPr id="0" name=""/>
        <dsp:cNvSpPr/>
      </dsp:nvSpPr>
      <dsp:spPr>
        <a:xfrm>
          <a:off x="4183836" y="585216"/>
          <a:ext cx="1234499" cy="65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a:t>Artifact Removal</a:t>
          </a:r>
          <a:endParaRPr lang="en-GH" sz="2000" kern="1200" dirty="0"/>
        </a:p>
      </dsp:txBody>
      <dsp:txXfrm>
        <a:off x="4183836" y="585216"/>
        <a:ext cx="1234499" cy="650240"/>
      </dsp:txXfrm>
    </dsp:sp>
    <dsp:sp modelId="{115E9C0F-F3AA-4765-8E66-F8C6697ACACA}">
      <dsp:nvSpPr>
        <dsp:cNvPr id="0" name=""/>
        <dsp:cNvSpPr/>
      </dsp:nvSpPr>
      <dsp:spPr>
        <a:xfrm>
          <a:off x="3880342" y="541866"/>
          <a:ext cx="35705" cy="2167466"/>
        </a:xfrm>
        <a:prstGeom prst="rect">
          <a:avLst/>
        </a:prstGeom>
        <a:solidFill>
          <a:schemeClr val="accent1">
            <a:shade val="8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6701F0FA-3723-47DE-98A7-803AFDC4AF23}">
      <dsp:nvSpPr>
        <dsp:cNvPr id="0" name=""/>
        <dsp:cNvSpPr/>
      </dsp:nvSpPr>
      <dsp:spPr>
        <a:xfrm>
          <a:off x="5086726" y="3814741"/>
          <a:ext cx="1234499" cy="1018709"/>
        </a:xfrm>
        <a:prstGeom prst="rect">
          <a:avLst/>
        </a:prstGeom>
        <a:noFill/>
        <a:ln>
          <a:noFill/>
        </a:ln>
        <a:effectLst/>
      </dsp:spPr>
      <dsp:style>
        <a:lnRef idx="0">
          <a:scrgbClr r="0" g="0" b="0"/>
        </a:lnRef>
        <a:fillRef idx="0">
          <a:scrgbClr r="0" g="0" b="0"/>
        </a:fillRef>
        <a:effectRef idx="0">
          <a:scrgbClr r="0" g="0" b="0"/>
        </a:effectRef>
        <a:fontRef idx="minor"/>
      </dsp:style>
    </dsp:sp>
    <dsp:sp modelId="{DF05443A-78FB-43F4-B216-E1D41829ED90}">
      <dsp:nvSpPr>
        <dsp:cNvPr id="0" name=""/>
        <dsp:cNvSpPr/>
      </dsp:nvSpPr>
      <dsp:spPr>
        <a:xfrm>
          <a:off x="5086726" y="3142826"/>
          <a:ext cx="1234499" cy="671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a:t>Epoching</a:t>
          </a:r>
          <a:endParaRPr lang="en-GH" sz="2000" kern="1200" dirty="0"/>
        </a:p>
      </dsp:txBody>
      <dsp:txXfrm>
        <a:off x="5086726" y="3142826"/>
        <a:ext cx="1234499" cy="671914"/>
      </dsp:txXfrm>
    </dsp:sp>
    <dsp:sp modelId="{8446757A-2B27-4988-B6A5-C6E075D825F2}">
      <dsp:nvSpPr>
        <dsp:cNvPr id="0" name=""/>
        <dsp:cNvSpPr/>
      </dsp:nvSpPr>
      <dsp:spPr>
        <a:xfrm>
          <a:off x="4783233" y="2709333"/>
          <a:ext cx="35705" cy="2167466"/>
        </a:xfrm>
        <a:prstGeom prst="rect">
          <a:avLst/>
        </a:prstGeom>
        <a:solidFill>
          <a:schemeClr val="accent1">
            <a:shade val="8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0ACEA677-0068-4436-85FD-9DCC3DA129C7}">
      <dsp:nvSpPr>
        <dsp:cNvPr id="0" name=""/>
        <dsp:cNvSpPr/>
      </dsp:nvSpPr>
      <dsp:spPr>
        <a:xfrm>
          <a:off x="3805362" y="2616500"/>
          <a:ext cx="185666" cy="185666"/>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FF1354C-3FDA-4C03-AEEE-7FFA1D6A09DA}">
      <dsp:nvSpPr>
        <dsp:cNvPr id="0" name=""/>
        <dsp:cNvSpPr/>
      </dsp:nvSpPr>
      <dsp:spPr>
        <a:xfrm>
          <a:off x="4708252" y="2616500"/>
          <a:ext cx="185666" cy="185666"/>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9693715-F899-474F-8DBA-F40189C71465}">
      <dsp:nvSpPr>
        <dsp:cNvPr id="0" name=""/>
        <dsp:cNvSpPr/>
      </dsp:nvSpPr>
      <dsp:spPr>
        <a:xfrm>
          <a:off x="5989617" y="1235456"/>
          <a:ext cx="1234499" cy="1257130"/>
        </a:xfrm>
        <a:prstGeom prst="rect">
          <a:avLst/>
        </a:prstGeom>
        <a:noFill/>
        <a:ln>
          <a:noFill/>
        </a:ln>
        <a:effectLst/>
      </dsp:spPr>
      <dsp:style>
        <a:lnRef idx="0">
          <a:scrgbClr r="0" g="0" b="0"/>
        </a:lnRef>
        <a:fillRef idx="0">
          <a:scrgbClr r="0" g="0" b="0"/>
        </a:fillRef>
        <a:effectRef idx="0">
          <a:scrgbClr r="0" g="0" b="0"/>
        </a:effectRef>
        <a:fontRef idx="minor"/>
      </dsp:style>
    </dsp:sp>
    <dsp:sp modelId="{89F9A538-76E6-4257-BFDC-9170F16B760F}">
      <dsp:nvSpPr>
        <dsp:cNvPr id="0" name=""/>
        <dsp:cNvSpPr/>
      </dsp:nvSpPr>
      <dsp:spPr>
        <a:xfrm>
          <a:off x="5989617" y="585216"/>
          <a:ext cx="1234499" cy="65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a:t>Baseline Correction</a:t>
          </a:r>
          <a:endParaRPr lang="en-GH" sz="2000" kern="1200" dirty="0"/>
        </a:p>
      </dsp:txBody>
      <dsp:txXfrm>
        <a:off x="5989617" y="585216"/>
        <a:ext cx="1234499" cy="650240"/>
      </dsp:txXfrm>
    </dsp:sp>
    <dsp:sp modelId="{C130C05B-BDDE-43C0-81B5-8713ED903A99}">
      <dsp:nvSpPr>
        <dsp:cNvPr id="0" name=""/>
        <dsp:cNvSpPr/>
      </dsp:nvSpPr>
      <dsp:spPr>
        <a:xfrm>
          <a:off x="5686124" y="541866"/>
          <a:ext cx="35705" cy="2167466"/>
        </a:xfrm>
        <a:prstGeom prst="rect">
          <a:avLst/>
        </a:prstGeom>
        <a:solidFill>
          <a:schemeClr val="accent1">
            <a:shade val="8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B34FD0D9-DB22-424B-AFD6-63C8EEBB6369}">
      <dsp:nvSpPr>
        <dsp:cNvPr id="0" name=""/>
        <dsp:cNvSpPr/>
      </dsp:nvSpPr>
      <dsp:spPr>
        <a:xfrm>
          <a:off x="6892508" y="3814741"/>
          <a:ext cx="1234499" cy="1018709"/>
        </a:xfrm>
        <a:prstGeom prst="rect">
          <a:avLst/>
        </a:prstGeom>
        <a:noFill/>
        <a:ln>
          <a:noFill/>
        </a:ln>
        <a:effectLst/>
      </dsp:spPr>
      <dsp:style>
        <a:lnRef idx="0">
          <a:scrgbClr r="0" g="0" b="0"/>
        </a:lnRef>
        <a:fillRef idx="0">
          <a:scrgbClr r="0" g="0" b="0"/>
        </a:fillRef>
        <a:effectRef idx="0">
          <a:scrgbClr r="0" g="0" b="0"/>
        </a:effectRef>
        <a:fontRef idx="minor"/>
      </dsp:style>
    </dsp:sp>
    <dsp:sp modelId="{A69EFC00-90B1-4C61-B5FB-C78FDD0A8632}">
      <dsp:nvSpPr>
        <dsp:cNvPr id="0" name=""/>
        <dsp:cNvSpPr/>
      </dsp:nvSpPr>
      <dsp:spPr>
        <a:xfrm>
          <a:off x="6892508" y="3142826"/>
          <a:ext cx="1234499" cy="671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a:t>Analysis</a:t>
          </a:r>
          <a:endParaRPr lang="en-GH" sz="2000" kern="1200" dirty="0"/>
        </a:p>
      </dsp:txBody>
      <dsp:txXfrm>
        <a:off x="6892508" y="3142826"/>
        <a:ext cx="1234499" cy="671914"/>
      </dsp:txXfrm>
    </dsp:sp>
    <dsp:sp modelId="{6C6447C3-0700-4237-BA3A-DB2E813BF4D4}">
      <dsp:nvSpPr>
        <dsp:cNvPr id="0" name=""/>
        <dsp:cNvSpPr/>
      </dsp:nvSpPr>
      <dsp:spPr>
        <a:xfrm>
          <a:off x="6589014" y="2709333"/>
          <a:ext cx="35705" cy="2167466"/>
        </a:xfrm>
        <a:prstGeom prst="rect">
          <a:avLst/>
        </a:prstGeom>
        <a:solidFill>
          <a:schemeClr val="accent1">
            <a:shade val="8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98C738D8-72E4-4E42-92E2-BE1CE86C8071}">
      <dsp:nvSpPr>
        <dsp:cNvPr id="0" name=""/>
        <dsp:cNvSpPr/>
      </dsp:nvSpPr>
      <dsp:spPr>
        <a:xfrm>
          <a:off x="5611143" y="2616500"/>
          <a:ext cx="185666" cy="185666"/>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88DD86C-BCCE-43CE-BEA0-9613F1D4798A}">
      <dsp:nvSpPr>
        <dsp:cNvPr id="0" name=""/>
        <dsp:cNvSpPr/>
      </dsp:nvSpPr>
      <dsp:spPr>
        <a:xfrm>
          <a:off x="6514034" y="2616500"/>
          <a:ext cx="185666" cy="185666"/>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24/layout/BulletTimeline">
  <dgm:title val=""/>
  <dgm:desc val=""/>
  <dgm:catLst>
    <dgm:cat type="process" pri="7450"/>
    <dgm:cat type="timeline" pri="100"/>
  </dgm:catLst>
  <dgm:sampData>
    <dgm:dataModel>
      <dgm:ptLst>
        <dgm:pt modelId="0" type="doc"/>
        <dgm:pt modelId="10">
          <dgm:prSet phldrT="Add an event" phldr="1">
            <dgm:extLst>
              <a:ext uri="{C7F2D5A4-9E3B-4C8F-A7D2-1F8E9B6C4A30}">
                <msodIdLoc:phldrLoc xmlns:msodIdLoc="http://schemas.microsoft.com/office/drawing/2026/04/diagram/placeholderloc" id="msoidsIgxTimelineAddEvent"/>
              </a:ext>
            </dgm:extLst>
          </dgm:prSet>
        </dgm:pt>
        <dgm:pt modelId="1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 modelId="20">
          <dgm:prSet phldrT="Add an event" phldr="1">
            <dgm:extLst>
              <a:ext uri="{C7F2D5A4-9E3B-4C8F-A7D2-1F8E9B6C4A30}">
                <msodIdLoc:phldrLoc xmlns:msodIdLoc="http://schemas.microsoft.com/office/drawing/2026/04/diagram/placeholderloc" id="msoidsIgxTimelineAddEvent"/>
              </a:ext>
            </dgm:extLst>
          </dgm:prSet>
        </dgm:pt>
        <dgm:pt modelId="2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 modelId="30">
          <dgm:prSet phldrT="Add an event" phldr="1">
            <dgm:extLst>
              <a:ext uri="{C7F2D5A4-9E3B-4C8F-A7D2-1F8E9B6C4A30}">
                <msodIdLoc:phldrLoc xmlns:msodIdLoc="http://schemas.microsoft.com/office/drawing/2026/04/diagram/placeholderloc" id="msoidsIgxTimelineAddEvent"/>
              </a:ext>
            </dgm:extLst>
          </dgm:prSet>
        </dgm:pt>
        <dgm:pt modelId="3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 modelId="40">
          <dgm:prSet phldrT="Add an event" phldr="1">
            <dgm:extLst>
              <a:ext uri="{C7F2D5A4-9E3B-4C8F-A7D2-1F8E9B6C4A30}">
                <msodIdLoc:phldrLoc xmlns:msodIdLoc="http://schemas.microsoft.com/office/drawing/2026/04/diagram/placeholderloc" id="msoidsIgxTimelineAddEvent"/>
              </a:ext>
            </dgm:extLst>
          </dgm:prSet>
        </dgm:pt>
        <dgm:pt modelId="4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 modelId="50">
          <dgm:prSet phldrT="Add an event" phldr="1">
            <dgm:extLst>
              <a:ext uri="{C7F2D5A4-9E3B-4C8F-A7D2-1F8E9B6C4A30}">
                <msodIdLoc:phldrLoc xmlns:msodIdLoc="http://schemas.microsoft.com/office/drawing/2026/04/diagram/placeholderloc" id="msoidsIgxTimelineAddEvent"/>
              </a:ext>
            </dgm:extLst>
          </dgm:prSet>
        </dgm:pt>
        <dgm:pt modelId="5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lnNode1">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lnNode1">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4130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65FE9-87E7-412A-60F6-1976CB41DF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B443A-0940-5663-7846-1657C15C3B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4FC05-D96C-37C8-A830-BEA5D05B53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294D96-CA6B-AF74-1F80-7DDD06B00785}"/>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84200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C8DCA-43DF-A974-C433-721B99C406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A0666-503A-7743-5F6F-F0B61D1DD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A4AA48-ACD6-0EE2-6ED9-0A77D042C5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30B60B-8417-2770-8005-42708699FFD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63137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09596-8EB3-4412-8E3E-ABED8BE79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EBEB5-253A-AF53-A957-2DB8A341AB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BCA6C-807C-CB45-459A-B53BCF0A31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8F0332-3831-EE88-F409-9AA35CC5D4B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131871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6F808-536A-705A-5244-7EECA4CBB8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1C636D-873B-9D7C-C7A2-7A7D953CE2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8D9F2C-FD99-B4A2-FCA9-47BBF159C2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3670FC-D87E-3778-1ED4-740F4E35349E}"/>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716493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6.jpg"/><Relationship Id="rId7" Type="http://schemas.openxmlformats.org/officeDocument/2006/relationships/hyperlink" Target="https://creativecommons.org/licenses/by/3.0/"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www.frontiersin.org/articles/10.3389/fmed.2020.00251/full" TargetMode="External"/><Relationship Id="rId5" Type="http://schemas.openxmlformats.org/officeDocument/2006/relationships/image" Target="../media/image7.jpg"/><Relationship Id="rId4" Type="http://schemas.openxmlformats.org/officeDocument/2006/relationships/hyperlink" Target="https://www.frontiersin.org/articles/10.3389/fneur.2017.00499/full"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B3A5C"/>
          </a:solidFill>
          <a:ln/>
        </p:spPr>
        <p:txBody>
          <a:bodyPr/>
          <a:lstStyle/>
          <a:p>
            <a:endParaRPr lang="en-GH"/>
          </a:p>
        </p:txBody>
      </p:sp>
      <p:sp>
        <p:nvSpPr>
          <p:cNvPr id="3" name="Shape 1"/>
          <p:cNvSpPr/>
          <p:nvPr/>
        </p:nvSpPr>
        <p:spPr>
          <a:xfrm>
            <a:off x="-1280160" y="4572000"/>
            <a:ext cx="3291840" cy="3291840"/>
          </a:xfrm>
          <a:prstGeom prst="ellipse">
            <a:avLst/>
          </a:prstGeom>
          <a:solidFill>
            <a:srgbClr val="1B3A5C"/>
          </a:solidFill>
          <a:ln/>
        </p:spPr>
        <p:txBody>
          <a:bodyPr/>
          <a:lstStyle/>
          <a:p>
            <a:endParaRPr lang="en-GH"/>
          </a:p>
        </p:txBody>
      </p:sp>
      <p:graphicFrame>
        <p:nvGraphicFramePr>
          <p:cNvPr id="4" name="Chart 0"/>
          <p:cNvGraphicFramePr/>
          <p:nvPr/>
        </p:nvGraphicFramePr>
        <p:xfrm>
          <a:off x="822960" y="4160520"/>
          <a:ext cx="5486400" cy="13716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822960" y="5577840"/>
            <a:ext cx="2743200" cy="274320"/>
          </a:xfrm>
          <a:prstGeom prst="rect">
            <a:avLst/>
          </a:prstGeom>
          <a:noFill/>
          <a:ln/>
        </p:spPr>
        <p:txBody>
          <a:bodyPr wrap="square" lIns="0" tIns="0" rIns="0" bIns="0" rtlCol="0" anchor="ctr"/>
          <a:lstStyle/>
          <a:p>
            <a:pPr marL="0" indent="0">
              <a:buNone/>
            </a:pPr>
            <a:r>
              <a:rPr lang="en-US" sz="1050" i="1" dirty="0">
                <a:solidFill>
                  <a:srgbClr val="5B6B7A"/>
                </a:solidFill>
                <a:latin typeface="Calibri" pitchFamily="34" charset="0"/>
                <a:ea typeface="Calibri" pitchFamily="34" charset="-122"/>
                <a:cs typeface="Calibri" pitchFamily="34" charset="-120"/>
              </a:rPr>
              <a:t>0 Hz</a:t>
            </a:r>
            <a:endParaRPr lang="en-US" sz="1050" dirty="0"/>
          </a:p>
        </p:txBody>
      </p:sp>
      <p:sp>
        <p:nvSpPr>
          <p:cNvPr id="6" name="Text 3"/>
          <p:cNvSpPr/>
          <p:nvPr/>
        </p:nvSpPr>
        <p:spPr>
          <a:xfrm>
            <a:off x="3566160" y="5577840"/>
            <a:ext cx="2743200" cy="274320"/>
          </a:xfrm>
          <a:prstGeom prst="rect">
            <a:avLst/>
          </a:prstGeom>
          <a:noFill/>
          <a:ln/>
        </p:spPr>
        <p:txBody>
          <a:bodyPr wrap="square" lIns="0" tIns="0" rIns="0" bIns="0" rtlCol="0" anchor="ctr"/>
          <a:lstStyle/>
          <a:p>
            <a:pPr marL="0" indent="0" algn="r">
              <a:buNone/>
            </a:pPr>
            <a:r>
              <a:rPr lang="en-US" sz="1050" i="1" dirty="0">
                <a:solidFill>
                  <a:srgbClr val="5B6B7A"/>
                </a:solidFill>
                <a:latin typeface="Calibri" pitchFamily="34" charset="0"/>
                <a:ea typeface="Calibri" pitchFamily="34" charset="-122"/>
                <a:cs typeface="Calibri" pitchFamily="34" charset="-120"/>
              </a:rPr>
              <a:t>100 Hz</a:t>
            </a:r>
            <a:endParaRPr lang="en-US" sz="1050" dirty="0"/>
          </a:p>
        </p:txBody>
      </p:sp>
      <p:sp>
        <p:nvSpPr>
          <p:cNvPr id="7" name="Text 4"/>
          <p:cNvSpPr/>
          <p:nvPr/>
        </p:nvSpPr>
        <p:spPr>
          <a:xfrm>
            <a:off x="822960" y="960120"/>
            <a:ext cx="4572000" cy="320040"/>
          </a:xfrm>
          <a:prstGeom prst="rect">
            <a:avLst/>
          </a:prstGeom>
          <a:noFill/>
          <a:ln/>
        </p:spPr>
        <p:txBody>
          <a:bodyPr wrap="square" rtlCol="0" anchor="ctr"/>
          <a:lstStyle/>
          <a:p>
            <a:pPr marL="0" indent="0">
              <a:buNone/>
            </a:pPr>
            <a:r>
              <a:rPr lang="en-US" sz="1200" b="1" kern="0" spc="200" dirty="0">
                <a:solidFill>
                  <a:srgbClr val="F2A541"/>
                </a:solidFill>
                <a:latin typeface="Calibri" pitchFamily="34" charset="0"/>
                <a:ea typeface="Calibri" pitchFamily="34" charset="-122"/>
                <a:cs typeface="Calibri" pitchFamily="34" charset="-120"/>
              </a:rPr>
              <a:t>SESSION 6 · 90 MIN · TA ANITA</a:t>
            </a:r>
            <a:endParaRPr lang="en-US" sz="1200" dirty="0"/>
          </a:p>
        </p:txBody>
      </p:sp>
      <p:sp>
        <p:nvSpPr>
          <p:cNvPr id="8" name="Text 5"/>
          <p:cNvSpPr/>
          <p:nvPr/>
        </p:nvSpPr>
        <p:spPr>
          <a:xfrm>
            <a:off x="822960" y="1371600"/>
            <a:ext cx="10515600" cy="118872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Preprocessing I</a:t>
            </a:r>
            <a:endParaRPr lang="en-US" sz="4600" dirty="0"/>
          </a:p>
        </p:txBody>
      </p:sp>
      <p:sp>
        <p:nvSpPr>
          <p:cNvPr id="9" name="Text 6"/>
          <p:cNvSpPr/>
          <p:nvPr/>
        </p:nvSpPr>
        <p:spPr>
          <a:xfrm>
            <a:off x="822960" y="2331720"/>
            <a:ext cx="10515600" cy="640080"/>
          </a:xfrm>
          <a:prstGeom prst="rect">
            <a:avLst/>
          </a:prstGeom>
          <a:noFill/>
          <a:ln/>
        </p:spPr>
        <p:txBody>
          <a:bodyPr wrap="square" lIns="0" tIns="0" rIns="0" bIns="0" rtlCol="0" anchor="ctr"/>
          <a:lstStyle/>
          <a:p>
            <a:pPr marL="0" indent="0">
              <a:buNone/>
            </a:pPr>
            <a:r>
              <a:rPr lang="en-US" sz="2200" dirty="0">
                <a:solidFill>
                  <a:srgbClr val="CADCFC"/>
                </a:solidFill>
                <a:latin typeface="Calibri" pitchFamily="34" charset="0"/>
                <a:ea typeface="Calibri" pitchFamily="34" charset="-122"/>
                <a:cs typeface="Calibri" pitchFamily="34" charset="-120"/>
              </a:rPr>
              <a:t>Filtering and Re-referencing</a:t>
            </a:r>
            <a:endParaRPr lang="en-US" sz="2200" dirty="0"/>
          </a:p>
        </p:txBody>
      </p:sp>
      <p:sp>
        <p:nvSpPr>
          <p:cNvPr id="10" name="Text 7"/>
          <p:cNvSpPr/>
          <p:nvPr/>
        </p:nvSpPr>
        <p:spPr>
          <a:xfrm>
            <a:off x="822960" y="5989320"/>
            <a:ext cx="10058400" cy="365760"/>
          </a:xfrm>
          <a:prstGeom prst="rect">
            <a:avLst/>
          </a:prstGeom>
          <a:noFill/>
          <a:ln/>
        </p:spPr>
        <p:txBody>
          <a:bodyPr wrap="square" lIns="0" tIns="0" rIns="0" bIns="0" rtlCol="0" anchor="ctr"/>
          <a:lstStyle/>
          <a:p>
            <a:pPr marL="0" indent="0">
              <a:buNone/>
            </a:pPr>
            <a:r>
              <a:rPr lang="en-US" sz="1300" dirty="0">
                <a:solidFill>
                  <a:srgbClr val="AFC4D6"/>
                </a:solidFill>
                <a:latin typeface="Calibri" pitchFamily="34" charset="0"/>
                <a:ea typeface="Calibri" pitchFamily="34" charset="-122"/>
                <a:cs typeface="Calibri" pitchFamily="34" charset="-120"/>
              </a:rPr>
              <a:t>Why we filter  ·  Highpass, lowpass, bandpass &amp; notch  ·  Reference schemes  ·  Live coding in MNE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749808"/>
            <a:ext cx="3413760" cy="640080"/>
          </a:xfrm>
          <a:prstGeom prst="rect">
            <a:avLst/>
          </a:prstGeom>
          <a:noFill/>
          <a:ln/>
        </p:spPr>
        <p:txBody>
          <a:bodyPr wrap="square" lIns="0" tIns="0" rIns="0" bIns="0" rtlCol="0" anchor="ctr"/>
          <a:lstStyle/>
          <a:p>
            <a:pPr marL="0" indent="0">
              <a:buNone/>
            </a:pPr>
            <a:r>
              <a:rPr lang="en-US" sz="3000" b="1" dirty="0">
                <a:solidFill>
                  <a:srgbClr val="1B2733"/>
                </a:solidFill>
                <a:latin typeface="Cambria" pitchFamily="34" charset="0"/>
                <a:ea typeface="Cambria" pitchFamily="34" charset="-122"/>
                <a:cs typeface="Cambria" pitchFamily="34" charset="-120"/>
              </a:rPr>
              <a:t>From last session:</a:t>
            </a:r>
            <a:endParaRPr lang="en-US" sz="3000" dirty="0"/>
          </a:p>
        </p:txBody>
      </p:sp>
      <p:sp>
        <p:nvSpPr>
          <p:cNvPr id="20" name="Text 15"/>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sp>
        <p:nvSpPr>
          <p:cNvPr id="22" name="Text 4">
            <a:extLst>
              <a:ext uri="{FF2B5EF4-FFF2-40B4-BE49-F238E27FC236}">
                <a16:creationId xmlns:a16="http://schemas.microsoft.com/office/drawing/2014/main" id="{2ED61800-3D6A-FCAF-D25B-86DF2158B0B2}"/>
              </a:ext>
            </a:extLst>
          </p:cNvPr>
          <p:cNvSpPr/>
          <p:nvPr/>
        </p:nvSpPr>
        <p:spPr>
          <a:xfrm>
            <a:off x="1965960" y="2084832"/>
            <a:ext cx="9052560" cy="411480"/>
          </a:xfrm>
          <a:prstGeom prst="rect">
            <a:avLst/>
          </a:prstGeom>
          <a:noFill/>
          <a:ln/>
        </p:spPr>
        <p:txBody>
          <a:bodyPr wrap="square" lIns="0" tIns="0" rIns="0" bIns="0" rtlCol="0" anchor="ctr"/>
          <a:lstStyle/>
          <a:p>
            <a:pPr marL="0" indent="0">
              <a:buNone/>
            </a:pPr>
            <a:r>
              <a:rPr lang="en-US" sz="2800" dirty="0">
                <a:solidFill>
                  <a:srgbClr val="1B2733"/>
                </a:solidFill>
                <a:latin typeface="Cambria" pitchFamily="34" charset="0"/>
                <a:ea typeface="Cambria" pitchFamily="34" charset="-122"/>
                <a:cs typeface="Cambria" pitchFamily="34" charset="-120"/>
              </a:rPr>
              <a:t>We learned about how to identify bad EEG signals</a:t>
            </a:r>
            <a:endParaRPr lang="en-US" sz="2800" dirty="0"/>
          </a:p>
        </p:txBody>
      </p:sp>
      <p:sp>
        <p:nvSpPr>
          <p:cNvPr id="24" name="Text 1">
            <a:extLst>
              <a:ext uri="{FF2B5EF4-FFF2-40B4-BE49-F238E27FC236}">
                <a16:creationId xmlns:a16="http://schemas.microsoft.com/office/drawing/2014/main" id="{4B96F8DE-EED3-5F81-F653-D3873E8A77F9}"/>
              </a:ext>
            </a:extLst>
          </p:cNvPr>
          <p:cNvSpPr/>
          <p:nvPr/>
        </p:nvSpPr>
        <p:spPr>
          <a:xfrm>
            <a:off x="548640" y="3543300"/>
            <a:ext cx="3413760" cy="640080"/>
          </a:xfrm>
          <a:prstGeom prst="rect">
            <a:avLst/>
          </a:prstGeom>
          <a:noFill/>
          <a:ln/>
        </p:spPr>
        <p:txBody>
          <a:bodyPr wrap="square" lIns="0" tIns="0" rIns="0" bIns="0" rtlCol="0" anchor="ctr"/>
          <a:lstStyle/>
          <a:p>
            <a:pPr marL="0" indent="0">
              <a:buNone/>
            </a:pPr>
            <a:r>
              <a:rPr lang="en-US" sz="3000" b="1" dirty="0">
                <a:solidFill>
                  <a:srgbClr val="1B2733"/>
                </a:solidFill>
                <a:latin typeface="Cambria" pitchFamily="34" charset="0"/>
                <a:ea typeface="Cambria" pitchFamily="34" charset="-122"/>
                <a:cs typeface="Cambria" pitchFamily="34" charset="-120"/>
              </a:rPr>
              <a:t>Now:</a:t>
            </a:r>
            <a:endParaRPr lang="en-US" sz="3000" dirty="0"/>
          </a:p>
        </p:txBody>
      </p:sp>
      <p:sp>
        <p:nvSpPr>
          <p:cNvPr id="26" name="Text 4">
            <a:extLst>
              <a:ext uri="{FF2B5EF4-FFF2-40B4-BE49-F238E27FC236}">
                <a16:creationId xmlns:a16="http://schemas.microsoft.com/office/drawing/2014/main" id="{34AAAF79-A837-92E6-005D-E030A6B82C8A}"/>
              </a:ext>
            </a:extLst>
          </p:cNvPr>
          <p:cNvSpPr/>
          <p:nvPr/>
        </p:nvSpPr>
        <p:spPr>
          <a:xfrm>
            <a:off x="1965960" y="4649723"/>
            <a:ext cx="9052560" cy="916887"/>
          </a:xfrm>
          <a:prstGeom prst="rect">
            <a:avLst/>
          </a:prstGeom>
          <a:noFill/>
          <a:ln/>
        </p:spPr>
        <p:txBody>
          <a:bodyPr wrap="square" lIns="0" tIns="0" rIns="0" bIns="0" rtlCol="0" anchor="ctr"/>
          <a:lstStyle/>
          <a:p>
            <a:pPr marL="0" indent="0">
              <a:buNone/>
            </a:pPr>
            <a:r>
              <a:rPr lang="en-US" sz="2800" dirty="0">
                <a:solidFill>
                  <a:srgbClr val="1B2733"/>
                </a:solidFill>
                <a:latin typeface="Cambria" pitchFamily="34" charset="0"/>
                <a:ea typeface="Cambria" pitchFamily="34" charset="-122"/>
                <a:cs typeface="Cambria" pitchFamily="34" charset="-120"/>
              </a:rPr>
              <a:t>How can we remove unwanted signals based on frequency while preserving the brain activity we care about?</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0990196-F46E-F509-B11D-977F76A8001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1D3F91-2D2C-3AC6-2EA3-33B534554A94}"/>
              </a:ext>
            </a:extLst>
          </p:cNvPr>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LEARNING GOALS</a:t>
            </a:r>
            <a:endParaRPr lang="en-US" sz="1200" dirty="0"/>
          </a:p>
        </p:txBody>
      </p:sp>
      <p:sp>
        <p:nvSpPr>
          <p:cNvPr id="3" name="Text 1">
            <a:extLst>
              <a:ext uri="{FF2B5EF4-FFF2-40B4-BE49-F238E27FC236}">
                <a16:creationId xmlns:a16="http://schemas.microsoft.com/office/drawing/2014/main" id="{99DC8C04-7EEB-BFDB-F0CD-94EE34B568CC}"/>
              </a:ext>
            </a:extLst>
          </p:cNvPr>
          <p:cNvSpPr/>
          <p:nvPr/>
        </p:nvSpPr>
        <p:spPr>
          <a:xfrm>
            <a:off x="548640" y="749808"/>
            <a:ext cx="10515600" cy="640080"/>
          </a:xfrm>
          <a:prstGeom prst="rect">
            <a:avLst/>
          </a:prstGeom>
          <a:noFill/>
          <a:ln/>
        </p:spPr>
        <p:txBody>
          <a:bodyPr wrap="square" lIns="0" tIns="0" rIns="0" bIns="0" rtlCol="0" anchor="ctr"/>
          <a:lstStyle/>
          <a:p>
            <a:pPr marL="0" indent="0">
              <a:buNone/>
            </a:pPr>
            <a:r>
              <a:rPr lang="en-US" sz="3000" b="1" dirty="0">
                <a:solidFill>
                  <a:srgbClr val="1B2733"/>
                </a:solidFill>
                <a:latin typeface="Cambria" pitchFamily="34" charset="0"/>
                <a:ea typeface="Cambria" pitchFamily="34" charset="-122"/>
                <a:cs typeface="Cambria" pitchFamily="34" charset="-120"/>
              </a:rPr>
              <a:t>What you should walk away with</a:t>
            </a:r>
            <a:endParaRPr lang="en-US" sz="3000" dirty="0"/>
          </a:p>
        </p:txBody>
      </p:sp>
      <p:sp>
        <p:nvSpPr>
          <p:cNvPr id="4" name="Shape 2">
            <a:extLst>
              <a:ext uri="{FF2B5EF4-FFF2-40B4-BE49-F238E27FC236}">
                <a16:creationId xmlns:a16="http://schemas.microsoft.com/office/drawing/2014/main" id="{4C8EF44F-B5CD-A0C4-F48C-D90E6C8DED42}"/>
              </a:ext>
            </a:extLst>
          </p:cNvPr>
          <p:cNvSpPr/>
          <p:nvPr/>
        </p:nvSpPr>
        <p:spPr>
          <a:xfrm>
            <a:off x="548640" y="1920240"/>
            <a:ext cx="11064240" cy="1417320"/>
          </a:xfrm>
          <a:prstGeom prst="roundRect">
            <a:avLst>
              <a:gd name="adj" fmla="val 6452"/>
            </a:avLst>
          </a:prstGeom>
          <a:solidFill>
            <a:srgbClr val="E7F2F8"/>
          </a:solidFill>
          <a:ln/>
        </p:spPr>
        <p:txBody>
          <a:bodyPr/>
          <a:lstStyle/>
          <a:p>
            <a:endParaRPr lang="en-GH"/>
          </a:p>
        </p:txBody>
      </p:sp>
      <p:sp>
        <p:nvSpPr>
          <p:cNvPr id="5" name="Shape 3">
            <a:extLst>
              <a:ext uri="{FF2B5EF4-FFF2-40B4-BE49-F238E27FC236}">
                <a16:creationId xmlns:a16="http://schemas.microsoft.com/office/drawing/2014/main" id="{5E9E9D71-729F-2117-431A-B80376801A31}"/>
              </a:ext>
            </a:extLst>
          </p:cNvPr>
          <p:cNvSpPr/>
          <p:nvPr/>
        </p:nvSpPr>
        <p:spPr>
          <a:xfrm>
            <a:off x="868680" y="2217420"/>
            <a:ext cx="822960" cy="822960"/>
          </a:xfrm>
          <a:prstGeom prst="ellipse">
            <a:avLst/>
          </a:prstGeom>
          <a:solidFill>
            <a:srgbClr val="1C7293"/>
          </a:solidFill>
          <a:ln/>
        </p:spPr>
        <p:txBody>
          <a:bodyPr/>
          <a:lstStyle/>
          <a:p>
            <a:endParaRPr lang="en-GH"/>
          </a:p>
        </p:txBody>
      </p:sp>
      <p:pic>
        <p:nvPicPr>
          <p:cNvPr id="6" name="Image 0" descr="/home/claude/icons/filter.png">
            <a:extLst>
              <a:ext uri="{FF2B5EF4-FFF2-40B4-BE49-F238E27FC236}">
                <a16:creationId xmlns:a16="http://schemas.microsoft.com/office/drawing/2014/main" id="{49A8BA00-508A-A8E7-1F00-85AFF55DAE2F}"/>
              </a:ext>
            </a:extLst>
          </p:cNvPr>
          <p:cNvPicPr>
            <a:picLocks noChangeAspect="1"/>
          </p:cNvPicPr>
          <p:nvPr/>
        </p:nvPicPr>
        <p:blipFill>
          <a:blip r:embed="rId3"/>
          <a:stretch>
            <a:fillRect/>
          </a:stretch>
        </p:blipFill>
        <p:spPr>
          <a:xfrm>
            <a:off x="1066190" y="2414930"/>
            <a:ext cx="427939" cy="427939"/>
          </a:xfrm>
          <a:prstGeom prst="rect">
            <a:avLst/>
          </a:prstGeom>
        </p:spPr>
      </p:pic>
      <p:sp>
        <p:nvSpPr>
          <p:cNvPr id="7" name="Text 4">
            <a:extLst>
              <a:ext uri="{FF2B5EF4-FFF2-40B4-BE49-F238E27FC236}">
                <a16:creationId xmlns:a16="http://schemas.microsoft.com/office/drawing/2014/main" id="{54C9F714-F0DD-7A35-C286-5CEADC13C12D}"/>
              </a:ext>
            </a:extLst>
          </p:cNvPr>
          <p:cNvSpPr/>
          <p:nvPr/>
        </p:nvSpPr>
        <p:spPr>
          <a:xfrm>
            <a:off x="1965960" y="2084832"/>
            <a:ext cx="9052560" cy="411480"/>
          </a:xfrm>
          <a:prstGeom prst="rect">
            <a:avLst/>
          </a:prstGeom>
          <a:noFill/>
          <a:ln/>
        </p:spPr>
        <p:txBody>
          <a:bodyPr wrap="square" lIns="0" tIns="0" rIns="0" bIns="0" rtlCol="0" anchor="ctr"/>
          <a:lstStyle/>
          <a:p>
            <a:pPr marL="0" indent="0">
              <a:buNone/>
            </a:pPr>
            <a:r>
              <a:rPr lang="en-US" sz="1800" b="1" dirty="0">
                <a:solidFill>
                  <a:srgbClr val="1B2733"/>
                </a:solidFill>
                <a:latin typeface="Cambria" pitchFamily="34" charset="0"/>
                <a:ea typeface="Cambria" pitchFamily="34" charset="-122"/>
                <a:cs typeface="Cambria" pitchFamily="34" charset="-120"/>
              </a:rPr>
              <a:t>Explain filter, purpose &amp; types</a:t>
            </a:r>
            <a:endParaRPr lang="en-US" sz="1800" dirty="0"/>
          </a:p>
        </p:txBody>
      </p:sp>
      <p:sp>
        <p:nvSpPr>
          <p:cNvPr id="8" name="Text 5">
            <a:extLst>
              <a:ext uri="{FF2B5EF4-FFF2-40B4-BE49-F238E27FC236}">
                <a16:creationId xmlns:a16="http://schemas.microsoft.com/office/drawing/2014/main" id="{F864F449-FC21-DA36-58F9-8382F2F3F599}"/>
              </a:ext>
            </a:extLst>
          </p:cNvPr>
          <p:cNvSpPr/>
          <p:nvPr/>
        </p:nvSpPr>
        <p:spPr>
          <a:xfrm>
            <a:off x="1965960" y="2523744"/>
            <a:ext cx="9052560" cy="685800"/>
          </a:xfrm>
          <a:prstGeom prst="rect">
            <a:avLst/>
          </a:prstGeom>
          <a:noFill/>
          <a:ln/>
        </p:spPr>
        <p:txBody>
          <a:bodyPr wrap="square" lIns="0" tIns="0" rIns="0" bIns="0" rtlCol="0" anchor="ctr"/>
          <a:lstStyle/>
          <a:p>
            <a:pPr marL="0" indent="0">
              <a:buNone/>
            </a:pPr>
            <a:r>
              <a:rPr lang="en-US" sz="1350" dirty="0">
                <a:solidFill>
                  <a:srgbClr val="5B6B7A"/>
                </a:solidFill>
                <a:latin typeface="Calibri" pitchFamily="34" charset="0"/>
                <a:ea typeface="Calibri" pitchFamily="34" charset="-122"/>
                <a:cs typeface="Calibri" pitchFamily="34" charset="-120"/>
              </a:rPr>
              <a:t>Describe why EEG is filtered and the highpass, lowpass, bandpass, and notch options available.</a:t>
            </a:r>
            <a:endParaRPr lang="en-US" sz="1350" dirty="0"/>
          </a:p>
        </p:txBody>
      </p:sp>
      <p:sp>
        <p:nvSpPr>
          <p:cNvPr id="9" name="Shape 6">
            <a:extLst>
              <a:ext uri="{FF2B5EF4-FFF2-40B4-BE49-F238E27FC236}">
                <a16:creationId xmlns:a16="http://schemas.microsoft.com/office/drawing/2014/main" id="{4567B058-1569-8883-6AFF-F612A30F610C}"/>
              </a:ext>
            </a:extLst>
          </p:cNvPr>
          <p:cNvSpPr/>
          <p:nvPr/>
        </p:nvSpPr>
        <p:spPr>
          <a:xfrm>
            <a:off x="548640" y="3657600"/>
            <a:ext cx="11064240" cy="1417320"/>
          </a:xfrm>
          <a:prstGeom prst="roundRect">
            <a:avLst>
              <a:gd name="adj" fmla="val 6452"/>
            </a:avLst>
          </a:prstGeom>
          <a:solidFill>
            <a:srgbClr val="E7F2F8"/>
          </a:solidFill>
          <a:ln/>
        </p:spPr>
        <p:txBody>
          <a:bodyPr/>
          <a:lstStyle/>
          <a:p>
            <a:endParaRPr lang="en-GH"/>
          </a:p>
        </p:txBody>
      </p:sp>
      <p:sp>
        <p:nvSpPr>
          <p:cNvPr id="10" name="Shape 7">
            <a:extLst>
              <a:ext uri="{FF2B5EF4-FFF2-40B4-BE49-F238E27FC236}">
                <a16:creationId xmlns:a16="http://schemas.microsoft.com/office/drawing/2014/main" id="{F226262E-7C61-BBE7-F19D-3FA00FEFD869}"/>
              </a:ext>
            </a:extLst>
          </p:cNvPr>
          <p:cNvSpPr/>
          <p:nvPr/>
        </p:nvSpPr>
        <p:spPr>
          <a:xfrm>
            <a:off x="868680" y="3954780"/>
            <a:ext cx="822960" cy="822960"/>
          </a:xfrm>
          <a:prstGeom prst="ellipse">
            <a:avLst/>
          </a:prstGeom>
          <a:solidFill>
            <a:srgbClr val="1C7293"/>
          </a:solidFill>
          <a:ln/>
        </p:spPr>
        <p:txBody>
          <a:bodyPr/>
          <a:lstStyle/>
          <a:p>
            <a:endParaRPr lang="en-GH"/>
          </a:p>
        </p:txBody>
      </p:sp>
      <p:pic>
        <p:nvPicPr>
          <p:cNvPr id="11" name="Image 1" descr="/home/claude/icons/code.png">
            <a:extLst>
              <a:ext uri="{FF2B5EF4-FFF2-40B4-BE49-F238E27FC236}">
                <a16:creationId xmlns:a16="http://schemas.microsoft.com/office/drawing/2014/main" id="{AAFB4E3D-C435-1B9A-2F1B-1AD523A1DFD5}"/>
              </a:ext>
            </a:extLst>
          </p:cNvPr>
          <p:cNvPicPr>
            <a:picLocks noChangeAspect="1"/>
          </p:cNvPicPr>
          <p:nvPr/>
        </p:nvPicPr>
        <p:blipFill>
          <a:blip r:embed="rId4"/>
          <a:stretch>
            <a:fillRect/>
          </a:stretch>
        </p:blipFill>
        <p:spPr>
          <a:xfrm>
            <a:off x="1066190" y="4152290"/>
            <a:ext cx="427939" cy="427939"/>
          </a:xfrm>
          <a:prstGeom prst="rect">
            <a:avLst/>
          </a:prstGeom>
        </p:spPr>
      </p:pic>
      <p:sp>
        <p:nvSpPr>
          <p:cNvPr id="12" name="Text 8">
            <a:extLst>
              <a:ext uri="{FF2B5EF4-FFF2-40B4-BE49-F238E27FC236}">
                <a16:creationId xmlns:a16="http://schemas.microsoft.com/office/drawing/2014/main" id="{EDC2F9EF-FD68-0004-8E21-AD0B0E9287E6}"/>
              </a:ext>
            </a:extLst>
          </p:cNvPr>
          <p:cNvSpPr/>
          <p:nvPr/>
        </p:nvSpPr>
        <p:spPr>
          <a:xfrm>
            <a:off x="1965960" y="3822192"/>
            <a:ext cx="9052560" cy="411480"/>
          </a:xfrm>
          <a:prstGeom prst="rect">
            <a:avLst/>
          </a:prstGeom>
          <a:noFill/>
          <a:ln/>
        </p:spPr>
        <p:txBody>
          <a:bodyPr wrap="square" lIns="0" tIns="0" rIns="0" bIns="0" rtlCol="0" anchor="ctr"/>
          <a:lstStyle/>
          <a:p>
            <a:pPr marL="0" indent="0">
              <a:buNone/>
            </a:pPr>
            <a:r>
              <a:rPr lang="en-US" sz="1800" b="1" dirty="0">
                <a:solidFill>
                  <a:srgbClr val="1B2733"/>
                </a:solidFill>
                <a:latin typeface="Cambria" pitchFamily="34" charset="0"/>
                <a:ea typeface="Cambria" pitchFamily="34" charset="-122"/>
                <a:cs typeface="Cambria" pitchFamily="34" charset="-120"/>
              </a:rPr>
              <a:t>Apply filters in MNE</a:t>
            </a:r>
            <a:endParaRPr lang="en-US" sz="1800" dirty="0"/>
          </a:p>
        </p:txBody>
      </p:sp>
      <p:sp>
        <p:nvSpPr>
          <p:cNvPr id="13" name="Text 9">
            <a:extLst>
              <a:ext uri="{FF2B5EF4-FFF2-40B4-BE49-F238E27FC236}">
                <a16:creationId xmlns:a16="http://schemas.microsoft.com/office/drawing/2014/main" id="{1A2E33CA-B731-5813-D9FC-EB0E1180932E}"/>
              </a:ext>
            </a:extLst>
          </p:cNvPr>
          <p:cNvSpPr/>
          <p:nvPr/>
        </p:nvSpPr>
        <p:spPr>
          <a:xfrm>
            <a:off x="1965960" y="4261104"/>
            <a:ext cx="9052560" cy="685800"/>
          </a:xfrm>
          <a:prstGeom prst="rect">
            <a:avLst/>
          </a:prstGeom>
          <a:noFill/>
          <a:ln/>
        </p:spPr>
        <p:txBody>
          <a:bodyPr wrap="square" lIns="0" tIns="0" rIns="0" bIns="0" rtlCol="0" anchor="ctr"/>
          <a:lstStyle/>
          <a:p>
            <a:pPr marL="0" indent="0">
              <a:buNone/>
            </a:pPr>
            <a:r>
              <a:rPr lang="en-US" sz="1350" dirty="0">
                <a:solidFill>
                  <a:srgbClr val="5B6B7A"/>
                </a:solidFill>
                <a:latin typeface="Calibri" pitchFamily="34" charset="0"/>
                <a:ea typeface="Calibri" pitchFamily="34" charset="-122"/>
                <a:cs typeface="Calibri" pitchFamily="34" charset="-120"/>
              </a:rPr>
              <a:t>Run bandpass, highpass, lowpass, and notch filtering on real data using MNE-Python.</a:t>
            </a:r>
            <a:endParaRPr lang="en-US" sz="1350" dirty="0"/>
          </a:p>
        </p:txBody>
      </p:sp>
      <p:sp>
        <p:nvSpPr>
          <p:cNvPr id="14" name="Shape 10">
            <a:extLst>
              <a:ext uri="{FF2B5EF4-FFF2-40B4-BE49-F238E27FC236}">
                <a16:creationId xmlns:a16="http://schemas.microsoft.com/office/drawing/2014/main" id="{6B03F92C-F883-717A-9BA5-E5CB4E838C70}"/>
              </a:ext>
            </a:extLst>
          </p:cNvPr>
          <p:cNvSpPr/>
          <p:nvPr/>
        </p:nvSpPr>
        <p:spPr>
          <a:xfrm>
            <a:off x="548640" y="5394960"/>
            <a:ext cx="11064240" cy="1417320"/>
          </a:xfrm>
          <a:prstGeom prst="roundRect">
            <a:avLst>
              <a:gd name="adj" fmla="val 6452"/>
            </a:avLst>
          </a:prstGeom>
          <a:solidFill>
            <a:srgbClr val="E7F2F8"/>
          </a:solidFill>
          <a:ln/>
        </p:spPr>
        <p:txBody>
          <a:bodyPr/>
          <a:lstStyle/>
          <a:p>
            <a:endParaRPr lang="en-GH"/>
          </a:p>
        </p:txBody>
      </p:sp>
      <p:sp>
        <p:nvSpPr>
          <p:cNvPr id="15" name="Shape 11">
            <a:extLst>
              <a:ext uri="{FF2B5EF4-FFF2-40B4-BE49-F238E27FC236}">
                <a16:creationId xmlns:a16="http://schemas.microsoft.com/office/drawing/2014/main" id="{A605FCD2-7F01-2369-5339-3AE55AF84527}"/>
              </a:ext>
            </a:extLst>
          </p:cNvPr>
          <p:cNvSpPr/>
          <p:nvPr/>
        </p:nvSpPr>
        <p:spPr>
          <a:xfrm>
            <a:off x="868680" y="5692140"/>
            <a:ext cx="822960" cy="822960"/>
          </a:xfrm>
          <a:prstGeom prst="ellipse">
            <a:avLst/>
          </a:prstGeom>
          <a:solidFill>
            <a:srgbClr val="1C7293"/>
          </a:solidFill>
          <a:ln/>
        </p:spPr>
        <p:txBody>
          <a:bodyPr/>
          <a:lstStyle/>
          <a:p>
            <a:endParaRPr lang="en-GH"/>
          </a:p>
        </p:txBody>
      </p:sp>
      <p:pic>
        <p:nvPicPr>
          <p:cNvPr id="16" name="Image 2" descr="/home/claude/icons/shuffle.png">
            <a:extLst>
              <a:ext uri="{FF2B5EF4-FFF2-40B4-BE49-F238E27FC236}">
                <a16:creationId xmlns:a16="http://schemas.microsoft.com/office/drawing/2014/main" id="{A7E599AF-7581-8E50-4892-852B1FD81369}"/>
              </a:ext>
            </a:extLst>
          </p:cNvPr>
          <p:cNvPicPr>
            <a:picLocks noChangeAspect="1"/>
          </p:cNvPicPr>
          <p:nvPr/>
        </p:nvPicPr>
        <p:blipFill>
          <a:blip r:embed="rId5"/>
          <a:stretch>
            <a:fillRect/>
          </a:stretch>
        </p:blipFill>
        <p:spPr>
          <a:xfrm>
            <a:off x="1066190" y="5889650"/>
            <a:ext cx="427939" cy="427939"/>
          </a:xfrm>
          <a:prstGeom prst="rect">
            <a:avLst/>
          </a:prstGeom>
        </p:spPr>
      </p:pic>
      <p:sp>
        <p:nvSpPr>
          <p:cNvPr id="17" name="Text 12">
            <a:extLst>
              <a:ext uri="{FF2B5EF4-FFF2-40B4-BE49-F238E27FC236}">
                <a16:creationId xmlns:a16="http://schemas.microsoft.com/office/drawing/2014/main" id="{B62B6C8D-EFCA-585C-2750-C4C391831F25}"/>
              </a:ext>
            </a:extLst>
          </p:cNvPr>
          <p:cNvSpPr/>
          <p:nvPr/>
        </p:nvSpPr>
        <p:spPr>
          <a:xfrm>
            <a:off x="1965960" y="5559552"/>
            <a:ext cx="9052560" cy="411480"/>
          </a:xfrm>
          <a:prstGeom prst="rect">
            <a:avLst/>
          </a:prstGeom>
          <a:noFill/>
          <a:ln/>
        </p:spPr>
        <p:txBody>
          <a:bodyPr wrap="square" lIns="0" tIns="0" rIns="0" bIns="0" rtlCol="0" anchor="ctr"/>
          <a:lstStyle/>
          <a:p>
            <a:pPr marL="0" indent="0">
              <a:buNone/>
            </a:pPr>
            <a:r>
              <a:rPr lang="en-US" sz="1800" b="1" dirty="0">
                <a:solidFill>
                  <a:srgbClr val="1B2733"/>
                </a:solidFill>
                <a:latin typeface="Cambria" pitchFamily="34" charset="0"/>
                <a:ea typeface="Cambria" pitchFamily="34" charset="-122"/>
                <a:cs typeface="Cambria" pitchFamily="34" charset="-120"/>
              </a:rPr>
              <a:t>Reason about referencing</a:t>
            </a:r>
            <a:endParaRPr lang="en-US" sz="1800" dirty="0"/>
          </a:p>
        </p:txBody>
      </p:sp>
      <p:sp>
        <p:nvSpPr>
          <p:cNvPr id="18" name="Text 13">
            <a:extLst>
              <a:ext uri="{FF2B5EF4-FFF2-40B4-BE49-F238E27FC236}">
                <a16:creationId xmlns:a16="http://schemas.microsoft.com/office/drawing/2014/main" id="{BE967DE6-46A0-C191-CB4E-5B59AAC0AB2A}"/>
              </a:ext>
            </a:extLst>
          </p:cNvPr>
          <p:cNvSpPr/>
          <p:nvPr/>
        </p:nvSpPr>
        <p:spPr>
          <a:xfrm>
            <a:off x="1965960" y="5998464"/>
            <a:ext cx="9052560" cy="685800"/>
          </a:xfrm>
          <a:prstGeom prst="rect">
            <a:avLst/>
          </a:prstGeom>
          <a:noFill/>
          <a:ln/>
        </p:spPr>
        <p:txBody>
          <a:bodyPr wrap="square" lIns="0" tIns="0" rIns="0" bIns="0" rtlCol="0" anchor="ctr"/>
          <a:lstStyle/>
          <a:p>
            <a:pPr marL="0" indent="0">
              <a:buNone/>
            </a:pPr>
            <a:r>
              <a:rPr lang="en-US" sz="1350" dirty="0">
                <a:solidFill>
                  <a:srgbClr val="5B6B7A"/>
                </a:solidFill>
                <a:latin typeface="Calibri" pitchFamily="34" charset="0"/>
                <a:ea typeface="Calibri" pitchFamily="34" charset="-122"/>
                <a:cs typeface="Calibri" pitchFamily="34" charset="-120"/>
              </a:rPr>
              <a:t>Compare referencing schemes and the trade-offs each one introduces.</a:t>
            </a:r>
            <a:endParaRPr lang="en-US" sz="1350" dirty="0"/>
          </a:p>
        </p:txBody>
      </p:sp>
      <p:sp>
        <p:nvSpPr>
          <p:cNvPr id="19" name="Text 14">
            <a:extLst>
              <a:ext uri="{FF2B5EF4-FFF2-40B4-BE49-F238E27FC236}">
                <a16:creationId xmlns:a16="http://schemas.microsoft.com/office/drawing/2014/main" id="{2E2928E5-E4B0-F447-7428-0C4BEBA53274}"/>
              </a:ext>
            </a:extLst>
          </p:cNvPr>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of the EEG Preprocessing Lab Series</a:t>
            </a:r>
            <a:endParaRPr lang="en-US" sz="1000" dirty="0"/>
          </a:p>
        </p:txBody>
      </p:sp>
      <p:sp>
        <p:nvSpPr>
          <p:cNvPr id="20" name="Text 15">
            <a:extLst>
              <a:ext uri="{FF2B5EF4-FFF2-40B4-BE49-F238E27FC236}">
                <a16:creationId xmlns:a16="http://schemas.microsoft.com/office/drawing/2014/main" id="{7E69118B-B412-014D-B863-E5AC4A920F59}"/>
              </a:ext>
            </a:extLst>
          </p:cNvPr>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spTree>
    <p:extLst>
      <p:ext uri="{BB962C8B-B14F-4D97-AF65-F5344CB8AC3E}">
        <p14:creationId xmlns:p14="http://schemas.microsoft.com/office/powerpoint/2010/main" val="2431665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TODAY’S ROADMAP</a:t>
            </a:r>
            <a:endParaRPr lang="en-US" sz="1200" dirty="0"/>
          </a:p>
        </p:txBody>
      </p:sp>
      <p:sp>
        <p:nvSpPr>
          <p:cNvPr id="4" name="Shape 2"/>
          <p:cNvSpPr/>
          <p:nvPr/>
        </p:nvSpPr>
        <p:spPr>
          <a:xfrm>
            <a:off x="548640" y="1783080"/>
            <a:ext cx="2606040" cy="4160520"/>
          </a:xfrm>
          <a:prstGeom prst="roundRect">
            <a:avLst>
              <a:gd name="adj" fmla="val 4211"/>
            </a:avLst>
          </a:prstGeom>
          <a:solidFill>
            <a:srgbClr val="1C7293"/>
          </a:solidFill>
          <a:ln/>
        </p:spPr>
        <p:txBody>
          <a:bodyPr/>
          <a:lstStyle/>
          <a:p>
            <a:endParaRPr lang="en-GH"/>
          </a:p>
        </p:txBody>
      </p:sp>
      <p:sp>
        <p:nvSpPr>
          <p:cNvPr id="5" name="Shape 3"/>
          <p:cNvSpPr/>
          <p:nvPr/>
        </p:nvSpPr>
        <p:spPr>
          <a:xfrm>
            <a:off x="822960" y="2057400"/>
            <a:ext cx="685800" cy="685800"/>
          </a:xfrm>
          <a:prstGeom prst="ellipse">
            <a:avLst/>
          </a:prstGeom>
          <a:solidFill>
            <a:srgbClr val="FFFFFF">
              <a:alpha val="25000"/>
            </a:srgbClr>
          </a:solidFill>
          <a:ln/>
        </p:spPr>
        <p:txBody>
          <a:bodyPr/>
          <a:lstStyle/>
          <a:p>
            <a:endParaRPr lang="en-GH"/>
          </a:p>
        </p:txBody>
      </p:sp>
      <p:pic>
        <p:nvPicPr>
          <p:cNvPr id="6" name="Image 0" descr="/home/claude/icons/sliders.png"/>
          <p:cNvPicPr>
            <a:picLocks noChangeAspect="1"/>
          </p:cNvPicPr>
          <p:nvPr/>
        </p:nvPicPr>
        <p:blipFill>
          <a:blip r:embed="rId3"/>
          <a:stretch>
            <a:fillRect/>
          </a:stretch>
        </p:blipFill>
        <p:spPr>
          <a:xfrm>
            <a:off x="987552" y="2221992"/>
            <a:ext cx="356616" cy="356616"/>
          </a:xfrm>
          <a:prstGeom prst="rect">
            <a:avLst/>
          </a:prstGeom>
        </p:spPr>
      </p:pic>
      <p:sp>
        <p:nvSpPr>
          <p:cNvPr id="7" name="Shape 4"/>
          <p:cNvSpPr/>
          <p:nvPr/>
        </p:nvSpPr>
        <p:spPr>
          <a:xfrm>
            <a:off x="822960" y="2880360"/>
            <a:ext cx="1051560" cy="310896"/>
          </a:xfrm>
          <a:prstGeom prst="roundRect">
            <a:avLst>
              <a:gd name="adj" fmla="val 23529"/>
            </a:avLst>
          </a:prstGeom>
          <a:solidFill>
            <a:srgbClr val="FFFFFF">
              <a:alpha val="25000"/>
            </a:srgbClr>
          </a:solidFill>
          <a:ln/>
        </p:spPr>
        <p:txBody>
          <a:bodyPr/>
          <a:lstStyle/>
          <a:p>
            <a:endParaRPr lang="en-GH"/>
          </a:p>
        </p:txBody>
      </p:sp>
      <p:sp>
        <p:nvSpPr>
          <p:cNvPr id="8" name="Text 5"/>
          <p:cNvSpPr/>
          <p:nvPr/>
        </p:nvSpPr>
        <p:spPr>
          <a:xfrm>
            <a:off x="822960" y="2880360"/>
            <a:ext cx="1051560" cy="310896"/>
          </a:xfrm>
          <a:prstGeom prst="rect">
            <a:avLst/>
          </a:prstGeom>
          <a:noFill/>
          <a:ln/>
        </p:spPr>
        <p:txBody>
          <a:bodyPr wrap="square" lIns="0" tIns="0" rIns="0" bIns="0" rtlCol="0" anchor="ctr"/>
          <a:lstStyle/>
          <a:p>
            <a:pPr marL="0" indent="0" algn="ctr">
              <a:buNone/>
            </a:pPr>
            <a:endParaRPr lang="en-US" sz="1100" dirty="0"/>
          </a:p>
        </p:txBody>
      </p:sp>
      <p:sp>
        <p:nvSpPr>
          <p:cNvPr id="9" name="Text 6"/>
          <p:cNvSpPr/>
          <p:nvPr/>
        </p:nvSpPr>
        <p:spPr>
          <a:xfrm>
            <a:off x="822960" y="3383280"/>
            <a:ext cx="2057400" cy="274320"/>
          </a:xfrm>
          <a:prstGeom prst="rect">
            <a:avLst/>
          </a:prstGeom>
          <a:noFill/>
          <a:ln/>
        </p:spPr>
        <p:txBody>
          <a:bodyPr wrap="square" lIns="0" tIns="0" rIns="0" bIns="0" rtlCol="0" anchor="ctr"/>
          <a:lstStyle/>
          <a:p>
            <a:pPr marL="0" indent="0">
              <a:buNone/>
            </a:pPr>
            <a:r>
              <a:rPr lang="en-US" sz="1150" b="1" kern="0" spc="200" dirty="0">
                <a:solidFill>
                  <a:srgbClr val="D9E6F2"/>
                </a:solidFill>
                <a:latin typeface="Calibri" pitchFamily="34" charset="0"/>
                <a:ea typeface="Calibri" pitchFamily="34" charset="-122"/>
                <a:cs typeface="Calibri" pitchFamily="34" charset="-120"/>
              </a:rPr>
              <a:t>Part A</a:t>
            </a:r>
            <a:endParaRPr lang="en-US" sz="1150" dirty="0"/>
          </a:p>
        </p:txBody>
      </p:sp>
      <p:sp>
        <p:nvSpPr>
          <p:cNvPr id="10" name="Text 7"/>
          <p:cNvSpPr/>
          <p:nvPr/>
        </p:nvSpPr>
        <p:spPr>
          <a:xfrm>
            <a:off x="822960" y="3657600"/>
            <a:ext cx="2057400" cy="7772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What and Why Filter?</a:t>
            </a:r>
            <a:endParaRPr lang="en-US" sz="1700" dirty="0"/>
          </a:p>
        </p:txBody>
      </p:sp>
      <p:sp>
        <p:nvSpPr>
          <p:cNvPr id="11" name="Text 8"/>
          <p:cNvSpPr/>
          <p:nvPr/>
        </p:nvSpPr>
        <p:spPr>
          <a:xfrm>
            <a:off x="822960" y="4389120"/>
            <a:ext cx="2057400" cy="1371600"/>
          </a:xfrm>
          <a:prstGeom prst="rect">
            <a:avLst/>
          </a:prstGeom>
          <a:noFill/>
          <a:ln/>
        </p:spPr>
        <p:txBody>
          <a:bodyPr wrap="square" lIns="0" tIns="0" rIns="0" bIns="0" rtlCol="0" anchor="ctr"/>
          <a:lstStyle/>
          <a:p>
            <a:pPr marL="0" indent="0">
              <a:buNone/>
            </a:pPr>
            <a:r>
              <a:rPr lang="en-US" sz="1150" dirty="0">
                <a:solidFill>
                  <a:srgbClr val="F0F5FA"/>
                </a:solidFill>
                <a:latin typeface="Calibri" pitchFamily="34" charset="0"/>
                <a:ea typeface="Calibri" pitchFamily="34" charset="-122"/>
                <a:cs typeface="Calibri" pitchFamily="34" charset="-120"/>
              </a:rPr>
              <a:t>Frequency ranges of interest and filter parameters.</a:t>
            </a:r>
            <a:endParaRPr lang="en-US" sz="1150" dirty="0"/>
          </a:p>
        </p:txBody>
      </p:sp>
      <p:sp>
        <p:nvSpPr>
          <p:cNvPr id="12" name="Shape 9"/>
          <p:cNvSpPr/>
          <p:nvPr/>
        </p:nvSpPr>
        <p:spPr>
          <a:xfrm>
            <a:off x="3383280" y="1783080"/>
            <a:ext cx="2606040" cy="4160520"/>
          </a:xfrm>
          <a:prstGeom prst="roundRect">
            <a:avLst>
              <a:gd name="adj" fmla="val 4211"/>
            </a:avLst>
          </a:prstGeom>
          <a:solidFill>
            <a:srgbClr val="1B3A5C"/>
          </a:solidFill>
          <a:ln/>
        </p:spPr>
        <p:txBody>
          <a:bodyPr/>
          <a:lstStyle/>
          <a:p>
            <a:endParaRPr lang="en-GH"/>
          </a:p>
        </p:txBody>
      </p:sp>
      <p:sp>
        <p:nvSpPr>
          <p:cNvPr id="13" name="Shape 10"/>
          <p:cNvSpPr/>
          <p:nvPr/>
        </p:nvSpPr>
        <p:spPr>
          <a:xfrm>
            <a:off x="3657600" y="2057400"/>
            <a:ext cx="685800" cy="685800"/>
          </a:xfrm>
          <a:prstGeom prst="ellipse">
            <a:avLst/>
          </a:prstGeom>
          <a:solidFill>
            <a:srgbClr val="FFFFFF">
              <a:alpha val="25000"/>
            </a:srgbClr>
          </a:solidFill>
          <a:ln/>
        </p:spPr>
        <p:txBody>
          <a:bodyPr/>
          <a:lstStyle/>
          <a:p>
            <a:endParaRPr lang="en-GH"/>
          </a:p>
        </p:txBody>
      </p:sp>
      <p:pic>
        <p:nvPicPr>
          <p:cNvPr id="14" name="Image 1" descr="/home/claude/icons/filter.png"/>
          <p:cNvPicPr>
            <a:picLocks noChangeAspect="1"/>
          </p:cNvPicPr>
          <p:nvPr/>
        </p:nvPicPr>
        <p:blipFill>
          <a:blip r:embed="rId4"/>
          <a:stretch>
            <a:fillRect/>
          </a:stretch>
        </p:blipFill>
        <p:spPr>
          <a:xfrm>
            <a:off x="3822192" y="2221992"/>
            <a:ext cx="356616" cy="356616"/>
          </a:xfrm>
          <a:prstGeom prst="rect">
            <a:avLst/>
          </a:prstGeom>
        </p:spPr>
      </p:pic>
      <p:sp>
        <p:nvSpPr>
          <p:cNvPr id="15" name="Shape 11"/>
          <p:cNvSpPr/>
          <p:nvPr/>
        </p:nvSpPr>
        <p:spPr>
          <a:xfrm>
            <a:off x="3657600" y="2880360"/>
            <a:ext cx="1051560" cy="310896"/>
          </a:xfrm>
          <a:prstGeom prst="roundRect">
            <a:avLst>
              <a:gd name="adj" fmla="val 23529"/>
            </a:avLst>
          </a:prstGeom>
          <a:solidFill>
            <a:srgbClr val="FFFFFF">
              <a:alpha val="25000"/>
            </a:srgbClr>
          </a:solidFill>
          <a:ln/>
        </p:spPr>
        <p:txBody>
          <a:bodyPr/>
          <a:lstStyle/>
          <a:p>
            <a:endParaRPr lang="en-GH"/>
          </a:p>
        </p:txBody>
      </p:sp>
      <p:sp>
        <p:nvSpPr>
          <p:cNvPr id="16" name="Text 12"/>
          <p:cNvSpPr/>
          <p:nvPr/>
        </p:nvSpPr>
        <p:spPr>
          <a:xfrm>
            <a:off x="3657600" y="2880360"/>
            <a:ext cx="1051560" cy="310896"/>
          </a:xfrm>
          <a:prstGeom prst="rect">
            <a:avLst/>
          </a:prstGeom>
          <a:noFill/>
          <a:ln/>
        </p:spPr>
        <p:txBody>
          <a:bodyPr wrap="square" lIns="0" tIns="0" rIns="0" bIns="0" rtlCol="0" anchor="ctr"/>
          <a:lstStyle/>
          <a:p>
            <a:pPr marL="0" indent="0" algn="ctr">
              <a:buNone/>
            </a:pPr>
            <a:endParaRPr lang="en-US" sz="1100" dirty="0"/>
          </a:p>
        </p:txBody>
      </p:sp>
      <p:sp>
        <p:nvSpPr>
          <p:cNvPr id="17" name="Text 13"/>
          <p:cNvSpPr/>
          <p:nvPr/>
        </p:nvSpPr>
        <p:spPr>
          <a:xfrm>
            <a:off x="3657600" y="3383280"/>
            <a:ext cx="2057400" cy="274320"/>
          </a:xfrm>
          <a:prstGeom prst="rect">
            <a:avLst/>
          </a:prstGeom>
          <a:noFill/>
          <a:ln/>
        </p:spPr>
        <p:txBody>
          <a:bodyPr wrap="square" lIns="0" tIns="0" rIns="0" bIns="0" rtlCol="0" anchor="ctr"/>
          <a:lstStyle/>
          <a:p>
            <a:pPr marL="0" indent="0">
              <a:buNone/>
            </a:pPr>
            <a:r>
              <a:rPr lang="en-US" sz="1150" b="1" kern="0" spc="200" dirty="0">
                <a:solidFill>
                  <a:srgbClr val="D9E6F2"/>
                </a:solidFill>
                <a:latin typeface="Calibri" pitchFamily="34" charset="0"/>
                <a:ea typeface="Calibri" pitchFamily="34" charset="-122"/>
                <a:cs typeface="Calibri" pitchFamily="34" charset="-120"/>
              </a:rPr>
              <a:t>Part B</a:t>
            </a:r>
            <a:endParaRPr lang="en-US" sz="1150" dirty="0"/>
          </a:p>
        </p:txBody>
      </p:sp>
      <p:sp>
        <p:nvSpPr>
          <p:cNvPr id="18" name="Text 14"/>
          <p:cNvSpPr/>
          <p:nvPr/>
        </p:nvSpPr>
        <p:spPr>
          <a:xfrm>
            <a:off x="3657600" y="3657600"/>
            <a:ext cx="2057400" cy="7772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Filter Types</a:t>
            </a:r>
            <a:endParaRPr lang="en-US" sz="1700" dirty="0"/>
          </a:p>
        </p:txBody>
      </p:sp>
      <p:sp>
        <p:nvSpPr>
          <p:cNvPr id="19" name="Text 15"/>
          <p:cNvSpPr/>
          <p:nvPr/>
        </p:nvSpPr>
        <p:spPr>
          <a:xfrm>
            <a:off x="3657600" y="4389120"/>
            <a:ext cx="2057400" cy="1371600"/>
          </a:xfrm>
          <a:prstGeom prst="rect">
            <a:avLst/>
          </a:prstGeom>
          <a:noFill/>
          <a:ln/>
        </p:spPr>
        <p:txBody>
          <a:bodyPr wrap="square" lIns="0" tIns="0" rIns="0" bIns="0" rtlCol="0" anchor="ctr"/>
          <a:lstStyle/>
          <a:p>
            <a:pPr marL="0" indent="0">
              <a:buNone/>
            </a:pPr>
            <a:r>
              <a:rPr lang="en-US" sz="1150" dirty="0">
                <a:solidFill>
                  <a:srgbClr val="F0F5FA"/>
                </a:solidFill>
                <a:latin typeface="Calibri" pitchFamily="34" charset="0"/>
                <a:ea typeface="Calibri" pitchFamily="34" charset="-122"/>
                <a:cs typeface="Calibri" pitchFamily="34" charset="-120"/>
              </a:rPr>
              <a:t>Highpass, lowpass, bandpass, notch — with live coding.</a:t>
            </a:r>
            <a:endParaRPr lang="en-US" sz="1150" dirty="0"/>
          </a:p>
        </p:txBody>
      </p:sp>
      <p:sp>
        <p:nvSpPr>
          <p:cNvPr id="20" name="Shape 16"/>
          <p:cNvSpPr/>
          <p:nvPr/>
        </p:nvSpPr>
        <p:spPr>
          <a:xfrm>
            <a:off x="6217920" y="1783080"/>
            <a:ext cx="2606040" cy="4160520"/>
          </a:xfrm>
          <a:prstGeom prst="roundRect">
            <a:avLst>
              <a:gd name="adj" fmla="val 4211"/>
            </a:avLst>
          </a:prstGeom>
          <a:solidFill>
            <a:srgbClr val="F2A541"/>
          </a:solidFill>
          <a:ln/>
        </p:spPr>
        <p:txBody>
          <a:bodyPr/>
          <a:lstStyle/>
          <a:p>
            <a:endParaRPr lang="en-GH"/>
          </a:p>
        </p:txBody>
      </p:sp>
      <p:sp>
        <p:nvSpPr>
          <p:cNvPr id="21" name="Shape 17"/>
          <p:cNvSpPr/>
          <p:nvPr/>
        </p:nvSpPr>
        <p:spPr>
          <a:xfrm>
            <a:off x="6492240" y="2057400"/>
            <a:ext cx="685800" cy="685800"/>
          </a:xfrm>
          <a:prstGeom prst="ellipse">
            <a:avLst/>
          </a:prstGeom>
          <a:solidFill>
            <a:srgbClr val="FFFFFF">
              <a:alpha val="25000"/>
            </a:srgbClr>
          </a:solidFill>
          <a:ln/>
        </p:spPr>
        <p:txBody>
          <a:bodyPr/>
          <a:lstStyle/>
          <a:p>
            <a:endParaRPr lang="en-GH"/>
          </a:p>
        </p:txBody>
      </p:sp>
      <p:pic>
        <p:nvPicPr>
          <p:cNvPr id="22" name="Image 2" descr="/home/claude/icons/shuffle.png"/>
          <p:cNvPicPr>
            <a:picLocks noChangeAspect="1"/>
          </p:cNvPicPr>
          <p:nvPr/>
        </p:nvPicPr>
        <p:blipFill>
          <a:blip r:embed="rId5"/>
          <a:stretch>
            <a:fillRect/>
          </a:stretch>
        </p:blipFill>
        <p:spPr>
          <a:xfrm>
            <a:off x="6656832" y="2221992"/>
            <a:ext cx="356616" cy="356616"/>
          </a:xfrm>
          <a:prstGeom prst="rect">
            <a:avLst/>
          </a:prstGeom>
        </p:spPr>
      </p:pic>
      <p:sp>
        <p:nvSpPr>
          <p:cNvPr id="23" name="Shape 18"/>
          <p:cNvSpPr/>
          <p:nvPr/>
        </p:nvSpPr>
        <p:spPr>
          <a:xfrm>
            <a:off x="6492240" y="2880360"/>
            <a:ext cx="1051560" cy="310896"/>
          </a:xfrm>
          <a:prstGeom prst="roundRect">
            <a:avLst>
              <a:gd name="adj" fmla="val 23529"/>
            </a:avLst>
          </a:prstGeom>
          <a:solidFill>
            <a:srgbClr val="FFFFFF">
              <a:alpha val="25000"/>
            </a:srgbClr>
          </a:solidFill>
          <a:ln/>
        </p:spPr>
        <p:txBody>
          <a:bodyPr/>
          <a:lstStyle/>
          <a:p>
            <a:endParaRPr lang="en-GH"/>
          </a:p>
        </p:txBody>
      </p:sp>
      <p:sp>
        <p:nvSpPr>
          <p:cNvPr id="24" name="Text 19"/>
          <p:cNvSpPr/>
          <p:nvPr/>
        </p:nvSpPr>
        <p:spPr>
          <a:xfrm>
            <a:off x="6492240" y="2880360"/>
            <a:ext cx="1051560" cy="310896"/>
          </a:xfrm>
          <a:prstGeom prst="rect">
            <a:avLst/>
          </a:prstGeom>
          <a:noFill/>
          <a:ln/>
        </p:spPr>
        <p:txBody>
          <a:bodyPr wrap="square" lIns="0" tIns="0" rIns="0" bIns="0" rtlCol="0" anchor="ctr"/>
          <a:lstStyle/>
          <a:p>
            <a:pPr marL="0" indent="0" algn="ctr">
              <a:buNone/>
            </a:pPr>
            <a:endParaRPr lang="en-US" sz="1100" dirty="0"/>
          </a:p>
        </p:txBody>
      </p:sp>
      <p:sp>
        <p:nvSpPr>
          <p:cNvPr id="25" name="Text 20"/>
          <p:cNvSpPr/>
          <p:nvPr/>
        </p:nvSpPr>
        <p:spPr>
          <a:xfrm>
            <a:off x="6492240" y="3383280"/>
            <a:ext cx="2057400" cy="274320"/>
          </a:xfrm>
          <a:prstGeom prst="rect">
            <a:avLst/>
          </a:prstGeom>
          <a:noFill/>
          <a:ln/>
        </p:spPr>
        <p:txBody>
          <a:bodyPr wrap="square" lIns="0" tIns="0" rIns="0" bIns="0" rtlCol="0" anchor="ctr"/>
          <a:lstStyle/>
          <a:p>
            <a:pPr marL="0" indent="0">
              <a:buNone/>
            </a:pPr>
            <a:r>
              <a:rPr lang="en-US" sz="1150" b="1" kern="0" spc="200" dirty="0">
                <a:solidFill>
                  <a:srgbClr val="D9E6F2"/>
                </a:solidFill>
                <a:latin typeface="Calibri" pitchFamily="34" charset="0"/>
                <a:ea typeface="Calibri" pitchFamily="34" charset="-122"/>
                <a:cs typeface="Calibri" pitchFamily="34" charset="-120"/>
              </a:rPr>
              <a:t>Part C</a:t>
            </a:r>
            <a:endParaRPr lang="en-US" sz="1150" dirty="0"/>
          </a:p>
        </p:txBody>
      </p:sp>
      <p:sp>
        <p:nvSpPr>
          <p:cNvPr id="26" name="Text 21"/>
          <p:cNvSpPr/>
          <p:nvPr/>
        </p:nvSpPr>
        <p:spPr>
          <a:xfrm>
            <a:off x="6492240" y="3657600"/>
            <a:ext cx="2057400" cy="7772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Re-referencing</a:t>
            </a:r>
            <a:endParaRPr lang="en-US" sz="1700" dirty="0"/>
          </a:p>
        </p:txBody>
      </p:sp>
      <p:sp>
        <p:nvSpPr>
          <p:cNvPr id="27" name="Text 22"/>
          <p:cNvSpPr/>
          <p:nvPr/>
        </p:nvSpPr>
        <p:spPr>
          <a:xfrm>
            <a:off x="6492240" y="4389120"/>
            <a:ext cx="2057400" cy="1371600"/>
          </a:xfrm>
          <a:prstGeom prst="rect">
            <a:avLst/>
          </a:prstGeom>
          <a:noFill/>
          <a:ln/>
        </p:spPr>
        <p:txBody>
          <a:bodyPr wrap="square" lIns="0" tIns="0" rIns="0" bIns="0" rtlCol="0" anchor="ctr"/>
          <a:lstStyle/>
          <a:p>
            <a:pPr marL="0" indent="0">
              <a:buNone/>
            </a:pPr>
            <a:r>
              <a:rPr lang="en-US" sz="1150" dirty="0">
                <a:solidFill>
                  <a:srgbClr val="F0F5FA"/>
                </a:solidFill>
                <a:latin typeface="Calibri" pitchFamily="34" charset="0"/>
                <a:ea typeface="Calibri" pitchFamily="34" charset="-122"/>
                <a:cs typeface="Calibri" pitchFamily="34" charset="-120"/>
              </a:rPr>
              <a:t>Linked mastoids, average, and common reference schemes.</a:t>
            </a:r>
            <a:endParaRPr lang="en-US" sz="1150" dirty="0"/>
          </a:p>
        </p:txBody>
      </p:sp>
      <p:sp>
        <p:nvSpPr>
          <p:cNvPr id="28" name="Shape 23"/>
          <p:cNvSpPr/>
          <p:nvPr/>
        </p:nvSpPr>
        <p:spPr>
          <a:xfrm>
            <a:off x="9052560" y="1783080"/>
            <a:ext cx="2606040" cy="4160520"/>
          </a:xfrm>
          <a:prstGeom prst="roundRect">
            <a:avLst>
              <a:gd name="adj" fmla="val 4211"/>
            </a:avLst>
          </a:prstGeom>
          <a:solidFill>
            <a:srgbClr val="D64550"/>
          </a:solidFill>
          <a:ln/>
        </p:spPr>
        <p:txBody>
          <a:bodyPr/>
          <a:lstStyle/>
          <a:p>
            <a:endParaRPr lang="en-GH"/>
          </a:p>
        </p:txBody>
      </p:sp>
      <p:sp>
        <p:nvSpPr>
          <p:cNvPr id="29" name="Shape 24"/>
          <p:cNvSpPr/>
          <p:nvPr/>
        </p:nvSpPr>
        <p:spPr>
          <a:xfrm>
            <a:off x="9326880" y="2057400"/>
            <a:ext cx="685800" cy="685800"/>
          </a:xfrm>
          <a:prstGeom prst="ellipse">
            <a:avLst/>
          </a:prstGeom>
          <a:solidFill>
            <a:srgbClr val="FFFFFF">
              <a:alpha val="25000"/>
            </a:srgbClr>
          </a:solidFill>
          <a:ln/>
        </p:spPr>
        <p:txBody>
          <a:bodyPr/>
          <a:lstStyle/>
          <a:p>
            <a:endParaRPr lang="en-GH"/>
          </a:p>
        </p:txBody>
      </p:sp>
      <p:pic>
        <p:nvPicPr>
          <p:cNvPr id="30" name="Image 3" descr="/home/claude/icons/alert.png"/>
          <p:cNvPicPr>
            <a:picLocks noChangeAspect="1"/>
          </p:cNvPicPr>
          <p:nvPr/>
        </p:nvPicPr>
        <p:blipFill>
          <a:blip r:embed="rId6"/>
          <a:stretch>
            <a:fillRect/>
          </a:stretch>
        </p:blipFill>
        <p:spPr>
          <a:xfrm>
            <a:off x="9491472" y="2221992"/>
            <a:ext cx="356616" cy="356616"/>
          </a:xfrm>
          <a:prstGeom prst="rect">
            <a:avLst/>
          </a:prstGeom>
        </p:spPr>
      </p:pic>
      <p:sp>
        <p:nvSpPr>
          <p:cNvPr id="31" name="Shape 25"/>
          <p:cNvSpPr/>
          <p:nvPr/>
        </p:nvSpPr>
        <p:spPr>
          <a:xfrm>
            <a:off x="9326880" y="2880360"/>
            <a:ext cx="1051560" cy="310896"/>
          </a:xfrm>
          <a:prstGeom prst="roundRect">
            <a:avLst>
              <a:gd name="adj" fmla="val 23529"/>
            </a:avLst>
          </a:prstGeom>
          <a:solidFill>
            <a:srgbClr val="FFFFFF">
              <a:alpha val="25000"/>
            </a:srgbClr>
          </a:solidFill>
          <a:ln/>
        </p:spPr>
        <p:txBody>
          <a:bodyPr/>
          <a:lstStyle/>
          <a:p>
            <a:endParaRPr lang="en-GH"/>
          </a:p>
        </p:txBody>
      </p:sp>
      <p:sp>
        <p:nvSpPr>
          <p:cNvPr id="32" name="Text 26"/>
          <p:cNvSpPr/>
          <p:nvPr/>
        </p:nvSpPr>
        <p:spPr>
          <a:xfrm>
            <a:off x="9326880" y="2880360"/>
            <a:ext cx="1051560" cy="310896"/>
          </a:xfrm>
          <a:prstGeom prst="rect">
            <a:avLst/>
          </a:prstGeom>
          <a:noFill/>
          <a:ln/>
        </p:spPr>
        <p:txBody>
          <a:bodyPr wrap="square" lIns="0" tIns="0" rIns="0" bIns="0" rtlCol="0" anchor="ctr"/>
          <a:lstStyle/>
          <a:p>
            <a:pPr marL="0" indent="0" algn="ctr">
              <a:buNone/>
            </a:pPr>
            <a:endParaRPr lang="en-US" sz="1100" dirty="0"/>
          </a:p>
        </p:txBody>
      </p:sp>
      <p:sp>
        <p:nvSpPr>
          <p:cNvPr id="33" name="Text 27"/>
          <p:cNvSpPr/>
          <p:nvPr/>
        </p:nvSpPr>
        <p:spPr>
          <a:xfrm>
            <a:off x="9326880" y="3383280"/>
            <a:ext cx="2057400" cy="274320"/>
          </a:xfrm>
          <a:prstGeom prst="rect">
            <a:avLst/>
          </a:prstGeom>
          <a:noFill/>
          <a:ln/>
        </p:spPr>
        <p:txBody>
          <a:bodyPr wrap="square" lIns="0" tIns="0" rIns="0" bIns="0" rtlCol="0" anchor="ctr"/>
          <a:lstStyle/>
          <a:p>
            <a:pPr marL="0" indent="0">
              <a:buNone/>
            </a:pPr>
            <a:r>
              <a:rPr lang="en-US" sz="1150" b="1" kern="0" spc="200" dirty="0">
                <a:solidFill>
                  <a:srgbClr val="D9E6F2"/>
                </a:solidFill>
                <a:latin typeface="Calibri" pitchFamily="34" charset="0"/>
                <a:ea typeface="Calibri" pitchFamily="34" charset="-122"/>
                <a:cs typeface="Calibri" pitchFamily="34" charset="-120"/>
              </a:rPr>
              <a:t>Part D</a:t>
            </a:r>
            <a:endParaRPr lang="en-US" sz="1150" dirty="0"/>
          </a:p>
        </p:txBody>
      </p:sp>
      <p:sp>
        <p:nvSpPr>
          <p:cNvPr id="34" name="Text 28"/>
          <p:cNvSpPr/>
          <p:nvPr/>
        </p:nvSpPr>
        <p:spPr>
          <a:xfrm>
            <a:off x="9326880" y="3657600"/>
            <a:ext cx="2057400" cy="7772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Practical Considerations</a:t>
            </a:r>
            <a:endParaRPr lang="en-US" sz="1700" dirty="0"/>
          </a:p>
        </p:txBody>
      </p:sp>
      <p:sp>
        <p:nvSpPr>
          <p:cNvPr id="35" name="Text 29"/>
          <p:cNvSpPr/>
          <p:nvPr/>
        </p:nvSpPr>
        <p:spPr>
          <a:xfrm>
            <a:off x="9326880" y="4389120"/>
            <a:ext cx="2057400" cy="1371600"/>
          </a:xfrm>
          <a:prstGeom prst="rect">
            <a:avLst/>
          </a:prstGeom>
          <a:noFill/>
          <a:ln/>
        </p:spPr>
        <p:txBody>
          <a:bodyPr wrap="square" lIns="0" tIns="0" rIns="0" bIns="0" rtlCol="0" anchor="ctr"/>
          <a:lstStyle/>
          <a:p>
            <a:pPr marL="0" indent="0">
              <a:buNone/>
            </a:pPr>
            <a:r>
              <a:rPr lang="en-US" sz="1150" dirty="0">
                <a:solidFill>
                  <a:srgbClr val="F0F5FA"/>
                </a:solidFill>
                <a:latin typeface="Calibri" pitchFamily="34" charset="0"/>
                <a:ea typeface="Calibri" pitchFamily="34" charset="-122"/>
                <a:cs typeface="Calibri" pitchFamily="34" charset="-120"/>
              </a:rPr>
              <a:t>Ordering, pitfalls, and an activity comparing cutoffs.</a:t>
            </a:r>
            <a:endParaRPr lang="en-US" sz="1150" dirty="0"/>
          </a:p>
        </p:txBody>
      </p:sp>
      <p:sp>
        <p:nvSpPr>
          <p:cNvPr id="36" name="Text 30"/>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Roadmap</a:t>
            </a:r>
            <a:endParaRPr lang="en-US" sz="1000" dirty="0"/>
          </a:p>
        </p:txBody>
      </p:sp>
      <p:sp>
        <p:nvSpPr>
          <p:cNvPr id="37" name="Text 31"/>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cs typeface="Calibri" pitchFamily="34" charset="-120"/>
              </a:rPr>
              <a:t>EEG</a:t>
            </a:r>
            <a:endParaRPr lang="en-US" sz="1200" dirty="0"/>
          </a:p>
        </p:txBody>
      </p:sp>
      <p:sp>
        <p:nvSpPr>
          <p:cNvPr id="3" name="Shape 1"/>
          <p:cNvSpPr/>
          <p:nvPr/>
        </p:nvSpPr>
        <p:spPr>
          <a:xfrm>
            <a:off x="548640" y="786384"/>
            <a:ext cx="640080" cy="640080"/>
          </a:xfrm>
          <a:prstGeom prst="ellipse">
            <a:avLst/>
          </a:prstGeom>
          <a:solidFill>
            <a:srgbClr val="1C7293"/>
          </a:solidFill>
          <a:ln/>
        </p:spPr>
        <p:txBody>
          <a:bodyPr/>
          <a:lstStyle/>
          <a:p>
            <a:endParaRPr lang="en-GH"/>
          </a:p>
        </p:txBody>
      </p:sp>
      <p:sp>
        <p:nvSpPr>
          <p:cNvPr id="5" name="Text 2"/>
          <p:cNvSpPr/>
          <p:nvPr/>
        </p:nvSpPr>
        <p:spPr>
          <a:xfrm>
            <a:off x="1371600" y="786384"/>
            <a:ext cx="9784080" cy="594360"/>
          </a:xfrm>
          <a:prstGeom prst="rect">
            <a:avLst/>
          </a:prstGeom>
          <a:noFill/>
          <a:ln/>
        </p:spPr>
        <p:txBody>
          <a:bodyPr wrap="square" lIns="0" tIns="0" rIns="0" bIns="0" rtlCol="0" anchor="ctr"/>
          <a:lstStyle/>
          <a:p>
            <a:pPr marL="0" indent="0">
              <a:buNone/>
            </a:pPr>
            <a:r>
              <a:rPr lang="en-US" sz="2300" b="1" dirty="0">
                <a:solidFill>
                  <a:srgbClr val="1B2733"/>
                </a:solidFill>
                <a:latin typeface="Cambria" pitchFamily="34" charset="0"/>
                <a:ea typeface="Cambria" pitchFamily="34" charset="-122"/>
                <a:cs typeface="Cambria" pitchFamily="34" charset="-120"/>
              </a:rPr>
              <a:t>TYPICAL EEG PREPROCESSING PIPELINE</a:t>
            </a:r>
            <a:endParaRPr lang="en-US" sz="2300" dirty="0"/>
          </a:p>
        </p:txBody>
      </p:sp>
      <p:sp>
        <p:nvSpPr>
          <p:cNvPr id="16" name="Text 12"/>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A · What Filter?</a:t>
            </a:r>
            <a:endParaRPr lang="en-US" sz="1000" dirty="0"/>
          </a:p>
        </p:txBody>
      </p:sp>
      <p:sp>
        <p:nvSpPr>
          <p:cNvPr id="17" name="Text 13"/>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graphicFrame>
        <p:nvGraphicFramePr>
          <p:cNvPr id="36" name="Diagram 35">
            <a:extLst>
              <a:ext uri="{FF2B5EF4-FFF2-40B4-BE49-F238E27FC236}">
                <a16:creationId xmlns:a16="http://schemas.microsoft.com/office/drawing/2014/main" id="{709272F1-20FF-8361-253E-69B062DFA4E8}"/>
              </a:ext>
            </a:extLst>
          </p:cNvPr>
          <p:cNvGraphicFramePr/>
          <p:nvPr>
            <p:extLst>
              <p:ext uri="{D42A27DB-BD31-4B8C-83A1-F6EECF244321}">
                <p14:modId xmlns:p14="http://schemas.microsoft.com/office/powerpoint/2010/main" val="3182504686"/>
              </p:ext>
            </p:extLst>
          </p:nvPr>
        </p:nvGraphicFramePr>
        <p:xfrm>
          <a:off x="2032000" y="1132550"/>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9875520" y="4206240"/>
            <a:ext cx="3840480" cy="3840480"/>
          </a:xfrm>
          <a:prstGeom prst="ellipse">
            <a:avLst/>
          </a:prstGeom>
          <a:solidFill>
            <a:srgbClr val="1B3A5C"/>
          </a:solidFill>
          <a:ln/>
        </p:spPr>
        <p:txBody>
          <a:bodyPr/>
          <a:lstStyle/>
          <a:p>
            <a:endParaRPr lang="en-GH"/>
          </a:p>
        </p:txBody>
      </p:sp>
      <p:sp>
        <p:nvSpPr>
          <p:cNvPr id="3" name="Text 1"/>
          <p:cNvSpPr/>
          <p:nvPr/>
        </p:nvSpPr>
        <p:spPr>
          <a:xfrm>
            <a:off x="822960" y="2331720"/>
            <a:ext cx="4572000" cy="320040"/>
          </a:xfrm>
          <a:prstGeom prst="rect">
            <a:avLst/>
          </a:prstGeom>
          <a:noFill/>
          <a:ln/>
        </p:spPr>
        <p:txBody>
          <a:bodyPr wrap="square" rtlCol="0" anchor="ctr"/>
          <a:lstStyle/>
          <a:p>
            <a:pPr marL="0" indent="0">
              <a:buNone/>
            </a:pPr>
            <a:r>
              <a:rPr lang="en-US" sz="1200" b="1" kern="0" spc="200" dirty="0">
                <a:solidFill>
                  <a:srgbClr val="F2A541"/>
                </a:solidFill>
                <a:latin typeface="Calibri" pitchFamily="34" charset="0"/>
                <a:ea typeface="Calibri" pitchFamily="34" charset="-122"/>
                <a:cs typeface="Calibri" pitchFamily="34" charset="-120"/>
              </a:rPr>
              <a:t>PART A · 20 MIN</a:t>
            </a:r>
            <a:endParaRPr lang="en-US" sz="1200" dirty="0"/>
          </a:p>
        </p:txBody>
      </p:sp>
      <p:sp>
        <p:nvSpPr>
          <p:cNvPr id="4" name="Text 2"/>
          <p:cNvSpPr/>
          <p:nvPr/>
        </p:nvSpPr>
        <p:spPr>
          <a:xfrm>
            <a:off x="822960" y="2697480"/>
            <a:ext cx="100584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What is Filtering?</a:t>
            </a:r>
            <a:endParaRPr lang="en-US" sz="4000" dirty="0"/>
          </a:p>
        </p:txBody>
      </p:sp>
      <p:sp>
        <p:nvSpPr>
          <p:cNvPr id="5" name="Text 3"/>
          <p:cNvSpPr/>
          <p:nvPr/>
        </p:nvSpPr>
        <p:spPr>
          <a:xfrm>
            <a:off x="822960" y="3703320"/>
            <a:ext cx="9601200" cy="548640"/>
          </a:xfrm>
          <a:prstGeom prst="rect">
            <a:avLst/>
          </a:prstGeom>
          <a:noFill/>
          <a:ln/>
        </p:spPr>
        <p:txBody>
          <a:bodyPr wrap="square" lIns="0" tIns="0" rIns="0" bIns="0" rtlCol="0" anchor="ctr"/>
          <a:lstStyle/>
          <a:p>
            <a:r>
              <a:rPr lang="en-US" sz="1600" dirty="0">
                <a:solidFill>
                  <a:schemeClr val="bg2"/>
                </a:solidFill>
              </a:rPr>
              <a:t>Filtering is the process of removing unwanted frequency components from an EEG signal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9E2FED1-C04D-C125-FF08-DC171168C39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EA0CF66-CD4A-3BB0-3C08-D1BD6921128F}"/>
              </a:ext>
            </a:extLst>
          </p:cNvPr>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FILTERING</a:t>
            </a:r>
            <a:endParaRPr lang="en-US" sz="1200" dirty="0"/>
          </a:p>
        </p:txBody>
      </p:sp>
      <p:sp>
        <p:nvSpPr>
          <p:cNvPr id="3" name="Shape 1">
            <a:extLst>
              <a:ext uri="{FF2B5EF4-FFF2-40B4-BE49-F238E27FC236}">
                <a16:creationId xmlns:a16="http://schemas.microsoft.com/office/drawing/2014/main" id="{500B8D2E-6CBE-A990-03C8-BAE2C305700B}"/>
              </a:ext>
            </a:extLst>
          </p:cNvPr>
          <p:cNvSpPr/>
          <p:nvPr/>
        </p:nvSpPr>
        <p:spPr>
          <a:xfrm>
            <a:off x="548640" y="786384"/>
            <a:ext cx="640080" cy="640080"/>
          </a:xfrm>
          <a:prstGeom prst="ellipse">
            <a:avLst/>
          </a:prstGeom>
          <a:solidFill>
            <a:srgbClr val="1C7293"/>
          </a:solidFill>
          <a:ln/>
        </p:spPr>
        <p:txBody>
          <a:bodyPr/>
          <a:lstStyle/>
          <a:p>
            <a:endParaRPr lang="en-GH"/>
          </a:p>
        </p:txBody>
      </p:sp>
      <p:sp>
        <p:nvSpPr>
          <p:cNvPr id="5" name="Text 2">
            <a:extLst>
              <a:ext uri="{FF2B5EF4-FFF2-40B4-BE49-F238E27FC236}">
                <a16:creationId xmlns:a16="http://schemas.microsoft.com/office/drawing/2014/main" id="{0309F826-4FFA-EA5F-4EB3-B11B28CB2468}"/>
              </a:ext>
            </a:extLst>
          </p:cNvPr>
          <p:cNvSpPr/>
          <p:nvPr/>
        </p:nvSpPr>
        <p:spPr>
          <a:xfrm>
            <a:off x="1371600" y="786384"/>
            <a:ext cx="9784080" cy="594360"/>
          </a:xfrm>
          <a:prstGeom prst="rect">
            <a:avLst/>
          </a:prstGeom>
          <a:noFill/>
          <a:ln/>
        </p:spPr>
        <p:txBody>
          <a:bodyPr wrap="square" lIns="0" tIns="0" rIns="0" bIns="0" rtlCol="0" anchor="ctr"/>
          <a:lstStyle/>
          <a:p>
            <a:pPr marL="0" indent="0">
              <a:buNone/>
            </a:pPr>
            <a:r>
              <a:rPr lang="en-US" sz="2300" b="1" dirty="0">
                <a:solidFill>
                  <a:srgbClr val="1B2733"/>
                </a:solidFill>
                <a:latin typeface="Cambria" pitchFamily="34" charset="0"/>
                <a:ea typeface="Cambria" pitchFamily="34" charset="-122"/>
                <a:cs typeface="Cambria" pitchFamily="34" charset="-120"/>
              </a:rPr>
              <a:t>WHAT IS FILTERING</a:t>
            </a:r>
            <a:endParaRPr lang="en-US" sz="2300" dirty="0"/>
          </a:p>
        </p:txBody>
      </p:sp>
      <p:sp>
        <p:nvSpPr>
          <p:cNvPr id="16" name="Text 12">
            <a:extLst>
              <a:ext uri="{FF2B5EF4-FFF2-40B4-BE49-F238E27FC236}">
                <a16:creationId xmlns:a16="http://schemas.microsoft.com/office/drawing/2014/main" id="{EF6BDE04-2B9C-9E30-8A67-0E80D5A62B2A}"/>
              </a:ext>
            </a:extLst>
          </p:cNvPr>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A · What Filter?</a:t>
            </a:r>
            <a:endParaRPr lang="en-US" sz="1000" dirty="0"/>
          </a:p>
        </p:txBody>
      </p:sp>
      <p:sp>
        <p:nvSpPr>
          <p:cNvPr id="17" name="Text 13">
            <a:extLst>
              <a:ext uri="{FF2B5EF4-FFF2-40B4-BE49-F238E27FC236}">
                <a16:creationId xmlns:a16="http://schemas.microsoft.com/office/drawing/2014/main" id="{710516D3-142B-FABA-1353-135F228550D9}"/>
              </a:ext>
            </a:extLst>
          </p:cNvPr>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pic>
        <p:nvPicPr>
          <p:cNvPr id="20" name="Picture 19">
            <a:extLst>
              <a:ext uri="{FF2B5EF4-FFF2-40B4-BE49-F238E27FC236}">
                <a16:creationId xmlns:a16="http://schemas.microsoft.com/office/drawing/2014/main" id="{87F6838D-9FB2-F391-8848-62BFA5C5CED2}"/>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235407" y="1503866"/>
            <a:ext cx="3982811" cy="2140018"/>
          </a:xfrm>
          <a:prstGeom prst="rect">
            <a:avLst/>
          </a:prstGeom>
        </p:spPr>
      </p:pic>
      <p:pic>
        <p:nvPicPr>
          <p:cNvPr id="32" name="Picture 31">
            <a:extLst>
              <a:ext uri="{FF2B5EF4-FFF2-40B4-BE49-F238E27FC236}">
                <a16:creationId xmlns:a16="http://schemas.microsoft.com/office/drawing/2014/main" id="{04385AD5-9462-E675-D174-32917341AF57}"/>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7494374" y="1232806"/>
            <a:ext cx="4434079" cy="3671317"/>
          </a:xfrm>
          <a:prstGeom prst="rect">
            <a:avLst/>
          </a:prstGeom>
        </p:spPr>
      </p:pic>
      <p:sp>
        <p:nvSpPr>
          <p:cNvPr id="33" name="TextBox 32">
            <a:extLst>
              <a:ext uri="{FF2B5EF4-FFF2-40B4-BE49-F238E27FC236}">
                <a16:creationId xmlns:a16="http://schemas.microsoft.com/office/drawing/2014/main" id="{4510A7FE-F098-4CA7-1D7D-9458D6048294}"/>
              </a:ext>
            </a:extLst>
          </p:cNvPr>
          <p:cNvSpPr txBox="1"/>
          <p:nvPr/>
        </p:nvSpPr>
        <p:spPr>
          <a:xfrm>
            <a:off x="3636850" y="7110300"/>
            <a:ext cx="6718300" cy="230832"/>
          </a:xfrm>
          <a:prstGeom prst="rect">
            <a:avLst/>
          </a:prstGeom>
          <a:noFill/>
        </p:spPr>
        <p:txBody>
          <a:bodyPr wrap="square" rtlCol="0">
            <a:spAutoFit/>
          </a:bodyPr>
          <a:lstStyle/>
          <a:p>
            <a:r>
              <a:rPr lang="en-GH" sz="900">
                <a:hlinkClick r:id="rId6" tooltip="https://www.frontiersin.org/articles/10.3389/fmed.2020.00251/full"/>
              </a:rPr>
              <a:t>This Photo</a:t>
            </a:r>
            <a:r>
              <a:rPr lang="en-GH" sz="900"/>
              <a:t> by Unknown Author is licensed under </a:t>
            </a:r>
            <a:r>
              <a:rPr lang="en-GH" sz="900">
                <a:hlinkClick r:id="rId7" tooltip="https://creativecommons.org/licenses/by/3.0/"/>
              </a:rPr>
              <a:t>CC BY</a:t>
            </a:r>
            <a:endParaRPr lang="en-GH" sz="900"/>
          </a:p>
        </p:txBody>
      </p:sp>
      <p:pic>
        <p:nvPicPr>
          <p:cNvPr id="35" name="Picture 34">
            <a:extLst>
              <a:ext uri="{FF2B5EF4-FFF2-40B4-BE49-F238E27FC236}">
                <a16:creationId xmlns:a16="http://schemas.microsoft.com/office/drawing/2014/main" id="{AC1CEF4F-A316-8AB5-74CB-DA106F4E65F8}"/>
              </a:ext>
            </a:extLst>
          </p:cNvPr>
          <p:cNvPicPr>
            <a:picLocks noChangeAspect="1"/>
          </p:cNvPicPr>
          <p:nvPr/>
        </p:nvPicPr>
        <p:blipFill>
          <a:blip r:embed="rId8"/>
          <a:stretch>
            <a:fillRect/>
          </a:stretch>
        </p:blipFill>
        <p:spPr>
          <a:xfrm>
            <a:off x="2209582" y="3721286"/>
            <a:ext cx="4017271" cy="3012953"/>
          </a:xfrm>
          <a:prstGeom prst="rect">
            <a:avLst/>
          </a:prstGeom>
        </p:spPr>
      </p:pic>
      <p:sp>
        <p:nvSpPr>
          <p:cNvPr id="4" name="TextBox 3">
            <a:extLst>
              <a:ext uri="{FF2B5EF4-FFF2-40B4-BE49-F238E27FC236}">
                <a16:creationId xmlns:a16="http://schemas.microsoft.com/office/drawing/2014/main" id="{D71ED6DC-9B89-1A4B-9B8F-652FAE15EF73}"/>
              </a:ext>
            </a:extLst>
          </p:cNvPr>
          <p:cNvSpPr txBox="1"/>
          <p:nvPr/>
        </p:nvSpPr>
        <p:spPr>
          <a:xfrm>
            <a:off x="7300231" y="1027741"/>
            <a:ext cx="1288597" cy="369332"/>
          </a:xfrm>
          <a:prstGeom prst="rect">
            <a:avLst/>
          </a:prstGeom>
          <a:noFill/>
        </p:spPr>
        <p:txBody>
          <a:bodyPr wrap="square" rtlCol="0">
            <a:spAutoFit/>
          </a:bodyPr>
          <a:lstStyle/>
          <a:p>
            <a:r>
              <a:rPr lang="en-US" dirty="0">
                <a:solidFill>
                  <a:schemeClr val="bg2">
                    <a:lumMod val="50000"/>
                  </a:schemeClr>
                </a:solidFill>
              </a:rPr>
              <a:t>0.5 – 4.0 Hz</a:t>
            </a:r>
            <a:endParaRPr lang="en-GH" dirty="0">
              <a:solidFill>
                <a:schemeClr val="bg2">
                  <a:lumMod val="50000"/>
                </a:schemeClr>
              </a:solidFill>
            </a:endParaRPr>
          </a:p>
        </p:txBody>
      </p:sp>
      <p:sp>
        <p:nvSpPr>
          <p:cNvPr id="7" name="TextBox 6">
            <a:extLst>
              <a:ext uri="{FF2B5EF4-FFF2-40B4-BE49-F238E27FC236}">
                <a16:creationId xmlns:a16="http://schemas.microsoft.com/office/drawing/2014/main" id="{ED7F0008-321E-F907-A409-0C0F777177A9}"/>
              </a:ext>
            </a:extLst>
          </p:cNvPr>
          <p:cNvSpPr txBox="1"/>
          <p:nvPr/>
        </p:nvSpPr>
        <p:spPr>
          <a:xfrm>
            <a:off x="7300232" y="1770046"/>
            <a:ext cx="1288596" cy="369332"/>
          </a:xfrm>
          <a:prstGeom prst="rect">
            <a:avLst/>
          </a:prstGeom>
          <a:noFill/>
        </p:spPr>
        <p:txBody>
          <a:bodyPr wrap="square" rtlCol="0">
            <a:spAutoFit/>
          </a:bodyPr>
          <a:lstStyle/>
          <a:p>
            <a:r>
              <a:rPr lang="en-US" dirty="0">
                <a:solidFill>
                  <a:schemeClr val="bg2">
                    <a:lumMod val="50000"/>
                  </a:schemeClr>
                </a:solidFill>
              </a:rPr>
              <a:t>4.0 – 8.0 Hz</a:t>
            </a:r>
            <a:endParaRPr lang="en-GH" dirty="0">
              <a:solidFill>
                <a:schemeClr val="bg2">
                  <a:lumMod val="50000"/>
                </a:schemeClr>
              </a:solidFill>
            </a:endParaRPr>
          </a:p>
        </p:txBody>
      </p:sp>
      <p:sp>
        <p:nvSpPr>
          <p:cNvPr id="9" name="TextBox 8">
            <a:extLst>
              <a:ext uri="{FF2B5EF4-FFF2-40B4-BE49-F238E27FC236}">
                <a16:creationId xmlns:a16="http://schemas.microsoft.com/office/drawing/2014/main" id="{6EE5D972-9276-1764-4059-B532D1E3AC4C}"/>
              </a:ext>
            </a:extLst>
          </p:cNvPr>
          <p:cNvSpPr txBox="1"/>
          <p:nvPr/>
        </p:nvSpPr>
        <p:spPr>
          <a:xfrm>
            <a:off x="7300232" y="2588434"/>
            <a:ext cx="1288596" cy="646331"/>
          </a:xfrm>
          <a:prstGeom prst="rect">
            <a:avLst/>
          </a:prstGeom>
          <a:noFill/>
        </p:spPr>
        <p:txBody>
          <a:bodyPr wrap="square" rtlCol="0">
            <a:spAutoFit/>
          </a:bodyPr>
          <a:lstStyle/>
          <a:p>
            <a:r>
              <a:rPr lang="en-US" dirty="0">
                <a:solidFill>
                  <a:schemeClr val="bg2">
                    <a:lumMod val="50000"/>
                  </a:schemeClr>
                </a:solidFill>
              </a:rPr>
              <a:t>8.0 – 13.0 Hz</a:t>
            </a:r>
            <a:endParaRPr lang="en-GH" dirty="0">
              <a:solidFill>
                <a:schemeClr val="bg2">
                  <a:lumMod val="50000"/>
                </a:schemeClr>
              </a:solidFill>
            </a:endParaRPr>
          </a:p>
        </p:txBody>
      </p:sp>
      <p:sp>
        <p:nvSpPr>
          <p:cNvPr id="11" name="TextBox 10">
            <a:extLst>
              <a:ext uri="{FF2B5EF4-FFF2-40B4-BE49-F238E27FC236}">
                <a16:creationId xmlns:a16="http://schemas.microsoft.com/office/drawing/2014/main" id="{2A41268D-5496-BF75-36B6-58DE2B1BFFAD}"/>
              </a:ext>
            </a:extLst>
          </p:cNvPr>
          <p:cNvSpPr txBox="1"/>
          <p:nvPr/>
        </p:nvSpPr>
        <p:spPr>
          <a:xfrm>
            <a:off x="7300231" y="3429000"/>
            <a:ext cx="1598839" cy="369332"/>
          </a:xfrm>
          <a:prstGeom prst="rect">
            <a:avLst/>
          </a:prstGeom>
          <a:noFill/>
        </p:spPr>
        <p:txBody>
          <a:bodyPr wrap="square" rtlCol="0">
            <a:spAutoFit/>
          </a:bodyPr>
          <a:lstStyle/>
          <a:p>
            <a:r>
              <a:rPr lang="en-US" dirty="0">
                <a:solidFill>
                  <a:schemeClr val="bg2">
                    <a:lumMod val="50000"/>
                  </a:schemeClr>
                </a:solidFill>
              </a:rPr>
              <a:t>13.0 – 30.0 Hz</a:t>
            </a:r>
            <a:endParaRPr lang="en-GH" dirty="0">
              <a:solidFill>
                <a:schemeClr val="bg2">
                  <a:lumMod val="50000"/>
                </a:schemeClr>
              </a:solidFill>
            </a:endParaRPr>
          </a:p>
        </p:txBody>
      </p:sp>
      <p:sp>
        <p:nvSpPr>
          <p:cNvPr id="13" name="TextBox 12">
            <a:extLst>
              <a:ext uri="{FF2B5EF4-FFF2-40B4-BE49-F238E27FC236}">
                <a16:creationId xmlns:a16="http://schemas.microsoft.com/office/drawing/2014/main" id="{0AEBE92A-FD94-D777-F22B-64B70A044A7C}"/>
              </a:ext>
            </a:extLst>
          </p:cNvPr>
          <p:cNvSpPr txBox="1"/>
          <p:nvPr/>
        </p:nvSpPr>
        <p:spPr>
          <a:xfrm>
            <a:off x="7300232" y="4247388"/>
            <a:ext cx="1598838" cy="369332"/>
          </a:xfrm>
          <a:prstGeom prst="rect">
            <a:avLst/>
          </a:prstGeom>
          <a:noFill/>
        </p:spPr>
        <p:txBody>
          <a:bodyPr wrap="square" rtlCol="0">
            <a:spAutoFit/>
          </a:bodyPr>
          <a:lstStyle/>
          <a:p>
            <a:r>
              <a:rPr lang="en-US" dirty="0">
                <a:solidFill>
                  <a:schemeClr val="bg2">
                    <a:lumMod val="50000"/>
                  </a:schemeClr>
                </a:solidFill>
              </a:rPr>
              <a:t>Above 30.0 Hz</a:t>
            </a:r>
            <a:endParaRPr lang="en-GH" dirty="0">
              <a:solidFill>
                <a:schemeClr val="bg2">
                  <a:lumMod val="50000"/>
                </a:schemeClr>
              </a:solidFill>
            </a:endParaRPr>
          </a:p>
        </p:txBody>
      </p:sp>
    </p:spTree>
    <p:extLst>
      <p:ext uri="{BB962C8B-B14F-4D97-AF65-F5344CB8AC3E}">
        <p14:creationId xmlns:p14="http://schemas.microsoft.com/office/powerpoint/2010/main" val="3394364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32A46"/>
        </a:solidFill>
        <a:effectLst/>
      </p:bgPr>
    </p:bg>
    <p:spTree>
      <p:nvGrpSpPr>
        <p:cNvPr id="1" name="">
          <a:extLst>
            <a:ext uri="{FF2B5EF4-FFF2-40B4-BE49-F238E27FC236}">
              <a16:creationId xmlns:a16="http://schemas.microsoft.com/office/drawing/2014/main" id="{DF6ACD28-47E5-4B7A-1A93-E7E4EE0B8AC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FCC4F25-E1AA-6675-8838-52D801EC46BB}"/>
              </a:ext>
            </a:extLst>
          </p:cNvPr>
          <p:cNvSpPr/>
          <p:nvPr/>
        </p:nvSpPr>
        <p:spPr>
          <a:xfrm>
            <a:off x="9875520" y="4206240"/>
            <a:ext cx="3840480" cy="3840480"/>
          </a:xfrm>
          <a:prstGeom prst="ellipse">
            <a:avLst/>
          </a:prstGeom>
          <a:solidFill>
            <a:srgbClr val="1B3A5C"/>
          </a:solidFill>
          <a:ln/>
        </p:spPr>
        <p:txBody>
          <a:bodyPr/>
          <a:lstStyle/>
          <a:p>
            <a:endParaRPr lang="en-GH"/>
          </a:p>
        </p:txBody>
      </p:sp>
      <p:sp>
        <p:nvSpPr>
          <p:cNvPr id="3" name="Text 1">
            <a:extLst>
              <a:ext uri="{FF2B5EF4-FFF2-40B4-BE49-F238E27FC236}">
                <a16:creationId xmlns:a16="http://schemas.microsoft.com/office/drawing/2014/main" id="{30C1FC4E-1BAF-A8F4-A8FA-8DFFD6F22091}"/>
              </a:ext>
            </a:extLst>
          </p:cNvPr>
          <p:cNvSpPr/>
          <p:nvPr/>
        </p:nvSpPr>
        <p:spPr>
          <a:xfrm>
            <a:off x="822960" y="2331720"/>
            <a:ext cx="4572000" cy="320040"/>
          </a:xfrm>
          <a:prstGeom prst="rect">
            <a:avLst/>
          </a:prstGeom>
          <a:noFill/>
          <a:ln/>
        </p:spPr>
        <p:txBody>
          <a:bodyPr wrap="square" rtlCol="0" anchor="ctr"/>
          <a:lstStyle/>
          <a:p>
            <a:pPr marL="0" indent="0">
              <a:buNone/>
            </a:pPr>
            <a:r>
              <a:rPr lang="en-US" sz="1200" b="1" kern="0" spc="200" dirty="0">
                <a:solidFill>
                  <a:srgbClr val="F2A541"/>
                </a:solidFill>
                <a:latin typeface="Calibri" pitchFamily="34" charset="0"/>
                <a:ea typeface="Calibri" pitchFamily="34" charset="-122"/>
                <a:cs typeface="Calibri" pitchFamily="34" charset="-120"/>
              </a:rPr>
              <a:t>PART A · 20 MIN</a:t>
            </a:r>
            <a:endParaRPr lang="en-US" sz="1200" dirty="0"/>
          </a:p>
        </p:txBody>
      </p:sp>
      <p:sp>
        <p:nvSpPr>
          <p:cNvPr id="4" name="Text 2">
            <a:extLst>
              <a:ext uri="{FF2B5EF4-FFF2-40B4-BE49-F238E27FC236}">
                <a16:creationId xmlns:a16="http://schemas.microsoft.com/office/drawing/2014/main" id="{3E9148B7-24BB-D1E3-AAD2-47045A27F55B}"/>
              </a:ext>
            </a:extLst>
          </p:cNvPr>
          <p:cNvSpPr/>
          <p:nvPr/>
        </p:nvSpPr>
        <p:spPr>
          <a:xfrm>
            <a:off x="822960" y="2697480"/>
            <a:ext cx="100584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Why Filter?</a:t>
            </a:r>
            <a:endParaRPr lang="en-US" sz="4000" dirty="0"/>
          </a:p>
        </p:txBody>
      </p:sp>
      <p:sp>
        <p:nvSpPr>
          <p:cNvPr id="5" name="Text 3">
            <a:extLst>
              <a:ext uri="{FF2B5EF4-FFF2-40B4-BE49-F238E27FC236}">
                <a16:creationId xmlns:a16="http://schemas.microsoft.com/office/drawing/2014/main" id="{132C077A-E90C-B5D9-55CE-02A663A0FB47}"/>
              </a:ext>
            </a:extLst>
          </p:cNvPr>
          <p:cNvSpPr/>
          <p:nvPr/>
        </p:nvSpPr>
        <p:spPr>
          <a:xfrm>
            <a:off x="822960" y="3703320"/>
            <a:ext cx="96012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EEG carries a wide range of frequencies — not all of it is signal.</a:t>
            </a:r>
            <a:endParaRPr lang="en-US" sz="1600" dirty="0"/>
          </a:p>
        </p:txBody>
      </p:sp>
    </p:spTree>
    <p:extLst>
      <p:ext uri="{BB962C8B-B14F-4D97-AF65-F5344CB8AC3E}">
        <p14:creationId xmlns:p14="http://schemas.microsoft.com/office/powerpoint/2010/main" val="3235848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8C60534-7993-1B78-DE2A-22B1169750B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03FC079-542E-E167-FF2D-6C2BA0862AE2}"/>
              </a:ext>
            </a:extLst>
          </p:cNvPr>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THE FREQUENCY LANDSCAPE</a:t>
            </a:r>
            <a:endParaRPr lang="en-US" sz="1200" dirty="0"/>
          </a:p>
        </p:txBody>
      </p:sp>
      <p:sp>
        <p:nvSpPr>
          <p:cNvPr id="3" name="Shape 1">
            <a:extLst>
              <a:ext uri="{FF2B5EF4-FFF2-40B4-BE49-F238E27FC236}">
                <a16:creationId xmlns:a16="http://schemas.microsoft.com/office/drawing/2014/main" id="{4ED9A90C-BC81-8112-CA0C-21BDE25783B1}"/>
              </a:ext>
            </a:extLst>
          </p:cNvPr>
          <p:cNvSpPr/>
          <p:nvPr/>
        </p:nvSpPr>
        <p:spPr>
          <a:xfrm>
            <a:off x="548640" y="786384"/>
            <a:ext cx="640080" cy="640080"/>
          </a:xfrm>
          <a:prstGeom prst="ellipse">
            <a:avLst/>
          </a:prstGeom>
          <a:solidFill>
            <a:srgbClr val="1C7293"/>
          </a:solidFill>
          <a:ln/>
        </p:spPr>
        <p:txBody>
          <a:bodyPr/>
          <a:lstStyle/>
          <a:p>
            <a:endParaRPr lang="en-GH"/>
          </a:p>
        </p:txBody>
      </p:sp>
      <p:pic>
        <p:nvPicPr>
          <p:cNvPr id="4" name="Image 0" descr="/home/claude/icons/barchart.png">
            <a:extLst>
              <a:ext uri="{FF2B5EF4-FFF2-40B4-BE49-F238E27FC236}">
                <a16:creationId xmlns:a16="http://schemas.microsoft.com/office/drawing/2014/main" id="{75FDC49D-1B3E-DB4C-B8FB-0CBEFF363056}"/>
              </a:ext>
            </a:extLst>
          </p:cNvPr>
          <p:cNvPicPr>
            <a:picLocks noChangeAspect="1"/>
          </p:cNvPicPr>
          <p:nvPr/>
        </p:nvPicPr>
        <p:blipFill>
          <a:blip r:embed="rId3"/>
          <a:stretch>
            <a:fillRect/>
          </a:stretch>
        </p:blipFill>
        <p:spPr>
          <a:xfrm>
            <a:off x="702259" y="940003"/>
            <a:ext cx="332842" cy="332842"/>
          </a:xfrm>
          <a:prstGeom prst="rect">
            <a:avLst/>
          </a:prstGeom>
        </p:spPr>
      </p:pic>
      <p:sp>
        <p:nvSpPr>
          <p:cNvPr id="5" name="Text 2">
            <a:extLst>
              <a:ext uri="{FF2B5EF4-FFF2-40B4-BE49-F238E27FC236}">
                <a16:creationId xmlns:a16="http://schemas.microsoft.com/office/drawing/2014/main" id="{D64F57A8-28DA-505A-2701-A8B2930A57B6}"/>
              </a:ext>
            </a:extLst>
          </p:cNvPr>
          <p:cNvSpPr/>
          <p:nvPr/>
        </p:nvSpPr>
        <p:spPr>
          <a:xfrm>
            <a:off x="1371600" y="786384"/>
            <a:ext cx="9784080" cy="594360"/>
          </a:xfrm>
          <a:prstGeom prst="rect">
            <a:avLst/>
          </a:prstGeom>
          <a:noFill/>
          <a:ln/>
        </p:spPr>
        <p:txBody>
          <a:bodyPr wrap="square" lIns="0" tIns="0" rIns="0" bIns="0" rtlCol="0" anchor="ctr"/>
          <a:lstStyle/>
          <a:p>
            <a:pPr marL="0" indent="0">
              <a:buNone/>
            </a:pPr>
            <a:r>
              <a:rPr lang="en-US" sz="2300" b="1" dirty="0">
                <a:solidFill>
                  <a:srgbClr val="1B2733"/>
                </a:solidFill>
                <a:latin typeface="Cambria" pitchFamily="34" charset="0"/>
                <a:ea typeface="Cambria" pitchFamily="34" charset="-122"/>
                <a:cs typeface="Cambria" pitchFamily="34" charset="-120"/>
              </a:rPr>
              <a:t>Most of What We Want Lives in 0.1–100 Hz</a:t>
            </a:r>
            <a:endParaRPr lang="en-US" sz="2300" dirty="0"/>
          </a:p>
        </p:txBody>
      </p:sp>
      <p:sp>
        <p:nvSpPr>
          <p:cNvPr id="6" name="Text 3">
            <a:extLst>
              <a:ext uri="{FF2B5EF4-FFF2-40B4-BE49-F238E27FC236}">
                <a16:creationId xmlns:a16="http://schemas.microsoft.com/office/drawing/2014/main" id="{5B7FE745-1A34-FEA8-9EE0-DA19056B9EB2}"/>
              </a:ext>
            </a:extLst>
          </p:cNvPr>
          <p:cNvSpPr/>
          <p:nvPr/>
        </p:nvSpPr>
        <p:spPr>
          <a:xfrm>
            <a:off x="548640" y="1737360"/>
            <a:ext cx="5852160" cy="32004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The idea</a:t>
            </a:r>
            <a:endParaRPr lang="en-US" sz="1300" dirty="0"/>
          </a:p>
        </p:txBody>
      </p:sp>
      <p:sp>
        <p:nvSpPr>
          <p:cNvPr id="7" name="Text 4">
            <a:extLst>
              <a:ext uri="{FF2B5EF4-FFF2-40B4-BE49-F238E27FC236}">
                <a16:creationId xmlns:a16="http://schemas.microsoft.com/office/drawing/2014/main" id="{5A3353F1-898E-7AEA-8F71-F8BDFED4D542}"/>
              </a:ext>
            </a:extLst>
          </p:cNvPr>
          <p:cNvSpPr/>
          <p:nvPr/>
        </p:nvSpPr>
        <p:spPr>
          <a:xfrm>
            <a:off x="548640" y="2057400"/>
            <a:ext cx="5852160" cy="1005840"/>
          </a:xfrm>
          <a:prstGeom prst="rect">
            <a:avLst/>
          </a:prstGeom>
          <a:noFill/>
          <a:ln/>
        </p:spPr>
        <p:txBody>
          <a:bodyPr wrap="square" lIns="0" tIns="0" rIns="0" bIns="0" rtlCol="0" anchor="ctr"/>
          <a:lstStyle/>
          <a:p>
            <a:pPr marL="0" indent="0">
              <a:buNone/>
            </a:pPr>
            <a:r>
              <a:rPr lang="en-US" sz="1450" dirty="0">
                <a:solidFill>
                  <a:srgbClr val="1B2733"/>
                </a:solidFill>
                <a:latin typeface="Calibri" pitchFamily="34" charset="0"/>
                <a:ea typeface="Calibri" pitchFamily="34" charset="-122"/>
                <a:cs typeface="Calibri" pitchFamily="34" charset="-120"/>
              </a:rPr>
              <a:t>EEG recordings contain everything from slow drifts near 0 Hz to high-frequency noise well above 100 Hz. Filters remove the frequencies we don’t want while preserving the ones we do.</a:t>
            </a:r>
            <a:endParaRPr lang="en-US" sz="1450" dirty="0"/>
          </a:p>
        </p:txBody>
      </p:sp>
      <p:sp>
        <p:nvSpPr>
          <p:cNvPr id="8" name="Text 5">
            <a:extLst>
              <a:ext uri="{FF2B5EF4-FFF2-40B4-BE49-F238E27FC236}">
                <a16:creationId xmlns:a16="http://schemas.microsoft.com/office/drawing/2014/main" id="{F5E8A64A-8E4F-B970-2AB6-93F287851097}"/>
              </a:ext>
            </a:extLst>
          </p:cNvPr>
          <p:cNvSpPr/>
          <p:nvPr/>
        </p:nvSpPr>
        <p:spPr>
          <a:xfrm>
            <a:off x="548640" y="4034588"/>
            <a:ext cx="5852160" cy="32004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Why it matters</a:t>
            </a:r>
            <a:endParaRPr lang="en-US" sz="1300" dirty="0"/>
          </a:p>
        </p:txBody>
      </p:sp>
      <p:sp>
        <p:nvSpPr>
          <p:cNvPr id="9" name="Text 6">
            <a:extLst>
              <a:ext uri="{FF2B5EF4-FFF2-40B4-BE49-F238E27FC236}">
                <a16:creationId xmlns:a16="http://schemas.microsoft.com/office/drawing/2014/main" id="{36EBB875-6CD4-6A7D-E99C-58E3439C88E5}"/>
              </a:ext>
            </a:extLst>
          </p:cNvPr>
          <p:cNvSpPr/>
          <p:nvPr/>
        </p:nvSpPr>
        <p:spPr>
          <a:xfrm>
            <a:off x="548640" y="4354628"/>
            <a:ext cx="5852160" cy="1005840"/>
          </a:xfrm>
          <a:prstGeom prst="rect">
            <a:avLst/>
          </a:prstGeom>
          <a:noFill/>
          <a:ln/>
        </p:spPr>
        <p:txBody>
          <a:bodyPr wrap="square" lIns="0" tIns="0" rIns="0" bIns="0" rtlCol="0" anchor="ctr"/>
          <a:lstStyle/>
          <a:p>
            <a:pPr marL="0" indent="0">
              <a:buNone/>
            </a:pPr>
            <a:r>
              <a:rPr lang="en-US" sz="1450" dirty="0">
                <a:solidFill>
                  <a:srgbClr val="1B2733"/>
                </a:solidFill>
                <a:latin typeface="Calibri" pitchFamily="34" charset="0"/>
                <a:ea typeface="Calibri" pitchFamily="34" charset="-122"/>
                <a:cs typeface="Calibri" pitchFamily="34" charset="-120"/>
              </a:rPr>
              <a:t>Slow drifts can hide true baseline shifts; high-frequency noise can obscure genuine neural rhythms and cause aliasing. Filtering trades some information for a cleaner, more analyzable signal.</a:t>
            </a:r>
            <a:endParaRPr lang="en-US" sz="1450" dirty="0"/>
          </a:p>
        </p:txBody>
      </p:sp>
      <p:sp>
        <p:nvSpPr>
          <p:cNvPr id="10" name="Shape 7">
            <a:extLst>
              <a:ext uri="{FF2B5EF4-FFF2-40B4-BE49-F238E27FC236}">
                <a16:creationId xmlns:a16="http://schemas.microsoft.com/office/drawing/2014/main" id="{875D1013-A491-047D-4F36-430CA27234E6}"/>
              </a:ext>
            </a:extLst>
          </p:cNvPr>
          <p:cNvSpPr/>
          <p:nvPr/>
        </p:nvSpPr>
        <p:spPr>
          <a:xfrm>
            <a:off x="6858000" y="1691640"/>
            <a:ext cx="4754880" cy="4114800"/>
          </a:xfrm>
          <a:prstGeom prst="roundRect">
            <a:avLst>
              <a:gd name="adj" fmla="val 2667"/>
            </a:avLst>
          </a:prstGeom>
          <a:solidFill>
            <a:srgbClr val="E7F2F8"/>
          </a:solidFill>
          <a:ln/>
        </p:spPr>
        <p:txBody>
          <a:bodyPr/>
          <a:lstStyle/>
          <a:p>
            <a:endParaRPr lang="en-GH"/>
          </a:p>
        </p:txBody>
      </p:sp>
      <p:sp>
        <p:nvSpPr>
          <p:cNvPr id="11" name="Text 8">
            <a:extLst>
              <a:ext uri="{FF2B5EF4-FFF2-40B4-BE49-F238E27FC236}">
                <a16:creationId xmlns:a16="http://schemas.microsoft.com/office/drawing/2014/main" id="{F3FDD769-7DAB-075A-5E05-1646B73D8FE3}"/>
              </a:ext>
            </a:extLst>
          </p:cNvPr>
          <p:cNvSpPr/>
          <p:nvPr/>
        </p:nvSpPr>
        <p:spPr>
          <a:xfrm>
            <a:off x="7132320" y="1874520"/>
            <a:ext cx="4206240" cy="274320"/>
          </a:xfrm>
          <a:prstGeom prst="rect">
            <a:avLst/>
          </a:prstGeom>
          <a:noFill/>
          <a:ln/>
        </p:spPr>
        <p:txBody>
          <a:bodyPr wrap="square" lIns="0" tIns="0" rIns="0" bIns="0" rtlCol="0" anchor="ctr"/>
          <a:lstStyle/>
          <a:p>
            <a:pPr marL="0" indent="0">
              <a:buNone/>
            </a:pPr>
            <a:r>
              <a:rPr lang="en-US" sz="1100" i="1" dirty="0">
                <a:solidFill>
                  <a:srgbClr val="5B6B7A"/>
                </a:solidFill>
                <a:latin typeface="Calibri" pitchFamily="34" charset="0"/>
                <a:ea typeface="Calibri" pitchFamily="34" charset="-122"/>
                <a:cs typeface="Calibri" pitchFamily="34" charset="-120"/>
              </a:rPr>
              <a:t>Typical raw EEG power spectrum</a:t>
            </a:r>
            <a:endParaRPr lang="en-US" sz="1100" dirty="0"/>
          </a:p>
        </p:txBody>
      </p:sp>
      <p:graphicFrame>
        <p:nvGraphicFramePr>
          <p:cNvPr id="12" name="Chart 0">
            <a:extLst>
              <a:ext uri="{FF2B5EF4-FFF2-40B4-BE49-F238E27FC236}">
                <a16:creationId xmlns:a16="http://schemas.microsoft.com/office/drawing/2014/main" id="{207766CD-23CD-E383-F820-8A8A8162D612}"/>
              </a:ext>
            </a:extLst>
          </p:cNvPr>
          <p:cNvGraphicFramePr/>
          <p:nvPr/>
        </p:nvGraphicFramePr>
        <p:xfrm>
          <a:off x="7086600" y="2194560"/>
          <a:ext cx="425196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 9">
            <a:extLst>
              <a:ext uri="{FF2B5EF4-FFF2-40B4-BE49-F238E27FC236}">
                <a16:creationId xmlns:a16="http://schemas.microsoft.com/office/drawing/2014/main" id="{060F3246-0DEC-B576-9885-5103FE15D1A1}"/>
              </a:ext>
            </a:extLst>
          </p:cNvPr>
          <p:cNvSpPr/>
          <p:nvPr/>
        </p:nvSpPr>
        <p:spPr>
          <a:xfrm>
            <a:off x="7086600" y="5138928"/>
            <a:ext cx="2125980" cy="274320"/>
          </a:xfrm>
          <a:prstGeom prst="rect">
            <a:avLst/>
          </a:prstGeom>
          <a:noFill/>
          <a:ln/>
        </p:spPr>
        <p:txBody>
          <a:bodyPr wrap="square" lIns="0" tIns="0" rIns="0" bIns="0" rtlCol="0" anchor="ctr"/>
          <a:lstStyle/>
          <a:p>
            <a:pPr marL="0" indent="0">
              <a:buNone/>
            </a:pPr>
            <a:r>
              <a:rPr lang="en-US" sz="1050" i="1" dirty="0">
                <a:solidFill>
                  <a:srgbClr val="5B6B7A"/>
                </a:solidFill>
                <a:latin typeface="Calibri" pitchFamily="34" charset="0"/>
                <a:ea typeface="Calibri" pitchFamily="34" charset="-122"/>
                <a:cs typeface="Calibri" pitchFamily="34" charset="-120"/>
              </a:rPr>
              <a:t>0 Hz</a:t>
            </a:r>
            <a:endParaRPr lang="en-US" sz="1050" dirty="0"/>
          </a:p>
        </p:txBody>
      </p:sp>
      <p:sp>
        <p:nvSpPr>
          <p:cNvPr id="14" name="Text 10">
            <a:extLst>
              <a:ext uri="{FF2B5EF4-FFF2-40B4-BE49-F238E27FC236}">
                <a16:creationId xmlns:a16="http://schemas.microsoft.com/office/drawing/2014/main" id="{CFE69CC4-C7DD-077E-06DD-06FC18DD0C05}"/>
              </a:ext>
            </a:extLst>
          </p:cNvPr>
          <p:cNvSpPr/>
          <p:nvPr/>
        </p:nvSpPr>
        <p:spPr>
          <a:xfrm>
            <a:off x="9212580" y="5138928"/>
            <a:ext cx="2125980" cy="274320"/>
          </a:xfrm>
          <a:prstGeom prst="rect">
            <a:avLst/>
          </a:prstGeom>
          <a:noFill/>
          <a:ln/>
        </p:spPr>
        <p:txBody>
          <a:bodyPr wrap="square" lIns="0" tIns="0" rIns="0" bIns="0" rtlCol="0" anchor="ctr"/>
          <a:lstStyle/>
          <a:p>
            <a:pPr marL="0" indent="0" algn="r">
              <a:buNone/>
            </a:pPr>
            <a:r>
              <a:rPr lang="en-US" sz="1050" i="1" dirty="0">
                <a:solidFill>
                  <a:srgbClr val="5B6B7A"/>
                </a:solidFill>
                <a:latin typeface="Calibri" pitchFamily="34" charset="0"/>
                <a:ea typeface="Calibri" pitchFamily="34" charset="-122"/>
                <a:cs typeface="Calibri" pitchFamily="34" charset="-120"/>
              </a:rPr>
              <a:t>100 Hz</a:t>
            </a:r>
            <a:endParaRPr lang="en-US" sz="1050" dirty="0"/>
          </a:p>
        </p:txBody>
      </p:sp>
      <p:sp>
        <p:nvSpPr>
          <p:cNvPr id="15" name="Text 11">
            <a:extLst>
              <a:ext uri="{FF2B5EF4-FFF2-40B4-BE49-F238E27FC236}">
                <a16:creationId xmlns:a16="http://schemas.microsoft.com/office/drawing/2014/main" id="{381132E1-1590-2FAE-87F1-4D4E33BAEFF9}"/>
              </a:ext>
            </a:extLst>
          </p:cNvPr>
          <p:cNvSpPr/>
          <p:nvPr/>
        </p:nvSpPr>
        <p:spPr>
          <a:xfrm>
            <a:off x="7086600" y="5440680"/>
            <a:ext cx="4251960" cy="274320"/>
          </a:xfrm>
          <a:prstGeom prst="rect">
            <a:avLst/>
          </a:prstGeom>
          <a:noFill/>
          <a:ln/>
        </p:spPr>
        <p:txBody>
          <a:bodyPr wrap="square" lIns="0" tIns="0" rIns="0" bIns="0" rtlCol="0" anchor="ctr"/>
          <a:lstStyle/>
          <a:p>
            <a:pPr marL="0" indent="0">
              <a:buNone/>
            </a:pPr>
            <a:r>
              <a:rPr lang="en-US" sz="1050" i="1" dirty="0">
                <a:solidFill>
                  <a:srgbClr val="5B6B7A"/>
                </a:solidFill>
                <a:latin typeface="Calibri" pitchFamily="34" charset="0"/>
                <a:ea typeface="Calibri" pitchFamily="34" charset="-122"/>
                <a:cs typeface="Calibri" pitchFamily="34" charset="-120"/>
              </a:rPr>
              <a:t>Sharp peak near the middle = line noise (50/60 Hz)</a:t>
            </a:r>
            <a:endParaRPr lang="en-US" sz="1050" dirty="0"/>
          </a:p>
        </p:txBody>
      </p:sp>
      <p:sp>
        <p:nvSpPr>
          <p:cNvPr id="16" name="Text 12">
            <a:extLst>
              <a:ext uri="{FF2B5EF4-FFF2-40B4-BE49-F238E27FC236}">
                <a16:creationId xmlns:a16="http://schemas.microsoft.com/office/drawing/2014/main" id="{26E28C04-C343-5D1F-2DE0-8EB189AC96E1}"/>
              </a:ext>
            </a:extLst>
          </p:cNvPr>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A · Why Filter?</a:t>
            </a:r>
            <a:endParaRPr lang="en-US" sz="1000" dirty="0"/>
          </a:p>
        </p:txBody>
      </p:sp>
      <p:sp>
        <p:nvSpPr>
          <p:cNvPr id="17" name="Text 13">
            <a:extLst>
              <a:ext uri="{FF2B5EF4-FFF2-40B4-BE49-F238E27FC236}">
                <a16:creationId xmlns:a16="http://schemas.microsoft.com/office/drawing/2014/main" id="{83D37031-8788-FF36-16B6-FED6B96D94C4}"/>
              </a:ext>
            </a:extLst>
          </p:cNvPr>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spTree>
    <p:extLst>
      <p:ext uri="{BB962C8B-B14F-4D97-AF65-F5344CB8AC3E}">
        <p14:creationId xmlns:p14="http://schemas.microsoft.com/office/powerpoint/2010/main" val="1083217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FILTER PARAMETERS</a:t>
            </a:r>
            <a:endParaRPr lang="en-US" sz="1200" dirty="0"/>
          </a:p>
        </p:txBody>
      </p:sp>
      <p:sp>
        <p:nvSpPr>
          <p:cNvPr id="3" name="Shape 1"/>
          <p:cNvSpPr/>
          <p:nvPr/>
        </p:nvSpPr>
        <p:spPr>
          <a:xfrm>
            <a:off x="548640" y="786384"/>
            <a:ext cx="640080" cy="640080"/>
          </a:xfrm>
          <a:prstGeom prst="ellipse">
            <a:avLst/>
          </a:prstGeom>
          <a:solidFill>
            <a:srgbClr val="1C7293"/>
          </a:solidFill>
          <a:ln/>
        </p:spPr>
        <p:txBody>
          <a:bodyPr/>
          <a:lstStyle/>
          <a:p>
            <a:endParaRPr lang="en-GH"/>
          </a:p>
        </p:txBody>
      </p:sp>
      <p:pic>
        <p:nvPicPr>
          <p:cNvPr id="4" name="Image 0" descr="/home/claude/icons/sliders.png"/>
          <p:cNvPicPr>
            <a:picLocks noChangeAspect="1"/>
          </p:cNvPicPr>
          <p:nvPr/>
        </p:nvPicPr>
        <p:blipFill>
          <a:blip r:embed="rId3"/>
          <a:stretch>
            <a:fillRect/>
          </a:stretch>
        </p:blipFill>
        <p:spPr>
          <a:xfrm>
            <a:off x="702259" y="940003"/>
            <a:ext cx="332842" cy="332842"/>
          </a:xfrm>
          <a:prstGeom prst="rect">
            <a:avLst/>
          </a:prstGeom>
        </p:spPr>
      </p:pic>
      <p:sp>
        <p:nvSpPr>
          <p:cNvPr id="5" name="Text 2"/>
          <p:cNvSpPr/>
          <p:nvPr/>
        </p:nvSpPr>
        <p:spPr>
          <a:xfrm>
            <a:off x="1371600" y="786384"/>
            <a:ext cx="9601200" cy="594360"/>
          </a:xfrm>
          <a:prstGeom prst="rect">
            <a:avLst/>
          </a:prstGeom>
          <a:noFill/>
          <a:ln/>
        </p:spPr>
        <p:txBody>
          <a:bodyPr wrap="square" lIns="0" tIns="0" rIns="0" bIns="0" rtlCol="0" anchor="ctr"/>
          <a:lstStyle/>
          <a:p>
            <a:pPr marL="0" indent="0">
              <a:buNone/>
            </a:pPr>
            <a:r>
              <a:rPr lang="en-US" sz="2300" b="1" dirty="0">
                <a:solidFill>
                  <a:srgbClr val="1B2733"/>
                </a:solidFill>
                <a:latin typeface="Cambria" pitchFamily="34" charset="0"/>
                <a:ea typeface="Cambria" pitchFamily="34" charset="-122"/>
                <a:cs typeface="Cambria" pitchFamily="34" charset="-120"/>
              </a:rPr>
              <a:t>Three Knobs That Define a Filter</a:t>
            </a:r>
            <a:endParaRPr lang="en-US" sz="2300" dirty="0"/>
          </a:p>
        </p:txBody>
      </p:sp>
      <p:sp>
        <p:nvSpPr>
          <p:cNvPr id="6" name="Shape 3"/>
          <p:cNvSpPr/>
          <p:nvPr/>
        </p:nvSpPr>
        <p:spPr>
          <a:xfrm>
            <a:off x="548640" y="1874520"/>
            <a:ext cx="11064240" cy="1234440"/>
          </a:xfrm>
          <a:prstGeom prst="roundRect">
            <a:avLst>
              <a:gd name="adj" fmla="val 7407"/>
            </a:avLst>
          </a:prstGeom>
          <a:solidFill>
            <a:srgbClr val="E7F2F8"/>
          </a:solidFill>
          <a:ln/>
        </p:spPr>
        <p:txBody>
          <a:bodyPr/>
          <a:lstStyle/>
          <a:p>
            <a:endParaRPr lang="en-GH"/>
          </a:p>
        </p:txBody>
      </p:sp>
      <p:sp>
        <p:nvSpPr>
          <p:cNvPr id="7" name="Text 4"/>
          <p:cNvSpPr/>
          <p:nvPr/>
        </p:nvSpPr>
        <p:spPr>
          <a:xfrm>
            <a:off x="822960" y="2167128"/>
            <a:ext cx="822960" cy="640080"/>
          </a:xfrm>
          <a:prstGeom prst="rect">
            <a:avLst/>
          </a:prstGeom>
          <a:noFill/>
          <a:ln/>
        </p:spPr>
        <p:txBody>
          <a:bodyPr wrap="square" lIns="0" tIns="0" rIns="0" bIns="0" rtlCol="0" anchor="ctr"/>
          <a:lstStyle/>
          <a:p>
            <a:pPr marL="0" indent="0">
              <a:buNone/>
            </a:pPr>
            <a:r>
              <a:rPr lang="en-US" sz="2600" b="1" dirty="0">
                <a:solidFill>
                  <a:srgbClr val="1C7293"/>
                </a:solidFill>
                <a:latin typeface="Cambria" pitchFamily="34" charset="0"/>
                <a:ea typeface="Cambria" pitchFamily="34" charset="-122"/>
                <a:cs typeface="Cambria" pitchFamily="34" charset="-120"/>
              </a:rPr>
              <a:t>01</a:t>
            </a:r>
            <a:endParaRPr lang="en-US" sz="2600" dirty="0"/>
          </a:p>
        </p:txBody>
      </p:sp>
      <p:sp>
        <p:nvSpPr>
          <p:cNvPr id="8" name="Text 5"/>
          <p:cNvSpPr/>
          <p:nvPr/>
        </p:nvSpPr>
        <p:spPr>
          <a:xfrm>
            <a:off x="1920240" y="2039112"/>
            <a:ext cx="9052560" cy="365760"/>
          </a:xfrm>
          <a:prstGeom prst="rect">
            <a:avLst/>
          </a:prstGeom>
          <a:noFill/>
          <a:ln/>
        </p:spPr>
        <p:txBody>
          <a:bodyPr wrap="square" lIns="0" tIns="0" rIns="0" bIns="0" rtlCol="0" anchor="ctr"/>
          <a:lstStyle/>
          <a:p>
            <a:pPr marL="0" indent="0">
              <a:buNone/>
            </a:pPr>
            <a:r>
              <a:rPr lang="en-US" sz="1550" b="1" dirty="0">
                <a:solidFill>
                  <a:srgbClr val="1B2733"/>
                </a:solidFill>
                <a:latin typeface="Calibri" pitchFamily="34" charset="0"/>
                <a:ea typeface="Calibri" pitchFamily="34" charset="-122"/>
                <a:cs typeface="Calibri" pitchFamily="34" charset="-120"/>
              </a:rPr>
              <a:t>Cutoff frequency</a:t>
            </a:r>
            <a:endParaRPr lang="en-US" sz="1550" dirty="0"/>
          </a:p>
        </p:txBody>
      </p:sp>
      <p:sp>
        <p:nvSpPr>
          <p:cNvPr id="9" name="Text 6"/>
          <p:cNvSpPr/>
          <p:nvPr/>
        </p:nvSpPr>
        <p:spPr>
          <a:xfrm>
            <a:off x="1920240" y="2404872"/>
            <a:ext cx="9052560" cy="640080"/>
          </a:xfrm>
          <a:prstGeom prst="rect">
            <a:avLst/>
          </a:prstGeom>
          <a:noFill/>
          <a:ln/>
        </p:spPr>
        <p:txBody>
          <a:bodyPr wrap="square" lIns="0" tIns="0" rIns="0" bIns="0" rtlCol="0" anchor="ctr"/>
          <a:lstStyle/>
          <a:p>
            <a:pPr marL="0" indent="0">
              <a:buNone/>
            </a:pPr>
            <a:r>
              <a:rPr lang="en-US" sz="1300" dirty="0">
                <a:solidFill>
                  <a:srgbClr val="5B6B7A"/>
                </a:solidFill>
                <a:latin typeface="Calibri" pitchFamily="34" charset="0"/>
                <a:ea typeface="Calibri" pitchFamily="34" charset="-122"/>
                <a:cs typeface="Calibri" pitchFamily="34" charset="-120"/>
              </a:rPr>
              <a:t>The frequency at which the filter begins attenuating the signal — the boundary between "kept" and "removed."</a:t>
            </a:r>
            <a:endParaRPr lang="en-US" sz="1300" dirty="0"/>
          </a:p>
        </p:txBody>
      </p:sp>
      <p:sp>
        <p:nvSpPr>
          <p:cNvPr id="10" name="Shape 7"/>
          <p:cNvSpPr/>
          <p:nvPr/>
        </p:nvSpPr>
        <p:spPr>
          <a:xfrm>
            <a:off x="548640" y="3291840"/>
            <a:ext cx="11064240" cy="1234440"/>
          </a:xfrm>
          <a:prstGeom prst="roundRect">
            <a:avLst>
              <a:gd name="adj" fmla="val 7407"/>
            </a:avLst>
          </a:prstGeom>
          <a:solidFill>
            <a:srgbClr val="FFFFFF"/>
          </a:solidFill>
          <a:ln w="12700">
            <a:solidFill>
              <a:srgbClr val="E3ECF2"/>
            </a:solidFill>
            <a:prstDash val="solid"/>
          </a:ln>
        </p:spPr>
        <p:txBody>
          <a:bodyPr/>
          <a:lstStyle/>
          <a:p>
            <a:endParaRPr lang="en-GH"/>
          </a:p>
        </p:txBody>
      </p:sp>
      <p:sp>
        <p:nvSpPr>
          <p:cNvPr id="11" name="Text 8"/>
          <p:cNvSpPr/>
          <p:nvPr/>
        </p:nvSpPr>
        <p:spPr>
          <a:xfrm>
            <a:off x="822960" y="3584448"/>
            <a:ext cx="822960" cy="640080"/>
          </a:xfrm>
          <a:prstGeom prst="rect">
            <a:avLst/>
          </a:prstGeom>
          <a:noFill/>
          <a:ln/>
        </p:spPr>
        <p:txBody>
          <a:bodyPr wrap="square" lIns="0" tIns="0" rIns="0" bIns="0" rtlCol="0" anchor="ctr"/>
          <a:lstStyle/>
          <a:p>
            <a:pPr marL="0" indent="0">
              <a:buNone/>
            </a:pPr>
            <a:r>
              <a:rPr lang="en-US" sz="2600" b="1" dirty="0">
                <a:solidFill>
                  <a:srgbClr val="1C7293"/>
                </a:solidFill>
                <a:latin typeface="Cambria" pitchFamily="34" charset="0"/>
                <a:ea typeface="Cambria" pitchFamily="34" charset="-122"/>
                <a:cs typeface="Cambria" pitchFamily="34" charset="-120"/>
              </a:rPr>
              <a:t>02</a:t>
            </a:r>
            <a:endParaRPr lang="en-US" sz="2600" dirty="0"/>
          </a:p>
        </p:txBody>
      </p:sp>
      <p:sp>
        <p:nvSpPr>
          <p:cNvPr id="12" name="Text 9"/>
          <p:cNvSpPr/>
          <p:nvPr/>
        </p:nvSpPr>
        <p:spPr>
          <a:xfrm>
            <a:off x="1920240" y="3456432"/>
            <a:ext cx="9052560" cy="365760"/>
          </a:xfrm>
          <a:prstGeom prst="rect">
            <a:avLst/>
          </a:prstGeom>
          <a:noFill/>
          <a:ln/>
        </p:spPr>
        <p:txBody>
          <a:bodyPr wrap="square" lIns="0" tIns="0" rIns="0" bIns="0" rtlCol="0" anchor="ctr"/>
          <a:lstStyle/>
          <a:p>
            <a:pPr marL="0" indent="0">
              <a:buNone/>
            </a:pPr>
            <a:r>
              <a:rPr lang="en-US" sz="1550" b="1" dirty="0">
                <a:solidFill>
                  <a:srgbClr val="1B2733"/>
                </a:solidFill>
                <a:latin typeface="Calibri" pitchFamily="34" charset="0"/>
                <a:ea typeface="Calibri" pitchFamily="34" charset="-122"/>
                <a:cs typeface="Calibri" pitchFamily="34" charset="-120"/>
              </a:rPr>
              <a:t>Filter order</a:t>
            </a:r>
            <a:endParaRPr lang="en-US" sz="1550" dirty="0"/>
          </a:p>
        </p:txBody>
      </p:sp>
      <p:sp>
        <p:nvSpPr>
          <p:cNvPr id="13" name="Text 10"/>
          <p:cNvSpPr/>
          <p:nvPr/>
        </p:nvSpPr>
        <p:spPr>
          <a:xfrm>
            <a:off x="1920240" y="3822192"/>
            <a:ext cx="9052560" cy="640080"/>
          </a:xfrm>
          <a:prstGeom prst="rect">
            <a:avLst/>
          </a:prstGeom>
          <a:noFill/>
          <a:ln/>
        </p:spPr>
        <p:txBody>
          <a:bodyPr wrap="square" lIns="0" tIns="0" rIns="0" bIns="0" rtlCol="0" anchor="ctr"/>
          <a:lstStyle/>
          <a:p>
            <a:pPr marL="0" indent="0">
              <a:buNone/>
            </a:pPr>
            <a:r>
              <a:rPr lang="en-US" sz="1300" dirty="0">
                <a:solidFill>
                  <a:srgbClr val="5B6B7A"/>
                </a:solidFill>
                <a:latin typeface="Calibri" pitchFamily="34" charset="0"/>
                <a:ea typeface="Calibri" pitchFamily="34" charset="-122"/>
                <a:cs typeface="Calibri" pitchFamily="34" charset="-120"/>
              </a:rPr>
              <a:t>How many stages the filter uses. Higher order means a steeper, more precise cutoff, but can introduce more delay or ringing.</a:t>
            </a:r>
            <a:endParaRPr lang="en-US" sz="1300" dirty="0"/>
          </a:p>
        </p:txBody>
      </p:sp>
      <p:sp>
        <p:nvSpPr>
          <p:cNvPr id="14" name="Shape 11"/>
          <p:cNvSpPr/>
          <p:nvPr/>
        </p:nvSpPr>
        <p:spPr>
          <a:xfrm>
            <a:off x="548640" y="4709160"/>
            <a:ext cx="11064240" cy="1234440"/>
          </a:xfrm>
          <a:prstGeom prst="roundRect">
            <a:avLst>
              <a:gd name="adj" fmla="val 7407"/>
            </a:avLst>
          </a:prstGeom>
          <a:solidFill>
            <a:srgbClr val="E7F2F8"/>
          </a:solidFill>
          <a:ln/>
        </p:spPr>
        <p:txBody>
          <a:bodyPr/>
          <a:lstStyle/>
          <a:p>
            <a:endParaRPr lang="en-GH"/>
          </a:p>
        </p:txBody>
      </p:sp>
      <p:sp>
        <p:nvSpPr>
          <p:cNvPr id="15" name="Text 12"/>
          <p:cNvSpPr/>
          <p:nvPr/>
        </p:nvSpPr>
        <p:spPr>
          <a:xfrm>
            <a:off x="822960" y="5001768"/>
            <a:ext cx="822960" cy="640080"/>
          </a:xfrm>
          <a:prstGeom prst="rect">
            <a:avLst/>
          </a:prstGeom>
          <a:noFill/>
          <a:ln/>
        </p:spPr>
        <p:txBody>
          <a:bodyPr wrap="square" lIns="0" tIns="0" rIns="0" bIns="0" rtlCol="0" anchor="ctr"/>
          <a:lstStyle/>
          <a:p>
            <a:pPr marL="0" indent="0">
              <a:buNone/>
            </a:pPr>
            <a:r>
              <a:rPr lang="en-US" sz="2600" b="1" dirty="0">
                <a:solidFill>
                  <a:srgbClr val="1C7293"/>
                </a:solidFill>
                <a:latin typeface="Cambria" pitchFamily="34" charset="0"/>
                <a:ea typeface="Cambria" pitchFamily="34" charset="-122"/>
                <a:cs typeface="Cambria" pitchFamily="34" charset="-120"/>
              </a:rPr>
              <a:t>03</a:t>
            </a:r>
            <a:endParaRPr lang="en-US" sz="2600" dirty="0"/>
          </a:p>
        </p:txBody>
      </p:sp>
      <p:sp>
        <p:nvSpPr>
          <p:cNvPr id="16" name="Text 13"/>
          <p:cNvSpPr/>
          <p:nvPr/>
        </p:nvSpPr>
        <p:spPr>
          <a:xfrm>
            <a:off x="1920240" y="4873752"/>
            <a:ext cx="9052560" cy="365760"/>
          </a:xfrm>
          <a:prstGeom prst="rect">
            <a:avLst/>
          </a:prstGeom>
          <a:noFill/>
          <a:ln/>
        </p:spPr>
        <p:txBody>
          <a:bodyPr wrap="square" lIns="0" tIns="0" rIns="0" bIns="0" rtlCol="0" anchor="ctr"/>
          <a:lstStyle/>
          <a:p>
            <a:pPr marL="0" indent="0">
              <a:buNone/>
            </a:pPr>
            <a:r>
              <a:rPr lang="en-US" sz="1550" b="1" dirty="0">
                <a:solidFill>
                  <a:srgbClr val="1B2733"/>
                </a:solidFill>
                <a:latin typeface="Calibri" pitchFamily="34" charset="0"/>
                <a:ea typeface="Calibri" pitchFamily="34" charset="-122"/>
                <a:cs typeface="Calibri" pitchFamily="34" charset="-120"/>
              </a:rPr>
              <a:t>Roll-off</a:t>
            </a:r>
            <a:endParaRPr lang="en-US" sz="1550" dirty="0"/>
          </a:p>
        </p:txBody>
      </p:sp>
      <p:sp>
        <p:nvSpPr>
          <p:cNvPr id="17" name="Text 14"/>
          <p:cNvSpPr/>
          <p:nvPr/>
        </p:nvSpPr>
        <p:spPr>
          <a:xfrm>
            <a:off x="1920240" y="5239512"/>
            <a:ext cx="9052560" cy="640080"/>
          </a:xfrm>
          <a:prstGeom prst="rect">
            <a:avLst/>
          </a:prstGeom>
          <a:noFill/>
          <a:ln/>
        </p:spPr>
        <p:txBody>
          <a:bodyPr wrap="square" lIns="0" tIns="0" rIns="0" bIns="0" rtlCol="0" anchor="ctr"/>
          <a:lstStyle/>
          <a:p>
            <a:pPr marL="0" indent="0">
              <a:buNone/>
            </a:pPr>
            <a:r>
              <a:rPr lang="en-US" sz="1300" dirty="0">
                <a:solidFill>
                  <a:srgbClr val="5B6B7A"/>
                </a:solidFill>
                <a:latin typeface="Calibri" pitchFamily="34" charset="0"/>
                <a:ea typeface="Calibri" pitchFamily="34" charset="-122"/>
                <a:cs typeface="Calibri" pitchFamily="34" charset="-120"/>
              </a:rPr>
              <a:t>How gradually the filter transitions from passing to blocking a frequency — a sharper roll-off cuts more cleanly at the cutoff.</a:t>
            </a:r>
            <a:endParaRPr lang="en-US" sz="1300" dirty="0"/>
          </a:p>
        </p:txBody>
      </p:sp>
      <p:sp>
        <p:nvSpPr>
          <p:cNvPr id="18" name="Text 15"/>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A · Why Filter?</a:t>
            </a:r>
            <a:endParaRPr lang="en-US" sz="1000" dirty="0"/>
          </a:p>
        </p:txBody>
      </p:sp>
      <p:sp>
        <p:nvSpPr>
          <p:cNvPr id="19" name="Text 16"/>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9875520" y="4206240"/>
            <a:ext cx="3840480" cy="3840480"/>
          </a:xfrm>
          <a:prstGeom prst="ellipse">
            <a:avLst/>
          </a:prstGeom>
          <a:solidFill>
            <a:srgbClr val="1B3A5C"/>
          </a:solidFill>
          <a:ln/>
        </p:spPr>
        <p:txBody>
          <a:bodyPr/>
          <a:lstStyle/>
          <a:p>
            <a:endParaRPr lang="en-GH"/>
          </a:p>
        </p:txBody>
      </p:sp>
      <p:sp>
        <p:nvSpPr>
          <p:cNvPr id="3" name="Text 1"/>
          <p:cNvSpPr/>
          <p:nvPr/>
        </p:nvSpPr>
        <p:spPr>
          <a:xfrm>
            <a:off x="822960" y="2331720"/>
            <a:ext cx="4572000" cy="320040"/>
          </a:xfrm>
          <a:prstGeom prst="rect">
            <a:avLst/>
          </a:prstGeom>
          <a:noFill/>
          <a:ln/>
        </p:spPr>
        <p:txBody>
          <a:bodyPr wrap="square" rtlCol="0" anchor="ctr"/>
          <a:lstStyle/>
          <a:p>
            <a:pPr marL="0" indent="0">
              <a:buNone/>
            </a:pPr>
            <a:r>
              <a:rPr lang="en-US" sz="1200" b="1" kern="0" spc="200" dirty="0">
                <a:solidFill>
                  <a:srgbClr val="F2A541"/>
                </a:solidFill>
                <a:latin typeface="Calibri" pitchFamily="34" charset="0"/>
                <a:ea typeface="Calibri" pitchFamily="34" charset="-122"/>
                <a:cs typeface="Calibri" pitchFamily="34" charset="-120"/>
              </a:rPr>
              <a:t>PART B</a:t>
            </a:r>
            <a:endParaRPr lang="en-US" sz="1200" dirty="0"/>
          </a:p>
        </p:txBody>
      </p:sp>
      <p:sp>
        <p:nvSpPr>
          <p:cNvPr id="4" name="Text 2"/>
          <p:cNvSpPr/>
          <p:nvPr/>
        </p:nvSpPr>
        <p:spPr>
          <a:xfrm>
            <a:off x="822960" y="2697480"/>
            <a:ext cx="100584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Filter Types</a:t>
            </a:r>
            <a:endParaRPr lang="en-US" sz="4000" dirty="0"/>
          </a:p>
        </p:txBody>
      </p:sp>
      <p:sp>
        <p:nvSpPr>
          <p:cNvPr id="5" name="Text 3"/>
          <p:cNvSpPr/>
          <p:nvPr/>
        </p:nvSpPr>
        <p:spPr>
          <a:xfrm>
            <a:off x="822960" y="3703320"/>
            <a:ext cx="96012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Highpass, lowpass, bandpass, and notch — each targets a different range.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HIGHPASS FILTER</a:t>
            </a:r>
            <a:endParaRPr lang="en-US" sz="1200" dirty="0"/>
          </a:p>
        </p:txBody>
      </p:sp>
      <p:sp>
        <p:nvSpPr>
          <p:cNvPr id="3" name="Shape 1"/>
          <p:cNvSpPr/>
          <p:nvPr/>
        </p:nvSpPr>
        <p:spPr>
          <a:xfrm>
            <a:off x="548640" y="786384"/>
            <a:ext cx="640080" cy="640080"/>
          </a:xfrm>
          <a:prstGeom prst="ellipse">
            <a:avLst/>
          </a:prstGeom>
          <a:solidFill>
            <a:srgbClr val="1C7293"/>
          </a:solidFill>
          <a:ln/>
        </p:spPr>
        <p:txBody>
          <a:bodyPr/>
          <a:lstStyle/>
          <a:p>
            <a:endParaRPr lang="en-GH"/>
          </a:p>
        </p:txBody>
      </p:sp>
      <p:pic>
        <p:nvPicPr>
          <p:cNvPr id="4" name="Image 0" descr="/home/claude/icons/filter.png"/>
          <p:cNvPicPr>
            <a:picLocks noChangeAspect="1"/>
          </p:cNvPicPr>
          <p:nvPr/>
        </p:nvPicPr>
        <p:blipFill>
          <a:blip r:embed="rId3"/>
          <a:stretch>
            <a:fillRect/>
          </a:stretch>
        </p:blipFill>
        <p:spPr>
          <a:xfrm>
            <a:off x="702259" y="940003"/>
            <a:ext cx="332842" cy="332842"/>
          </a:xfrm>
          <a:prstGeom prst="rect">
            <a:avLst/>
          </a:prstGeom>
        </p:spPr>
      </p:pic>
      <p:sp>
        <p:nvSpPr>
          <p:cNvPr id="5" name="Text 2"/>
          <p:cNvSpPr/>
          <p:nvPr/>
        </p:nvSpPr>
        <p:spPr>
          <a:xfrm>
            <a:off x="1371600" y="786384"/>
            <a:ext cx="7772400" cy="594360"/>
          </a:xfrm>
          <a:prstGeom prst="rect">
            <a:avLst/>
          </a:prstGeom>
          <a:noFill/>
          <a:ln/>
        </p:spPr>
        <p:txBody>
          <a:bodyPr wrap="square" lIns="0" tIns="0" rIns="0" bIns="0" rtlCol="0" anchor="ctr"/>
          <a:lstStyle/>
          <a:p>
            <a:pPr marL="0" indent="0">
              <a:buNone/>
            </a:pPr>
            <a:r>
              <a:rPr lang="en-US" sz="2600" b="1" dirty="0" err="1">
                <a:solidFill>
                  <a:srgbClr val="1B2733"/>
                </a:solidFill>
                <a:latin typeface="Cambria" pitchFamily="34" charset="0"/>
                <a:ea typeface="Cambria" pitchFamily="34" charset="-122"/>
                <a:cs typeface="Cambria" pitchFamily="34" charset="-120"/>
              </a:rPr>
              <a:t>Highpass</a:t>
            </a:r>
            <a:r>
              <a:rPr lang="en-US" sz="2600" b="1" dirty="0">
                <a:solidFill>
                  <a:srgbClr val="1B2733"/>
                </a:solidFill>
                <a:latin typeface="Cambria" pitchFamily="34" charset="0"/>
                <a:ea typeface="Cambria" pitchFamily="34" charset="-122"/>
                <a:cs typeface="Cambria" pitchFamily="34" charset="-120"/>
              </a:rPr>
              <a:t> Filter – Removes low frequency signals</a:t>
            </a:r>
            <a:endParaRPr lang="en-US" sz="2600" dirty="0"/>
          </a:p>
        </p:txBody>
      </p:sp>
      <p:sp>
        <p:nvSpPr>
          <p:cNvPr id="18" name="Text 14"/>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B · Filter Types</a:t>
            </a:r>
            <a:endParaRPr lang="en-US" sz="1000" dirty="0"/>
          </a:p>
        </p:txBody>
      </p:sp>
      <p:sp>
        <p:nvSpPr>
          <p:cNvPr id="19" name="Text 15"/>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sp>
        <p:nvSpPr>
          <p:cNvPr id="21" name="Text 3">
            <a:extLst>
              <a:ext uri="{FF2B5EF4-FFF2-40B4-BE49-F238E27FC236}">
                <a16:creationId xmlns:a16="http://schemas.microsoft.com/office/drawing/2014/main" id="{00F08E1E-1153-B7F7-B09A-D58A8D4903AA}"/>
              </a:ext>
            </a:extLst>
          </p:cNvPr>
          <p:cNvSpPr/>
          <p:nvPr/>
        </p:nvSpPr>
        <p:spPr>
          <a:xfrm>
            <a:off x="6435090" y="1691640"/>
            <a:ext cx="4396814" cy="320040"/>
          </a:xfrm>
          <a:prstGeom prst="rect">
            <a:avLst/>
          </a:prstGeom>
          <a:noFill/>
          <a:ln/>
        </p:spPr>
        <p:txBody>
          <a:bodyPr wrap="square" lIns="0" tIns="0" rIns="0" bIns="0" rtlCol="0" anchor="ctr"/>
          <a:lstStyle/>
          <a:p>
            <a:pPr marL="0" indent="0">
              <a:buNone/>
            </a:pPr>
            <a:r>
              <a:rPr lang="en-US" sz="2000" b="1" dirty="0">
                <a:solidFill>
                  <a:srgbClr val="1C7293"/>
                </a:solidFill>
                <a:latin typeface="Calibri" pitchFamily="34" charset="0"/>
                <a:ea typeface="Calibri" pitchFamily="34" charset="-122"/>
                <a:cs typeface="Calibri" pitchFamily="34" charset="-120"/>
              </a:rPr>
              <a:t>Removes</a:t>
            </a:r>
            <a:endParaRPr lang="en-US" sz="2000" dirty="0"/>
          </a:p>
        </p:txBody>
      </p:sp>
      <p:sp>
        <p:nvSpPr>
          <p:cNvPr id="23" name="Text 4">
            <a:extLst>
              <a:ext uri="{FF2B5EF4-FFF2-40B4-BE49-F238E27FC236}">
                <a16:creationId xmlns:a16="http://schemas.microsoft.com/office/drawing/2014/main" id="{866FC285-448D-19E8-AD7A-7C8308DF3E8F}"/>
              </a:ext>
            </a:extLst>
          </p:cNvPr>
          <p:cNvSpPr/>
          <p:nvPr/>
        </p:nvSpPr>
        <p:spPr>
          <a:xfrm>
            <a:off x="6435090" y="2093320"/>
            <a:ext cx="4396814" cy="822960"/>
          </a:xfrm>
          <a:prstGeom prst="rect">
            <a:avLst/>
          </a:prstGeom>
          <a:noFill/>
          <a:ln/>
        </p:spPr>
        <p:txBody>
          <a:bodyPr wrap="square" lIns="0" tIns="0" rIns="0" bIns="0" rtlCol="0" anchor="ctr"/>
          <a:lstStyle/>
          <a:p>
            <a:pPr marL="342900" indent="-342900">
              <a:buFont typeface="+mj-lt"/>
              <a:buAutoNum type="arabicPeriod"/>
            </a:pPr>
            <a:r>
              <a:rPr lang="en-US" sz="2000" dirty="0">
                <a:solidFill>
                  <a:schemeClr val="bg2">
                    <a:lumMod val="50000"/>
                  </a:schemeClr>
                </a:solidFill>
              </a:rPr>
              <a:t>Slow drift</a:t>
            </a:r>
          </a:p>
          <a:p>
            <a:pPr marL="342900" indent="-342900">
              <a:buFont typeface="+mj-lt"/>
              <a:buAutoNum type="arabicPeriod"/>
            </a:pPr>
            <a:r>
              <a:rPr lang="en-US" sz="2000" dirty="0">
                <a:solidFill>
                  <a:schemeClr val="bg2">
                    <a:lumMod val="50000"/>
                  </a:schemeClr>
                </a:solidFill>
              </a:rPr>
              <a:t>Sweat artifacts</a:t>
            </a:r>
          </a:p>
          <a:p>
            <a:pPr marL="342900" indent="-342900">
              <a:buFont typeface="+mj-lt"/>
              <a:buAutoNum type="arabicPeriod"/>
            </a:pPr>
            <a:r>
              <a:rPr lang="en-US" sz="2000" dirty="0">
                <a:solidFill>
                  <a:schemeClr val="bg2">
                    <a:lumMod val="50000"/>
                  </a:schemeClr>
                </a:solidFill>
              </a:rPr>
              <a:t>Electrode drift</a:t>
            </a:r>
          </a:p>
        </p:txBody>
      </p:sp>
      <p:sp>
        <p:nvSpPr>
          <p:cNvPr id="25" name="Text 5">
            <a:extLst>
              <a:ext uri="{FF2B5EF4-FFF2-40B4-BE49-F238E27FC236}">
                <a16:creationId xmlns:a16="http://schemas.microsoft.com/office/drawing/2014/main" id="{B03AFBCB-5B92-FFD4-54B3-18B6BB29B189}"/>
              </a:ext>
            </a:extLst>
          </p:cNvPr>
          <p:cNvSpPr/>
          <p:nvPr/>
        </p:nvSpPr>
        <p:spPr>
          <a:xfrm>
            <a:off x="6452480" y="4098473"/>
            <a:ext cx="4396814" cy="320040"/>
          </a:xfrm>
          <a:prstGeom prst="rect">
            <a:avLst/>
          </a:prstGeom>
          <a:noFill/>
          <a:ln/>
        </p:spPr>
        <p:txBody>
          <a:bodyPr wrap="square" lIns="0" tIns="0" rIns="0" bIns="0" rtlCol="0" anchor="ctr"/>
          <a:lstStyle/>
          <a:p>
            <a:pPr marL="0" indent="0">
              <a:buNone/>
            </a:pPr>
            <a:r>
              <a:rPr lang="en-US" sz="2000" b="1" dirty="0">
                <a:solidFill>
                  <a:srgbClr val="1C7293"/>
                </a:solidFill>
                <a:latin typeface="Calibri" pitchFamily="34" charset="0"/>
                <a:ea typeface="Calibri" pitchFamily="34" charset="-122"/>
                <a:cs typeface="Calibri" pitchFamily="34" charset="-120"/>
              </a:rPr>
              <a:t>Typical cutoff</a:t>
            </a:r>
            <a:endParaRPr lang="en-US" sz="2000" dirty="0"/>
          </a:p>
        </p:txBody>
      </p:sp>
      <p:sp>
        <p:nvSpPr>
          <p:cNvPr id="27" name="Text 6">
            <a:extLst>
              <a:ext uri="{FF2B5EF4-FFF2-40B4-BE49-F238E27FC236}">
                <a16:creationId xmlns:a16="http://schemas.microsoft.com/office/drawing/2014/main" id="{69DEEC89-3D06-5451-E286-38B2CD16B647}"/>
              </a:ext>
            </a:extLst>
          </p:cNvPr>
          <p:cNvSpPr/>
          <p:nvPr/>
        </p:nvSpPr>
        <p:spPr>
          <a:xfrm>
            <a:off x="6452480" y="4418513"/>
            <a:ext cx="4396814" cy="502920"/>
          </a:xfrm>
          <a:prstGeom prst="rect">
            <a:avLst/>
          </a:prstGeom>
          <a:noFill/>
          <a:ln/>
        </p:spPr>
        <p:txBody>
          <a:bodyPr wrap="square" lIns="0" tIns="0" rIns="0" bIns="0" rtlCol="0" anchor="ctr"/>
          <a:lstStyle/>
          <a:p>
            <a:pPr marL="0" indent="0">
              <a:buNone/>
            </a:pPr>
            <a:r>
              <a:rPr lang="en-US" sz="2000" dirty="0">
                <a:solidFill>
                  <a:schemeClr val="bg2">
                    <a:lumMod val="50000"/>
                  </a:schemeClr>
                </a:solidFill>
                <a:latin typeface="Calibri" pitchFamily="34" charset="0"/>
                <a:ea typeface="Calibri" pitchFamily="34" charset="-122"/>
                <a:cs typeface="Calibri" pitchFamily="34" charset="-120"/>
              </a:rPr>
              <a:t>0.1 Hz or 1 Hz are common starting points.</a:t>
            </a:r>
            <a:endParaRPr lang="en-US" sz="2000" dirty="0">
              <a:solidFill>
                <a:schemeClr val="bg2">
                  <a:lumMod val="50000"/>
                </a:schemeClr>
              </a:solidFill>
            </a:endParaRPr>
          </a:p>
        </p:txBody>
      </p:sp>
      <p:graphicFrame>
        <p:nvGraphicFramePr>
          <p:cNvPr id="33" name="Chart 0">
            <a:extLst>
              <a:ext uri="{FF2B5EF4-FFF2-40B4-BE49-F238E27FC236}">
                <a16:creationId xmlns:a16="http://schemas.microsoft.com/office/drawing/2014/main" id="{6D6ADBF9-3064-3292-2805-59D87EF99021}"/>
              </a:ext>
            </a:extLst>
          </p:cNvPr>
          <p:cNvGraphicFramePr/>
          <p:nvPr>
            <p:extLst>
              <p:ext uri="{D42A27DB-BD31-4B8C-83A1-F6EECF244321}">
                <p14:modId xmlns:p14="http://schemas.microsoft.com/office/powerpoint/2010/main" val="3237211413"/>
              </p:ext>
            </p:extLst>
          </p:nvPr>
        </p:nvGraphicFramePr>
        <p:xfrm>
          <a:off x="685800" y="2286000"/>
          <a:ext cx="3858208" cy="33590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1B3A5C"/>
                </a:solidFill>
                <a:latin typeface="Calibri" pitchFamily="34" charset="0"/>
                <a:ea typeface="Calibri" pitchFamily="34" charset="-122"/>
                <a:cs typeface="Calibri" pitchFamily="34" charset="-120"/>
              </a:rPr>
              <a:t>LOWPASS FILTER</a:t>
            </a:r>
            <a:endParaRPr lang="en-US" sz="1200" dirty="0"/>
          </a:p>
        </p:txBody>
      </p:sp>
      <p:sp>
        <p:nvSpPr>
          <p:cNvPr id="3" name="Shape 1"/>
          <p:cNvSpPr/>
          <p:nvPr/>
        </p:nvSpPr>
        <p:spPr>
          <a:xfrm>
            <a:off x="548640" y="786384"/>
            <a:ext cx="640080" cy="640080"/>
          </a:xfrm>
          <a:prstGeom prst="ellipse">
            <a:avLst/>
          </a:prstGeom>
          <a:solidFill>
            <a:srgbClr val="1B3A5C"/>
          </a:solidFill>
          <a:ln/>
        </p:spPr>
        <p:txBody>
          <a:bodyPr/>
          <a:lstStyle/>
          <a:p>
            <a:endParaRPr lang="en-GH"/>
          </a:p>
        </p:txBody>
      </p:sp>
      <p:pic>
        <p:nvPicPr>
          <p:cNvPr id="4" name="Image 0" descr="/home/claude/icons/filter.png"/>
          <p:cNvPicPr>
            <a:picLocks noChangeAspect="1"/>
          </p:cNvPicPr>
          <p:nvPr/>
        </p:nvPicPr>
        <p:blipFill>
          <a:blip r:embed="rId3"/>
          <a:stretch>
            <a:fillRect/>
          </a:stretch>
        </p:blipFill>
        <p:spPr>
          <a:xfrm>
            <a:off x="702259" y="940003"/>
            <a:ext cx="332842" cy="332842"/>
          </a:xfrm>
          <a:prstGeom prst="rect">
            <a:avLst/>
          </a:prstGeom>
        </p:spPr>
      </p:pic>
      <p:sp>
        <p:nvSpPr>
          <p:cNvPr id="5" name="Text 2"/>
          <p:cNvSpPr/>
          <p:nvPr/>
        </p:nvSpPr>
        <p:spPr>
          <a:xfrm>
            <a:off x="1371600" y="786384"/>
            <a:ext cx="7772400" cy="594360"/>
          </a:xfrm>
          <a:prstGeom prst="rect">
            <a:avLst/>
          </a:prstGeom>
          <a:noFill/>
          <a:ln/>
        </p:spPr>
        <p:txBody>
          <a:bodyPr wrap="square" lIns="0" tIns="0" rIns="0" bIns="0" rtlCol="0" anchor="ctr"/>
          <a:lstStyle/>
          <a:p>
            <a:pPr marL="0" indent="0">
              <a:buNone/>
            </a:pPr>
            <a:r>
              <a:rPr lang="en-US" sz="2600" b="1" dirty="0">
                <a:solidFill>
                  <a:srgbClr val="1B2733"/>
                </a:solidFill>
                <a:latin typeface="Cambria" pitchFamily="34" charset="0"/>
                <a:ea typeface="Cambria" pitchFamily="34" charset="-122"/>
                <a:cs typeface="Cambria" pitchFamily="34" charset="-120"/>
              </a:rPr>
              <a:t>Lowpass Filter – Removes high frequency noise</a:t>
            </a:r>
            <a:endParaRPr lang="en-US" sz="2600" dirty="0"/>
          </a:p>
        </p:txBody>
      </p:sp>
      <p:sp>
        <p:nvSpPr>
          <p:cNvPr id="13" name="Text 10"/>
          <p:cNvSpPr/>
          <p:nvPr/>
        </p:nvSpPr>
        <p:spPr>
          <a:xfrm>
            <a:off x="391886" y="1890196"/>
            <a:ext cx="4206240" cy="274320"/>
          </a:xfrm>
          <a:prstGeom prst="rect">
            <a:avLst/>
          </a:prstGeom>
          <a:noFill/>
          <a:ln/>
        </p:spPr>
        <p:txBody>
          <a:bodyPr wrap="square" lIns="0" tIns="0" rIns="0" bIns="0" rtlCol="0" anchor="ctr"/>
          <a:lstStyle/>
          <a:p>
            <a:pPr marL="0" indent="0">
              <a:buNone/>
            </a:pPr>
            <a:r>
              <a:rPr lang="en-US" sz="1100" i="1" dirty="0">
                <a:solidFill>
                  <a:srgbClr val="5B6B7A"/>
                </a:solidFill>
                <a:latin typeface="Calibri" pitchFamily="34" charset="0"/>
                <a:ea typeface="Calibri" pitchFamily="34" charset="-122"/>
                <a:cs typeface="Calibri" pitchFamily="34" charset="-120"/>
              </a:rPr>
              <a:t>Frequency response</a:t>
            </a:r>
            <a:endParaRPr lang="en-US" sz="1100" dirty="0"/>
          </a:p>
        </p:txBody>
      </p:sp>
      <p:graphicFrame>
        <p:nvGraphicFramePr>
          <p:cNvPr id="14" name="Chart 0"/>
          <p:cNvGraphicFramePr/>
          <p:nvPr>
            <p:extLst>
              <p:ext uri="{D42A27DB-BD31-4B8C-83A1-F6EECF244321}">
                <p14:modId xmlns:p14="http://schemas.microsoft.com/office/powerpoint/2010/main" val="2089047542"/>
              </p:ext>
            </p:extLst>
          </p:nvPr>
        </p:nvGraphicFramePr>
        <p:xfrm>
          <a:off x="391886" y="2176272"/>
          <a:ext cx="425196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 14"/>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B · Filter Types</a:t>
            </a:r>
            <a:endParaRPr lang="en-US" sz="1000" dirty="0"/>
          </a:p>
        </p:txBody>
      </p:sp>
      <p:sp>
        <p:nvSpPr>
          <p:cNvPr id="19" name="Text 15"/>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sp>
        <p:nvSpPr>
          <p:cNvPr id="33" name="Text 3">
            <a:extLst>
              <a:ext uri="{FF2B5EF4-FFF2-40B4-BE49-F238E27FC236}">
                <a16:creationId xmlns:a16="http://schemas.microsoft.com/office/drawing/2014/main" id="{9248F3BF-3AAA-C569-F353-096C0D77B198}"/>
              </a:ext>
            </a:extLst>
          </p:cNvPr>
          <p:cNvSpPr/>
          <p:nvPr/>
        </p:nvSpPr>
        <p:spPr>
          <a:xfrm>
            <a:off x="6435090" y="1691640"/>
            <a:ext cx="4396814" cy="320040"/>
          </a:xfrm>
          <a:prstGeom prst="rect">
            <a:avLst/>
          </a:prstGeom>
          <a:noFill/>
          <a:ln/>
        </p:spPr>
        <p:txBody>
          <a:bodyPr wrap="square" lIns="0" tIns="0" rIns="0" bIns="0" rtlCol="0" anchor="ctr"/>
          <a:lstStyle/>
          <a:p>
            <a:pPr marL="0" indent="0">
              <a:buNone/>
            </a:pPr>
            <a:r>
              <a:rPr lang="en-US" sz="2000" b="1" dirty="0">
                <a:solidFill>
                  <a:srgbClr val="1C7293"/>
                </a:solidFill>
                <a:latin typeface="Calibri" pitchFamily="34" charset="0"/>
                <a:cs typeface="Calibri" pitchFamily="34" charset="-120"/>
              </a:rPr>
              <a:t>Removes</a:t>
            </a:r>
          </a:p>
        </p:txBody>
      </p:sp>
      <p:sp>
        <p:nvSpPr>
          <p:cNvPr id="35" name="Text 4">
            <a:extLst>
              <a:ext uri="{FF2B5EF4-FFF2-40B4-BE49-F238E27FC236}">
                <a16:creationId xmlns:a16="http://schemas.microsoft.com/office/drawing/2014/main" id="{B24A9345-0CC7-751B-A6AC-D71C72D6DA98}"/>
              </a:ext>
            </a:extLst>
          </p:cNvPr>
          <p:cNvSpPr/>
          <p:nvPr/>
        </p:nvSpPr>
        <p:spPr>
          <a:xfrm>
            <a:off x="6435090" y="2011680"/>
            <a:ext cx="4396814" cy="822960"/>
          </a:xfrm>
          <a:prstGeom prst="rect">
            <a:avLst/>
          </a:prstGeom>
          <a:noFill/>
          <a:ln/>
        </p:spPr>
        <p:txBody>
          <a:bodyPr wrap="square" lIns="0" tIns="0" rIns="0" bIns="0" rtlCol="0" anchor="ctr"/>
          <a:lstStyle/>
          <a:p>
            <a:pPr marL="342900" indent="-342900">
              <a:buFont typeface="+mj-lt"/>
              <a:buAutoNum type="arabicPeriod"/>
            </a:pPr>
            <a:r>
              <a:rPr lang="en-US" sz="2000" dirty="0">
                <a:solidFill>
                  <a:schemeClr val="bg2">
                    <a:lumMod val="50000"/>
                  </a:schemeClr>
                </a:solidFill>
              </a:rPr>
              <a:t>Muscle activities</a:t>
            </a:r>
          </a:p>
          <a:p>
            <a:pPr marL="342900" indent="-342900">
              <a:buFont typeface="+mj-lt"/>
              <a:buAutoNum type="arabicPeriod"/>
            </a:pPr>
            <a:r>
              <a:rPr lang="en-US" sz="2000" dirty="0">
                <a:solidFill>
                  <a:schemeClr val="bg2">
                    <a:lumMod val="50000"/>
                  </a:schemeClr>
                </a:solidFill>
              </a:rPr>
              <a:t>Electronic noise</a:t>
            </a:r>
          </a:p>
        </p:txBody>
      </p:sp>
      <p:sp>
        <p:nvSpPr>
          <p:cNvPr id="37" name="Text 5">
            <a:extLst>
              <a:ext uri="{FF2B5EF4-FFF2-40B4-BE49-F238E27FC236}">
                <a16:creationId xmlns:a16="http://schemas.microsoft.com/office/drawing/2014/main" id="{3241D40D-163E-9CF8-F5AD-2BC65A309F83}"/>
              </a:ext>
            </a:extLst>
          </p:cNvPr>
          <p:cNvSpPr/>
          <p:nvPr/>
        </p:nvSpPr>
        <p:spPr>
          <a:xfrm>
            <a:off x="6452480" y="4490358"/>
            <a:ext cx="4396814" cy="320040"/>
          </a:xfrm>
          <a:prstGeom prst="rect">
            <a:avLst/>
          </a:prstGeom>
          <a:noFill/>
          <a:ln/>
        </p:spPr>
        <p:txBody>
          <a:bodyPr wrap="square" lIns="0" tIns="0" rIns="0" bIns="0" rtlCol="0" anchor="ctr"/>
          <a:lstStyle/>
          <a:p>
            <a:pPr marL="0" indent="0">
              <a:buNone/>
            </a:pPr>
            <a:r>
              <a:rPr lang="en-US" sz="2000" b="1" dirty="0">
                <a:solidFill>
                  <a:srgbClr val="1C7293"/>
                </a:solidFill>
                <a:latin typeface="Calibri" pitchFamily="34" charset="0"/>
                <a:cs typeface="Calibri" pitchFamily="34" charset="-120"/>
              </a:rPr>
              <a:t>Typical</a:t>
            </a:r>
            <a:r>
              <a:rPr lang="en-US" sz="1300" b="1" dirty="0">
                <a:solidFill>
                  <a:srgbClr val="1C7293"/>
                </a:solidFill>
                <a:latin typeface="Calibri" pitchFamily="34" charset="0"/>
                <a:ea typeface="Calibri" pitchFamily="34" charset="-122"/>
                <a:cs typeface="Calibri" pitchFamily="34" charset="-120"/>
              </a:rPr>
              <a:t> </a:t>
            </a:r>
            <a:r>
              <a:rPr lang="en-US" sz="2000" b="1" dirty="0">
                <a:solidFill>
                  <a:srgbClr val="1C7293"/>
                </a:solidFill>
                <a:latin typeface="Calibri" pitchFamily="34" charset="0"/>
                <a:cs typeface="Calibri" pitchFamily="34" charset="-120"/>
              </a:rPr>
              <a:t>cutoff</a:t>
            </a:r>
          </a:p>
        </p:txBody>
      </p:sp>
      <p:sp>
        <p:nvSpPr>
          <p:cNvPr id="39" name="Text 6">
            <a:extLst>
              <a:ext uri="{FF2B5EF4-FFF2-40B4-BE49-F238E27FC236}">
                <a16:creationId xmlns:a16="http://schemas.microsoft.com/office/drawing/2014/main" id="{4EFCF1BA-1286-CE46-691E-764816F839F2}"/>
              </a:ext>
            </a:extLst>
          </p:cNvPr>
          <p:cNvSpPr/>
          <p:nvPr/>
        </p:nvSpPr>
        <p:spPr>
          <a:xfrm>
            <a:off x="6452480" y="4810398"/>
            <a:ext cx="4396814" cy="502920"/>
          </a:xfrm>
          <a:prstGeom prst="rect">
            <a:avLst/>
          </a:prstGeom>
          <a:noFill/>
          <a:ln/>
        </p:spPr>
        <p:txBody>
          <a:bodyPr wrap="square" lIns="0" tIns="0" rIns="0" bIns="0" rtlCol="0" anchor="ctr"/>
          <a:lstStyle/>
          <a:p>
            <a:pPr marL="342900" indent="-342900">
              <a:buFont typeface="+mj-lt"/>
              <a:buAutoNum type="arabicPeriod"/>
            </a:pPr>
            <a:r>
              <a:rPr lang="en-US" sz="2000" dirty="0">
                <a:solidFill>
                  <a:schemeClr val="bg2">
                    <a:lumMod val="50000"/>
                  </a:schemeClr>
                </a:solidFill>
              </a:rPr>
              <a:t>40 Hz are common starting points.</a:t>
            </a:r>
          </a:p>
        </p:txBody>
      </p:sp>
      <p:sp>
        <p:nvSpPr>
          <p:cNvPr id="43" name="Text 8">
            <a:extLst>
              <a:ext uri="{FF2B5EF4-FFF2-40B4-BE49-F238E27FC236}">
                <a16:creationId xmlns:a16="http://schemas.microsoft.com/office/drawing/2014/main" id="{9B2DB418-853E-E8EC-EE69-9BE50C6A135D}"/>
              </a:ext>
            </a:extLst>
          </p:cNvPr>
          <p:cNvSpPr/>
          <p:nvPr/>
        </p:nvSpPr>
        <p:spPr>
          <a:xfrm>
            <a:off x="6435090" y="4302252"/>
            <a:ext cx="5852160" cy="777240"/>
          </a:xfrm>
          <a:prstGeom prst="rect">
            <a:avLst/>
          </a:prstGeom>
          <a:noFill/>
          <a:ln/>
        </p:spPr>
        <p:txBody>
          <a:bodyPr wrap="square" lIns="0" tIns="0" rIns="0" bIns="0" rtlCol="0" anchor="ctr"/>
          <a:lstStyle/>
          <a:p>
            <a:pPr marL="0" indent="0">
              <a:buNone/>
            </a:pP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F2A541"/>
                </a:solidFill>
                <a:latin typeface="Calibri" pitchFamily="34" charset="0"/>
                <a:ea typeface="Calibri" pitchFamily="34" charset="-122"/>
                <a:cs typeface="Calibri" pitchFamily="34" charset="-120"/>
              </a:rPr>
              <a:t>BANDPASS FILTER</a:t>
            </a:r>
            <a:endParaRPr lang="en-US" sz="1200" dirty="0"/>
          </a:p>
        </p:txBody>
      </p:sp>
      <p:sp>
        <p:nvSpPr>
          <p:cNvPr id="3" name="Shape 1"/>
          <p:cNvSpPr/>
          <p:nvPr/>
        </p:nvSpPr>
        <p:spPr>
          <a:xfrm>
            <a:off x="548640" y="786384"/>
            <a:ext cx="640080" cy="640080"/>
          </a:xfrm>
          <a:prstGeom prst="ellipse">
            <a:avLst/>
          </a:prstGeom>
          <a:solidFill>
            <a:srgbClr val="F2A541"/>
          </a:solidFill>
          <a:ln/>
        </p:spPr>
        <p:txBody>
          <a:bodyPr/>
          <a:lstStyle/>
          <a:p>
            <a:endParaRPr lang="en-GH"/>
          </a:p>
        </p:txBody>
      </p:sp>
      <p:pic>
        <p:nvPicPr>
          <p:cNvPr id="4" name="Image 0" descr="/home/claude/icons/filter.png"/>
          <p:cNvPicPr>
            <a:picLocks noChangeAspect="1"/>
          </p:cNvPicPr>
          <p:nvPr/>
        </p:nvPicPr>
        <p:blipFill>
          <a:blip r:embed="rId3"/>
          <a:stretch>
            <a:fillRect/>
          </a:stretch>
        </p:blipFill>
        <p:spPr>
          <a:xfrm>
            <a:off x="702259" y="940003"/>
            <a:ext cx="332842" cy="332842"/>
          </a:xfrm>
          <a:prstGeom prst="rect">
            <a:avLst/>
          </a:prstGeom>
        </p:spPr>
      </p:pic>
      <p:sp>
        <p:nvSpPr>
          <p:cNvPr id="5" name="Text 2"/>
          <p:cNvSpPr/>
          <p:nvPr/>
        </p:nvSpPr>
        <p:spPr>
          <a:xfrm>
            <a:off x="1371600" y="786384"/>
            <a:ext cx="7772400" cy="594360"/>
          </a:xfrm>
          <a:prstGeom prst="rect">
            <a:avLst/>
          </a:prstGeom>
          <a:noFill/>
          <a:ln/>
        </p:spPr>
        <p:txBody>
          <a:bodyPr wrap="square" lIns="0" tIns="0" rIns="0" bIns="0" rtlCol="0" anchor="ctr"/>
          <a:lstStyle/>
          <a:p>
            <a:pPr marL="0" indent="0">
              <a:buNone/>
            </a:pPr>
            <a:r>
              <a:rPr lang="en-US" sz="2600" b="1" dirty="0">
                <a:solidFill>
                  <a:srgbClr val="1B2733"/>
                </a:solidFill>
                <a:latin typeface="Cambria" pitchFamily="34" charset="0"/>
                <a:ea typeface="Cambria" pitchFamily="34" charset="-122"/>
                <a:cs typeface="Cambria" pitchFamily="34" charset="-120"/>
              </a:rPr>
              <a:t>Bandpass Filter</a:t>
            </a:r>
            <a:endParaRPr lang="en-US" sz="2600" dirty="0"/>
          </a:p>
        </p:txBody>
      </p:sp>
      <p:sp>
        <p:nvSpPr>
          <p:cNvPr id="6" name="Text 3"/>
          <p:cNvSpPr/>
          <p:nvPr/>
        </p:nvSpPr>
        <p:spPr>
          <a:xfrm>
            <a:off x="548640" y="1691640"/>
            <a:ext cx="5852160" cy="320040"/>
          </a:xfrm>
          <a:prstGeom prst="rect">
            <a:avLst/>
          </a:prstGeom>
          <a:noFill/>
          <a:ln/>
        </p:spPr>
        <p:txBody>
          <a:bodyPr wrap="square" lIns="0" tIns="0" rIns="0" bIns="0" rtlCol="0" anchor="ctr"/>
          <a:lstStyle/>
          <a:p>
            <a:pPr marL="0" indent="0">
              <a:buNone/>
            </a:pPr>
            <a:r>
              <a:rPr lang="en-US" sz="2000" b="1" dirty="0">
                <a:solidFill>
                  <a:srgbClr val="F2A541"/>
                </a:solidFill>
                <a:latin typeface="Calibri" pitchFamily="34" charset="0"/>
                <a:ea typeface="Calibri" pitchFamily="34" charset="-122"/>
                <a:cs typeface="Calibri" pitchFamily="34" charset="-120"/>
              </a:rPr>
              <a:t>What it does</a:t>
            </a:r>
            <a:endParaRPr lang="en-US" sz="2000" dirty="0"/>
          </a:p>
        </p:txBody>
      </p:sp>
      <p:sp>
        <p:nvSpPr>
          <p:cNvPr id="7" name="Text 4"/>
          <p:cNvSpPr/>
          <p:nvPr/>
        </p:nvSpPr>
        <p:spPr>
          <a:xfrm>
            <a:off x="548640" y="2011680"/>
            <a:ext cx="5852160" cy="822960"/>
          </a:xfrm>
          <a:prstGeom prst="rect">
            <a:avLst/>
          </a:prstGeom>
          <a:noFill/>
          <a:ln/>
        </p:spPr>
        <p:txBody>
          <a:bodyPr wrap="square" lIns="0" tIns="0" rIns="0" bIns="0" rtlCol="0" anchor="ctr"/>
          <a:lstStyle/>
          <a:p>
            <a:pPr marL="0" indent="0">
              <a:buNone/>
            </a:pPr>
            <a:r>
              <a:rPr lang="en-US" sz="2000" dirty="0">
                <a:solidFill>
                  <a:schemeClr val="bg2">
                    <a:lumMod val="50000"/>
                  </a:schemeClr>
                </a:solidFill>
              </a:rPr>
              <a:t>Combines a highpass and lowpass filter to keep only a specific window of frequencies.</a:t>
            </a:r>
          </a:p>
        </p:txBody>
      </p:sp>
      <p:sp>
        <p:nvSpPr>
          <p:cNvPr id="8" name="Text 5"/>
          <p:cNvSpPr/>
          <p:nvPr/>
        </p:nvSpPr>
        <p:spPr>
          <a:xfrm>
            <a:off x="548640" y="2971800"/>
            <a:ext cx="5852160" cy="320040"/>
          </a:xfrm>
          <a:prstGeom prst="rect">
            <a:avLst/>
          </a:prstGeom>
          <a:noFill/>
          <a:ln/>
        </p:spPr>
        <p:txBody>
          <a:bodyPr wrap="square" lIns="0" tIns="0" rIns="0" bIns="0" rtlCol="0" anchor="ctr"/>
          <a:lstStyle/>
          <a:p>
            <a:r>
              <a:rPr lang="en-US" sz="2000" b="1" dirty="0">
                <a:solidFill>
                  <a:srgbClr val="F2A541"/>
                </a:solidFill>
                <a:latin typeface="Calibri" pitchFamily="34" charset="0"/>
                <a:cs typeface="Calibri" pitchFamily="34" charset="-120"/>
              </a:rPr>
              <a:t>Typical cutoff</a:t>
            </a:r>
          </a:p>
        </p:txBody>
      </p:sp>
      <p:sp>
        <p:nvSpPr>
          <p:cNvPr id="9" name="Text 6"/>
          <p:cNvSpPr/>
          <p:nvPr/>
        </p:nvSpPr>
        <p:spPr>
          <a:xfrm>
            <a:off x="548640" y="3291840"/>
            <a:ext cx="5852160" cy="502920"/>
          </a:xfrm>
          <a:prstGeom prst="rect">
            <a:avLst/>
          </a:prstGeom>
          <a:noFill/>
          <a:ln/>
        </p:spPr>
        <p:txBody>
          <a:bodyPr wrap="square" lIns="0" tIns="0" rIns="0" bIns="0" rtlCol="0" anchor="ctr"/>
          <a:lstStyle/>
          <a:p>
            <a:pPr marL="0" indent="0">
              <a:buNone/>
            </a:pPr>
            <a:r>
              <a:rPr lang="en-US" sz="2000" dirty="0">
                <a:solidFill>
                  <a:schemeClr val="bg2">
                    <a:lumMod val="50000"/>
                  </a:schemeClr>
                </a:solidFill>
              </a:rPr>
              <a:t>1–40 Hz is a very common band for general ERP analysis.</a:t>
            </a:r>
          </a:p>
        </p:txBody>
      </p:sp>
      <p:sp>
        <p:nvSpPr>
          <p:cNvPr id="10" name="Text 7"/>
          <p:cNvSpPr/>
          <p:nvPr/>
        </p:nvSpPr>
        <p:spPr>
          <a:xfrm>
            <a:off x="548640" y="3931920"/>
            <a:ext cx="5852160" cy="320040"/>
          </a:xfrm>
          <a:prstGeom prst="rect">
            <a:avLst/>
          </a:prstGeom>
          <a:noFill/>
          <a:ln/>
        </p:spPr>
        <p:txBody>
          <a:bodyPr wrap="square" lIns="0" tIns="0" rIns="0" bIns="0" rtlCol="0" anchor="ctr"/>
          <a:lstStyle/>
          <a:p>
            <a:pPr indent="0">
              <a:buNone/>
            </a:pPr>
            <a:r>
              <a:rPr lang="en-US" sz="2000" b="1" dirty="0">
                <a:solidFill>
                  <a:srgbClr val="F2A541"/>
                </a:solidFill>
                <a:latin typeface="Calibri" pitchFamily="34" charset="0"/>
                <a:cs typeface="Calibri" pitchFamily="34" charset="-120"/>
              </a:rPr>
              <a:t>Use it for</a:t>
            </a:r>
          </a:p>
        </p:txBody>
      </p:sp>
      <p:sp>
        <p:nvSpPr>
          <p:cNvPr id="11" name="Text 8"/>
          <p:cNvSpPr/>
          <p:nvPr/>
        </p:nvSpPr>
        <p:spPr>
          <a:xfrm>
            <a:off x="548640" y="4251960"/>
            <a:ext cx="5852160" cy="777240"/>
          </a:xfrm>
          <a:prstGeom prst="rect">
            <a:avLst/>
          </a:prstGeom>
          <a:noFill/>
          <a:ln/>
        </p:spPr>
        <p:txBody>
          <a:bodyPr wrap="square" lIns="0" tIns="0" rIns="0" bIns="0" rtlCol="0" anchor="ctr"/>
          <a:lstStyle/>
          <a:p>
            <a:r>
              <a:rPr lang="en-US" sz="2000" dirty="0">
                <a:solidFill>
                  <a:schemeClr val="bg2">
                    <a:lumMod val="50000"/>
                  </a:schemeClr>
                </a:solidFill>
              </a:rPr>
              <a:t>General-purpose cleanup that removes both slow drift and high-frequency noise at once.</a:t>
            </a:r>
          </a:p>
        </p:txBody>
      </p:sp>
      <p:sp>
        <p:nvSpPr>
          <p:cNvPr id="13" name="Text 10"/>
          <p:cNvSpPr/>
          <p:nvPr/>
        </p:nvSpPr>
        <p:spPr>
          <a:xfrm>
            <a:off x="7132320" y="1874520"/>
            <a:ext cx="4206240" cy="274320"/>
          </a:xfrm>
          <a:prstGeom prst="rect">
            <a:avLst/>
          </a:prstGeom>
          <a:noFill/>
          <a:ln/>
        </p:spPr>
        <p:txBody>
          <a:bodyPr wrap="square" lIns="0" tIns="0" rIns="0" bIns="0" rtlCol="0" anchor="ctr"/>
          <a:lstStyle/>
          <a:p>
            <a:pPr marL="0" indent="0">
              <a:buNone/>
            </a:pPr>
            <a:r>
              <a:rPr lang="en-US" sz="1100" i="1" dirty="0">
                <a:solidFill>
                  <a:srgbClr val="5B6B7A"/>
                </a:solidFill>
                <a:latin typeface="Calibri" pitchFamily="34" charset="0"/>
                <a:ea typeface="Calibri" pitchFamily="34" charset="-122"/>
                <a:cs typeface="Calibri" pitchFamily="34" charset="-120"/>
              </a:rPr>
              <a:t>Frequency response</a:t>
            </a:r>
            <a:endParaRPr lang="en-US" sz="1100" dirty="0"/>
          </a:p>
        </p:txBody>
      </p:sp>
      <p:graphicFrame>
        <p:nvGraphicFramePr>
          <p:cNvPr id="14" name="Chart 0"/>
          <p:cNvGraphicFramePr/>
          <p:nvPr/>
        </p:nvGraphicFramePr>
        <p:xfrm>
          <a:off x="7086600" y="2194560"/>
          <a:ext cx="425196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 14"/>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B · Filter Types</a:t>
            </a:r>
            <a:endParaRPr lang="en-US" sz="1000" dirty="0"/>
          </a:p>
        </p:txBody>
      </p:sp>
      <p:sp>
        <p:nvSpPr>
          <p:cNvPr id="19" name="Text 15"/>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D64550"/>
                </a:solidFill>
                <a:latin typeface="Calibri" pitchFamily="34" charset="0"/>
                <a:ea typeface="Calibri" pitchFamily="34" charset="-122"/>
                <a:cs typeface="Calibri" pitchFamily="34" charset="-120"/>
              </a:rPr>
              <a:t>NOTCH FILTER</a:t>
            </a:r>
            <a:endParaRPr lang="en-US" sz="1200" dirty="0"/>
          </a:p>
        </p:txBody>
      </p:sp>
      <p:sp>
        <p:nvSpPr>
          <p:cNvPr id="3" name="Shape 1"/>
          <p:cNvSpPr/>
          <p:nvPr/>
        </p:nvSpPr>
        <p:spPr>
          <a:xfrm>
            <a:off x="548640" y="786384"/>
            <a:ext cx="640080" cy="640080"/>
          </a:xfrm>
          <a:prstGeom prst="ellipse">
            <a:avLst/>
          </a:prstGeom>
          <a:solidFill>
            <a:srgbClr val="D64550"/>
          </a:solidFill>
          <a:ln/>
        </p:spPr>
        <p:txBody>
          <a:bodyPr/>
          <a:lstStyle/>
          <a:p>
            <a:endParaRPr lang="en-GH"/>
          </a:p>
        </p:txBody>
      </p:sp>
      <p:pic>
        <p:nvPicPr>
          <p:cNvPr id="4" name="Image 0" descr="/home/claude/icons/zap.png"/>
          <p:cNvPicPr>
            <a:picLocks noChangeAspect="1"/>
          </p:cNvPicPr>
          <p:nvPr/>
        </p:nvPicPr>
        <p:blipFill>
          <a:blip r:embed="rId3"/>
          <a:stretch>
            <a:fillRect/>
          </a:stretch>
        </p:blipFill>
        <p:spPr>
          <a:xfrm>
            <a:off x="702259" y="940003"/>
            <a:ext cx="332842" cy="332842"/>
          </a:xfrm>
          <a:prstGeom prst="rect">
            <a:avLst/>
          </a:prstGeom>
        </p:spPr>
      </p:pic>
      <p:sp>
        <p:nvSpPr>
          <p:cNvPr id="5" name="Text 2"/>
          <p:cNvSpPr/>
          <p:nvPr/>
        </p:nvSpPr>
        <p:spPr>
          <a:xfrm>
            <a:off x="1371600" y="786384"/>
            <a:ext cx="7772400" cy="594360"/>
          </a:xfrm>
          <a:prstGeom prst="rect">
            <a:avLst/>
          </a:prstGeom>
          <a:noFill/>
          <a:ln/>
        </p:spPr>
        <p:txBody>
          <a:bodyPr wrap="square" lIns="0" tIns="0" rIns="0" bIns="0" rtlCol="0" anchor="ctr"/>
          <a:lstStyle/>
          <a:p>
            <a:pPr marL="0" indent="0">
              <a:buNone/>
            </a:pPr>
            <a:r>
              <a:rPr lang="en-US" sz="2600" b="1" dirty="0">
                <a:solidFill>
                  <a:srgbClr val="1B2733"/>
                </a:solidFill>
                <a:latin typeface="Cambria" pitchFamily="34" charset="0"/>
                <a:ea typeface="Cambria" pitchFamily="34" charset="-122"/>
                <a:cs typeface="Cambria" pitchFamily="34" charset="-120"/>
              </a:rPr>
              <a:t>Notch Filter</a:t>
            </a:r>
            <a:endParaRPr lang="en-US" sz="2600" dirty="0"/>
          </a:p>
        </p:txBody>
      </p:sp>
      <p:sp>
        <p:nvSpPr>
          <p:cNvPr id="6" name="Text 3"/>
          <p:cNvSpPr/>
          <p:nvPr/>
        </p:nvSpPr>
        <p:spPr>
          <a:xfrm>
            <a:off x="548640" y="1691640"/>
            <a:ext cx="5852160" cy="320040"/>
          </a:xfrm>
          <a:prstGeom prst="rect">
            <a:avLst/>
          </a:prstGeom>
          <a:noFill/>
          <a:ln/>
        </p:spPr>
        <p:txBody>
          <a:bodyPr wrap="square" lIns="0" tIns="0" rIns="0" bIns="0" rtlCol="0" anchor="ctr"/>
          <a:lstStyle/>
          <a:p>
            <a:pPr marL="0" indent="0">
              <a:buNone/>
            </a:pPr>
            <a:r>
              <a:rPr lang="en-US" sz="2000" b="1" dirty="0">
                <a:solidFill>
                  <a:srgbClr val="D64550"/>
                </a:solidFill>
                <a:latin typeface="Calibri" pitchFamily="34" charset="0"/>
                <a:ea typeface="Calibri" pitchFamily="34" charset="-122"/>
                <a:cs typeface="Calibri" pitchFamily="34" charset="-120"/>
              </a:rPr>
              <a:t>What it does</a:t>
            </a:r>
            <a:endParaRPr lang="en-US" sz="2000" dirty="0"/>
          </a:p>
        </p:txBody>
      </p:sp>
      <p:sp>
        <p:nvSpPr>
          <p:cNvPr id="7" name="Text 4"/>
          <p:cNvSpPr/>
          <p:nvPr/>
        </p:nvSpPr>
        <p:spPr>
          <a:xfrm>
            <a:off x="548640" y="2011680"/>
            <a:ext cx="5852160" cy="822960"/>
          </a:xfrm>
          <a:prstGeom prst="rect">
            <a:avLst/>
          </a:prstGeom>
          <a:noFill/>
          <a:ln/>
        </p:spPr>
        <p:txBody>
          <a:bodyPr wrap="square" lIns="0" tIns="0" rIns="0" bIns="0" rtlCol="0" anchor="ctr"/>
          <a:lstStyle/>
          <a:p>
            <a:pPr marL="0" indent="0">
              <a:buNone/>
            </a:pPr>
            <a:r>
              <a:rPr lang="en-US" sz="2000" dirty="0">
                <a:solidFill>
                  <a:schemeClr val="bg2">
                    <a:lumMod val="50000"/>
                  </a:schemeClr>
                </a:solidFill>
              </a:rPr>
              <a:t>Removes a narrow band around one specific frequency, leaving everything else untouched</a:t>
            </a:r>
            <a:r>
              <a:rPr lang="en-US" sz="1450" dirty="0">
                <a:solidFill>
                  <a:srgbClr val="1B2733"/>
                </a:solidFill>
                <a:latin typeface="Calibri" pitchFamily="34" charset="0"/>
                <a:ea typeface="Calibri" pitchFamily="34" charset="-122"/>
                <a:cs typeface="Calibri" pitchFamily="34" charset="-120"/>
              </a:rPr>
              <a:t>.</a:t>
            </a:r>
            <a:endParaRPr lang="en-US" sz="1450" dirty="0"/>
          </a:p>
        </p:txBody>
      </p:sp>
      <p:sp>
        <p:nvSpPr>
          <p:cNvPr id="8" name="Text 5"/>
          <p:cNvSpPr/>
          <p:nvPr/>
        </p:nvSpPr>
        <p:spPr>
          <a:xfrm>
            <a:off x="548640" y="2971800"/>
            <a:ext cx="5852160" cy="320040"/>
          </a:xfrm>
          <a:prstGeom prst="rect">
            <a:avLst/>
          </a:prstGeom>
          <a:noFill/>
          <a:ln/>
        </p:spPr>
        <p:txBody>
          <a:bodyPr wrap="square" lIns="0" tIns="0" rIns="0" bIns="0" rtlCol="0" anchor="ctr"/>
          <a:lstStyle/>
          <a:p>
            <a:r>
              <a:rPr lang="en-US" sz="2000" b="1" dirty="0">
                <a:solidFill>
                  <a:srgbClr val="D64550"/>
                </a:solidFill>
                <a:latin typeface="Calibri" pitchFamily="34" charset="0"/>
                <a:cs typeface="Calibri" pitchFamily="34" charset="-120"/>
              </a:rPr>
              <a:t>Typical cutoff</a:t>
            </a:r>
          </a:p>
        </p:txBody>
      </p:sp>
      <p:sp>
        <p:nvSpPr>
          <p:cNvPr id="9" name="Text 6"/>
          <p:cNvSpPr/>
          <p:nvPr/>
        </p:nvSpPr>
        <p:spPr>
          <a:xfrm>
            <a:off x="548640" y="3291840"/>
            <a:ext cx="5852160" cy="502920"/>
          </a:xfrm>
          <a:prstGeom prst="rect">
            <a:avLst/>
          </a:prstGeom>
          <a:noFill/>
          <a:ln/>
        </p:spPr>
        <p:txBody>
          <a:bodyPr wrap="square" lIns="0" tIns="0" rIns="0" bIns="0" rtlCol="0" anchor="ctr"/>
          <a:lstStyle/>
          <a:p>
            <a:pPr indent="0">
              <a:buNone/>
            </a:pPr>
            <a:r>
              <a:rPr lang="en-US" sz="2000" dirty="0">
                <a:solidFill>
                  <a:schemeClr val="bg2">
                    <a:lumMod val="50000"/>
                  </a:schemeClr>
                </a:solidFill>
              </a:rPr>
              <a:t>50 Hz (Europe/Africa) or 60 Hz (Americas).</a:t>
            </a:r>
          </a:p>
        </p:txBody>
      </p:sp>
      <p:sp>
        <p:nvSpPr>
          <p:cNvPr id="10" name="Text 7"/>
          <p:cNvSpPr/>
          <p:nvPr/>
        </p:nvSpPr>
        <p:spPr>
          <a:xfrm>
            <a:off x="548640" y="3931920"/>
            <a:ext cx="5852160" cy="320040"/>
          </a:xfrm>
          <a:prstGeom prst="rect">
            <a:avLst/>
          </a:prstGeom>
          <a:noFill/>
          <a:ln/>
        </p:spPr>
        <p:txBody>
          <a:bodyPr wrap="square" lIns="0" tIns="0" rIns="0" bIns="0" rtlCol="0" anchor="ctr"/>
          <a:lstStyle/>
          <a:p>
            <a:r>
              <a:rPr lang="en-US" sz="2000" b="1" dirty="0">
                <a:solidFill>
                  <a:srgbClr val="D64550"/>
                </a:solidFill>
                <a:latin typeface="Calibri" pitchFamily="34" charset="0"/>
                <a:cs typeface="Calibri" pitchFamily="34" charset="-120"/>
              </a:rPr>
              <a:t>Use it for</a:t>
            </a:r>
          </a:p>
        </p:txBody>
      </p:sp>
      <p:sp>
        <p:nvSpPr>
          <p:cNvPr id="11" name="Text 8"/>
          <p:cNvSpPr/>
          <p:nvPr/>
        </p:nvSpPr>
        <p:spPr>
          <a:xfrm>
            <a:off x="548640" y="4251960"/>
            <a:ext cx="5852160" cy="777240"/>
          </a:xfrm>
          <a:prstGeom prst="rect">
            <a:avLst/>
          </a:prstGeom>
          <a:noFill/>
          <a:ln/>
        </p:spPr>
        <p:txBody>
          <a:bodyPr wrap="square" lIns="0" tIns="0" rIns="0" bIns="0" rtlCol="0" anchor="ctr"/>
          <a:lstStyle/>
          <a:p>
            <a:r>
              <a:rPr lang="en-US" sz="2000" dirty="0">
                <a:solidFill>
                  <a:schemeClr val="bg2">
                    <a:lumMod val="50000"/>
                  </a:schemeClr>
                </a:solidFill>
              </a:rPr>
              <a:t>Targeting power-line interference specifically, without discarding nearby frequencies.</a:t>
            </a:r>
          </a:p>
        </p:txBody>
      </p:sp>
      <p:sp>
        <p:nvSpPr>
          <p:cNvPr id="13" name="Text 10"/>
          <p:cNvSpPr/>
          <p:nvPr/>
        </p:nvSpPr>
        <p:spPr>
          <a:xfrm>
            <a:off x="7132320" y="1874520"/>
            <a:ext cx="4206240" cy="274320"/>
          </a:xfrm>
          <a:prstGeom prst="rect">
            <a:avLst/>
          </a:prstGeom>
          <a:noFill/>
          <a:ln/>
        </p:spPr>
        <p:txBody>
          <a:bodyPr wrap="square" lIns="0" tIns="0" rIns="0" bIns="0" rtlCol="0" anchor="ctr"/>
          <a:lstStyle/>
          <a:p>
            <a:pPr marL="0" indent="0">
              <a:buNone/>
            </a:pPr>
            <a:r>
              <a:rPr lang="en-US" sz="1100" i="1" dirty="0">
                <a:solidFill>
                  <a:srgbClr val="5B6B7A"/>
                </a:solidFill>
                <a:latin typeface="Calibri" pitchFamily="34" charset="0"/>
                <a:ea typeface="Calibri" pitchFamily="34" charset="-122"/>
                <a:cs typeface="Calibri" pitchFamily="34" charset="-120"/>
              </a:rPr>
              <a:t>Frequency response</a:t>
            </a:r>
            <a:endParaRPr lang="en-US" sz="1100" dirty="0"/>
          </a:p>
        </p:txBody>
      </p:sp>
      <p:graphicFrame>
        <p:nvGraphicFramePr>
          <p:cNvPr id="14" name="Chart 0"/>
          <p:cNvGraphicFramePr/>
          <p:nvPr/>
        </p:nvGraphicFramePr>
        <p:xfrm>
          <a:off x="7086600" y="2194560"/>
          <a:ext cx="425196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 14"/>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B · Filter Types</a:t>
            </a:r>
            <a:endParaRPr lang="en-US" sz="1000" dirty="0"/>
          </a:p>
        </p:txBody>
      </p:sp>
      <p:sp>
        <p:nvSpPr>
          <p:cNvPr id="19" name="Text 15"/>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F2A541"/>
                </a:solidFill>
                <a:latin typeface="Calibri" pitchFamily="34" charset="0"/>
                <a:ea typeface="Calibri" pitchFamily="34" charset="-122"/>
                <a:cs typeface="Calibri" pitchFamily="34" charset="-120"/>
              </a:rPr>
              <a:t>LIVE CODING</a:t>
            </a:r>
            <a:endParaRPr lang="en-US" sz="1200" dirty="0"/>
          </a:p>
        </p:txBody>
      </p:sp>
      <p:sp>
        <p:nvSpPr>
          <p:cNvPr id="3" name="Shape 1"/>
          <p:cNvSpPr/>
          <p:nvPr/>
        </p:nvSpPr>
        <p:spPr>
          <a:xfrm>
            <a:off x="548640" y="786384"/>
            <a:ext cx="640080" cy="640080"/>
          </a:xfrm>
          <a:prstGeom prst="ellipse">
            <a:avLst/>
          </a:prstGeom>
          <a:solidFill>
            <a:srgbClr val="F2A541"/>
          </a:solidFill>
          <a:ln/>
        </p:spPr>
        <p:txBody>
          <a:bodyPr/>
          <a:lstStyle/>
          <a:p>
            <a:endParaRPr lang="en-GH"/>
          </a:p>
        </p:txBody>
      </p:sp>
      <p:pic>
        <p:nvPicPr>
          <p:cNvPr id="4" name="Image 0" descr="/home/claude/icons/code.png"/>
          <p:cNvPicPr>
            <a:picLocks noChangeAspect="1"/>
          </p:cNvPicPr>
          <p:nvPr/>
        </p:nvPicPr>
        <p:blipFill>
          <a:blip r:embed="rId3"/>
          <a:stretch>
            <a:fillRect/>
          </a:stretch>
        </p:blipFill>
        <p:spPr>
          <a:xfrm>
            <a:off x="702259" y="940003"/>
            <a:ext cx="332842" cy="332842"/>
          </a:xfrm>
          <a:prstGeom prst="rect">
            <a:avLst/>
          </a:prstGeom>
        </p:spPr>
      </p:pic>
      <p:sp>
        <p:nvSpPr>
          <p:cNvPr id="5" name="Text 2"/>
          <p:cNvSpPr/>
          <p:nvPr/>
        </p:nvSpPr>
        <p:spPr>
          <a:xfrm>
            <a:off x="1371600" y="786384"/>
            <a:ext cx="8686800" cy="594360"/>
          </a:xfrm>
          <a:prstGeom prst="rect">
            <a:avLst/>
          </a:prstGeom>
          <a:noFill/>
          <a:ln/>
        </p:spPr>
        <p:txBody>
          <a:bodyPr wrap="square" lIns="0" tIns="0" rIns="0" bIns="0" rtlCol="0" anchor="ctr"/>
          <a:lstStyle/>
          <a:p>
            <a:pPr marL="0" indent="0">
              <a:buNone/>
            </a:pPr>
            <a:r>
              <a:rPr lang="en-US" sz="2300" b="1" dirty="0">
                <a:solidFill>
                  <a:srgbClr val="1B2733"/>
                </a:solidFill>
                <a:latin typeface="Cambria" pitchFamily="34" charset="0"/>
                <a:ea typeface="Cambria" pitchFamily="34" charset="-122"/>
                <a:cs typeface="Cambria" pitchFamily="34" charset="-120"/>
              </a:rPr>
              <a:t>Choosing Filter cutoffs</a:t>
            </a:r>
            <a:endParaRPr lang="en-US" sz="2300" dirty="0"/>
          </a:p>
        </p:txBody>
      </p:sp>
      <p:sp>
        <p:nvSpPr>
          <p:cNvPr id="7" name="Shape 4"/>
          <p:cNvSpPr/>
          <p:nvPr/>
        </p:nvSpPr>
        <p:spPr>
          <a:xfrm>
            <a:off x="832757" y="2220467"/>
            <a:ext cx="10797721" cy="2825061"/>
          </a:xfrm>
          <a:prstGeom prst="roundRect">
            <a:avLst>
              <a:gd name="adj" fmla="val 10000"/>
            </a:avLst>
          </a:prstGeom>
          <a:solidFill>
            <a:srgbClr val="E7F2F8"/>
          </a:solidFill>
          <a:ln/>
        </p:spPr>
        <p:txBody>
          <a:bodyPr/>
          <a:lstStyle/>
          <a:p>
            <a:endParaRPr lang="en-GH"/>
          </a:p>
        </p:txBody>
      </p:sp>
      <p:sp>
        <p:nvSpPr>
          <p:cNvPr id="12" name="Text 9"/>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B · Filter Types</a:t>
            </a:r>
            <a:endParaRPr lang="en-US" sz="1000" dirty="0"/>
          </a:p>
        </p:txBody>
      </p:sp>
      <p:sp>
        <p:nvSpPr>
          <p:cNvPr id="13" name="Text 10"/>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graphicFrame>
        <p:nvGraphicFramePr>
          <p:cNvPr id="14" name="Table 13">
            <a:extLst>
              <a:ext uri="{FF2B5EF4-FFF2-40B4-BE49-F238E27FC236}">
                <a16:creationId xmlns:a16="http://schemas.microsoft.com/office/drawing/2014/main" id="{EF6C4BE3-7862-BC1D-7328-1CE689946932}"/>
              </a:ext>
            </a:extLst>
          </p:cNvPr>
          <p:cNvGraphicFramePr>
            <a:graphicFrameLocks noGrp="1"/>
          </p:cNvGraphicFramePr>
          <p:nvPr>
            <p:extLst>
              <p:ext uri="{D42A27DB-BD31-4B8C-83A1-F6EECF244321}">
                <p14:modId xmlns:p14="http://schemas.microsoft.com/office/powerpoint/2010/main" val="1653147759"/>
              </p:ext>
            </p:extLst>
          </p:nvPr>
        </p:nvGraphicFramePr>
        <p:xfrm>
          <a:off x="832757" y="2531364"/>
          <a:ext cx="10797720" cy="2225040"/>
        </p:xfrm>
        <a:graphic>
          <a:graphicData uri="http://schemas.openxmlformats.org/drawingml/2006/table">
            <a:tbl>
              <a:tblPr firstRow="1" bandRow="1">
                <a:tableStyleId>{F5AB1C69-6EDB-4FF4-983F-18BD219EF322}</a:tableStyleId>
              </a:tblPr>
              <a:tblGrid>
                <a:gridCol w="3599240">
                  <a:extLst>
                    <a:ext uri="{9D8B030D-6E8A-4147-A177-3AD203B41FA5}">
                      <a16:colId xmlns:a16="http://schemas.microsoft.com/office/drawing/2014/main" val="839229252"/>
                    </a:ext>
                  </a:extLst>
                </a:gridCol>
                <a:gridCol w="3599240">
                  <a:extLst>
                    <a:ext uri="{9D8B030D-6E8A-4147-A177-3AD203B41FA5}">
                      <a16:colId xmlns:a16="http://schemas.microsoft.com/office/drawing/2014/main" val="2005087127"/>
                    </a:ext>
                  </a:extLst>
                </a:gridCol>
                <a:gridCol w="3599240">
                  <a:extLst>
                    <a:ext uri="{9D8B030D-6E8A-4147-A177-3AD203B41FA5}">
                      <a16:colId xmlns:a16="http://schemas.microsoft.com/office/drawing/2014/main" val="2306713040"/>
                    </a:ext>
                  </a:extLst>
                </a:gridCol>
              </a:tblGrid>
              <a:tr h="370840">
                <a:tc>
                  <a:txBody>
                    <a:bodyPr/>
                    <a:lstStyle/>
                    <a:p>
                      <a:r>
                        <a:rPr lang="en-US" dirty="0"/>
                        <a:t>Application</a:t>
                      </a:r>
                      <a:endParaRPr lang="en-GH" dirty="0"/>
                    </a:p>
                  </a:txBody>
                  <a:tcPr/>
                </a:tc>
                <a:tc>
                  <a:txBody>
                    <a:bodyPr/>
                    <a:lstStyle/>
                    <a:p>
                      <a:r>
                        <a:rPr lang="en-US" dirty="0" err="1"/>
                        <a:t>Highpass</a:t>
                      </a:r>
                      <a:endParaRPr lang="en-GH" dirty="0"/>
                    </a:p>
                  </a:txBody>
                  <a:tcPr/>
                </a:tc>
                <a:tc>
                  <a:txBody>
                    <a:bodyPr/>
                    <a:lstStyle/>
                    <a:p>
                      <a:r>
                        <a:rPr lang="en-US" dirty="0"/>
                        <a:t>Lowpass</a:t>
                      </a:r>
                      <a:endParaRPr lang="en-GH" dirty="0"/>
                    </a:p>
                  </a:txBody>
                  <a:tcPr/>
                </a:tc>
                <a:extLst>
                  <a:ext uri="{0D108BD9-81ED-4DB2-BD59-A6C34878D82A}">
                    <a16:rowId xmlns:a16="http://schemas.microsoft.com/office/drawing/2014/main" val="679291453"/>
                  </a:ext>
                </a:extLst>
              </a:tr>
              <a:tr h="370840">
                <a:tc>
                  <a:txBody>
                    <a:bodyPr/>
                    <a:lstStyle/>
                    <a:p>
                      <a:r>
                        <a:rPr lang="en-US" dirty="0"/>
                        <a:t>ERP</a:t>
                      </a:r>
                      <a:endParaRPr lang="en-GH" dirty="0"/>
                    </a:p>
                  </a:txBody>
                  <a:tcPr/>
                </a:tc>
                <a:tc>
                  <a:txBody>
                    <a:bodyPr/>
                    <a:lstStyle/>
                    <a:p>
                      <a:r>
                        <a:rPr lang="en-US" dirty="0"/>
                        <a:t>0.1 Hz</a:t>
                      </a:r>
                      <a:endParaRPr lang="en-G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30 Hz</a:t>
                      </a:r>
                      <a:endParaRPr lang="en-GH" dirty="0"/>
                    </a:p>
                  </a:txBody>
                  <a:tcPr/>
                </a:tc>
                <a:extLst>
                  <a:ext uri="{0D108BD9-81ED-4DB2-BD59-A6C34878D82A}">
                    <a16:rowId xmlns:a16="http://schemas.microsoft.com/office/drawing/2014/main" val="404364818"/>
                  </a:ext>
                </a:extLst>
              </a:tr>
              <a:tr h="370840">
                <a:tc>
                  <a:txBody>
                    <a:bodyPr/>
                    <a:lstStyle/>
                    <a:p>
                      <a:r>
                        <a:rPr lang="en-US" dirty="0"/>
                        <a:t>Cognitive</a:t>
                      </a:r>
                      <a:endParaRPr lang="en-G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Hz</a:t>
                      </a:r>
                      <a:endParaRPr lang="en-G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40 Hz</a:t>
                      </a:r>
                      <a:endParaRPr lang="en-GH" dirty="0"/>
                    </a:p>
                  </a:txBody>
                  <a:tcPr/>
                </a:tc>
                <a:extLst>
                  <a:ext uri="{0D108BD9-81ED-4DB2-BD59-A6C34878D82A}">
                    <a16:rowId xmlns:a16="http://schemas.microsoft.com/office/drawing/2014/main" val="711904106"/>
                  </a:ext>
                </a:extLst>
              </a:tr>
              <a:tr h="370840">
                <a:tc>
                  <a:txBody>
                    <a:bodyPr/>
                    <a:lstStyle/>
                    <a:p>
                      <a:r>
                        <a:rPr lang="en-US" dirty="0"/>
                        <a:t>Resting state</a:t>
                      </a:r>
                      <a:endParaRPr lang="en-G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Hz</a:t>
                      </a:r>
                      <a:endParaRPr lang="en-G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45 Hz</a:t>
                      </a:r>
                      <a:endParaRPr lang="en-GH" dirty="0"/>
                    </a:p>
                  </a:txBody>
                  <a:tcPr/>
                </a:tc>
                <a:extLst>
                  <a:ext uri="{0D108BD9-81ED-4DB2-BD59-A6C34878D82A}">
                    <a16:rowId xmlns:a16="http://schemas.microsoft.com/office/drawing/2014/main" val="246840808"/>
                  </a:ext>
                </a:extLst>
              </a:tr>
              <a:tr h="370840">
                <a:tc>
                  <a:txBody>
                    <a:bodyPr/>
                    <a:lstStyle/>
                    <a:p>
                      <a:r>
                        <a:rPr lang="en-US" dirty="0"/>
                        <a:t>Sleep</a:t>
                      </a:r>
                      <a:endParaRPr lang="en-G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0.1 Hz</a:t>
                      </a:r>
                      <a:endParaRPr lang="en-G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35 Hz</a:t>
                      </a:r>
                      <a:endParaRPr lang="en-GH" dirty="0"/>
                    </a:p>
                  </a:txBody>
                  <a:tcPr/>
                </a:tc>
                <a:extLst>
                  <a:ext uri="{0D108BD9-81ED-4DB2-BD59-A6C34878D82A}">
                    <a16:rowId xmlns:a16="http://schemas.microsoft.com/office/drawing/2014/main" val="102224486"/>
                  </a:ext>
                </a:extLst>
              </a:tr>
              <a:tr h="370840">
                <a:tc>
                  <a:txBody>
                    <a:bodyPr/>
                    <a:lstStyle/>
                    <a:p>
                      <a:r>
                        <a:rPr lang="en-US" dirty="0"/>
                        <a:t>Gamma Analysis</a:t>
                      </a:r>
                      <a:endParaRPr lang="en-G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Hz</a:t>
                      </a:r>
                      <a:endParaRPr lang="en-G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100 Hz</a:t>
                      </a:r>
                      <a:endParaRPr lang="en-GH" dirty="0"/>
                    </a:p>
                  </a:txBody>
                  <a:tcPr/>
                </a:tc>
                <a:extLst>
                  <a:ext uri="{0D108BD9-81ED-4DB2-BD59-A6C34878D82A}">
                    <a16:rowId xmlns:a16="http://schemas.microsoft.com/office/drawing/2014/main" val="111558016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1B3A5C"/>
                </a:solidFill>
                <a:latin typeface="Calibri" pitchFamily="34" charset="0"/>
                <a:ea typeface="Calibri" pitchFamily="34" charset="-122"/>
                <a:cs typeface="Calibri" pitchFamily="34" charset="-120"/>
              </a:rPr>
              <a:t>PART B RECAP</a:t>
            </a:r>
            <a:endParaRPr lang="en-US" sz="1200" dirty="0"/>
          </a:p>
        </p:txBody>
      </p:sp>
      <p:sp>
        <p:nvSpPr>
          <p:cNvPr id="3" name="Text 1"/>
          <p:cNvSpPr/>
          <p:nvPr/>
        </p:nvSpPr>
        <p:spPr>
          <a:xfrm>
            <a:off x="548640" y="749808"/>
            <a:ext cx="10515600" cy="548640"/>
          </a:xfrm>
          <a:prstGeom prst="rect">
            <a:avLst/>
          </a:prstGeom>
          <a:noFill/>
          <a:ln/>
        </p:spPr>
        <p:txBody>
          <a:bodyPr wrap="square" lIns="0" tIns="0" rIns="0" bIns="0" rtlCol="0" anchor="ctr"/>
          <a:lstStyle/>
          <a:p>
            <a:pPr marL="0" indent="0">
              <a:buNone/>
            </a:pPr>
            <a:r>
              <a:rPr lang="en-US" sz="2600" b="1" dirty="0">
                <a:solidFill>
                  <a:srgbClr val="1B2733"/>
                </a:solidFill>
                <a:latin typeface="Cambria" pitchFamily="34" charset="0"/>
                <a:ea typeface="Cambria" pitchFamily="34" charset="-122"/>
                <a:cs typeface="Cambria" pitchFamily="34" charset="-120"/>
              </a:rPr>
              <a:t>Filter types at a glance</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2546915778"/>
              </p:ext>
            </p:extLst>
          </p:nvPr>
        </p:nvGraphicFramePr>
        <p:xfrm>
          <a:off x="548640" y="1714500"/>
          <a:ext cx="11064240" cy="4046220"/>
        </p:xfrm>
        <a:graphic>
          <a:graphicData uri="http://schemas.openxmlformats.org/drawingml/2006/table">
            <a:tbl>
              <a:tblPr/>
              <a:tblGrid>
                <a:gridCol w="23774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80924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Filter</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solidFill>
                      <a:srgbClr val="1B3A5C"/>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Typical cutoff</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solidFill>
                      <a:srgbClr val="1B3A5C"/>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Removes</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809244">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Highpass</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0.1 Hz or 1 Hz</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Slow drift, DC offset</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extLst>
                  <a:ext uri="{0D108BD9-81ED-4DB2-BD59-A6C34878D82A}">
                    <a16:rowId xmlns:a16="http://schemas.microsoft.com/office/drawing/2014/main" val="10001"/>
                  </a:ext>
                </a:extLst>
              </a:tr>
              <a:tr h="809244">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Lowpass</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40 Hz or 100 Hz</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High-frequency noise; anti-aliasing</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extLst>
                  <a:ext uri="{0D108BD9-81ED-4DB2-BD59-A6C34878D82A}">
                    <a16:rowId xmlns:a16="http://schemas.microsoft.com/office/drawing/2014/main" val="10002"/>
                  </a:ext>
                </a:extLst>
              </a:tr>
              <a:tr h="809244">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Bandpass</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1–40 Hz (common for ERPs)</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Slow drift and high-frequency noise together</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extLst>
                  <a:ext uri="{0D108BD9-81ED-4DB2-BD59-A6C34878D82A}">
                    <a16:rowId xmlns:a16="http://schemas.microsoft.com/office/drawing/2014/main" val="10003"/>
                  </a:ext>
                </a:extLst>
              </a:tr>
              <a:tr h="809244">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Notch</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50 Hz or 60 Hz</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tc>
                  <a:txBody>
                    <a:bodyPr/>
                    <a:lstStyle/>
                    <a:p>
                      <a:pPr marL="0" indent="0">
                        <a:buNone/>
                      </a:pPr>
                      <a:r>
                        <a:rPr lang="en-US" sz="1300" dirty="0">
                          <a:solidFill>
                            <a:srgbClr val="1B2733"/>
                          </a:solidFill>
                          <a:latin typeface="Calibri" pitchFamily="34" charset="0"/>
                          <a:ea typeface="Calibri" pitchFamily="34" charset="-122"/>
                          <a:cs typeface="Calibri" pitchFamily="34" charset="-120"/>
                        </a:rPr>
                        <a:t>Power-line interference specifically</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B Recap</a:t>
            </a:r>
            <a:endParaRPr lang="en-US" sz="1000" dirty="0"/>
          </a:p>
        </p:txBody>
      </p:sp>
      <p:sp>
        <p:nvSpPr>
          <p:cNvPr id="6" name="Text 3"/>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132A46"/>
        </a:solidFill>
        <a:effectLst/>
      </p:bgPr>
    </p:bg>
    <p:spTree>
      <p:nvGrpSpPr>
        <p:cNvPr id="1" name=""/>
        <p:cNvGrpSpPr/>
        <p:nvPr/>
      </p:nvGrpSpPr>
      <p:grpSpPr>
        <a:xfrm>
          <a:off x="0" y="0"/>
          <a:ext cx="0" cy="0"/>
          <a:chOff x="0" y="0"/>
          <a:chExt cx="0" cy="0"/>
        </a:xfrm>
      </p:grpSpPr>
      <p:sp>
        <p:nvSpPr>
          <p:cNvPr id="3" name="Text 1"/>
          <p:cNvSpPr/>
          <p:nvPr/>
        </p:nvSpPr>
        <p:spPr>
          <a:xfrm>
            <a:off x="822960" y="2331720"/>
            <a:ext cx="4572000" cy="320040"/>
          </a:xfrm>
          <a:prstGeom prst="rect">
            <a:avLst/>
          </a:prstGeom>
          <a:noFill/>
          <a:ln/>
        </p:spPr>
        <p:txBody>
          <a:bodyPr wrap="square" rtlCol="0" anchor="ctr"/>
          <a:lstStyle/>
          <a:p>
            <a:pPr marL="0" indent="0">
              <a:buNone/>
            </a:pPr>
            <a:r>
              <a:rPr lang="en-US" sz="1200" b="1" kern="0" spc="200" dirty="0">
                <a:solidFill>
                  <a:srgbClr val="F2A541"/>
                </a:solidFill>
                <a:latin typeface="Calibri" pitchFamily="34" charset="0"/>
                <a:ea typeface="Calibri" pitchFamily="34" charset="-122"/>
                <a:cs typeface="Calibri" pitchFamily="34" charset="-120"/>
              </a:rPr>
              <a:t>PART C · 20 MIN</a:t>
            </a:r>
            <a:endParaRPr lang="en-US" sz="1200" dirty="0"/>
          </a:p>
        </p:txBody>
      </p:sp>
      <p:sp>
        <p:nvSpPr>
          <p:cNvPr id="4" name="Text 2"/>
          <p:cNvSpPr/>
          <p:nvPr/>
        </p:nvSpPr>
        <p:spPr>
          <a:xfrm>
            <a:off x="822960" y="2697480"/>
            <a:ext cx="100584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Re-referencing</a:t>
            </a:r>
            <a:endParaRPr lang="en-US" sz="4000" dirty="0"/>
          </a:p>
        </p:txBody>
      </p:sp>
      <p:sp>
        <p:nvSpPr>
          <p:cNvPr id="5" name="Text 3"/>
          <p:cNvSpPr/>
          <p:nvPr/>
        </p:nvSpPr>
        <p:spPr>
          <a:xfrm>
            <a:off x="822960" y="3703320"/>
            <a:ext cx="96012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Every EEG measurement is relative — the reference choice shapes what you see.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F2A541"/>
                </a:solidFill>
                <a:latin typeface="Calibri" pitchFamily="34" charset="0"/>
                <a:ea typeface="Calibri" pitchFamily="34" charset="-122"/>
                <a:cs typeface="Calibri" pitchFamily="34" charset="-120"/>
              </a:rPr>
              <a:t>THE CORE IDEA</a:t>
            </a:r>
            <a:endParaRPr lang="en-US" sz="1200" dirty="0"/>
          </a:p>
        </p:txBody>
      </p:sp>
      <p:sp>
        <p:nvSpPr>
          <p:cNvPr id="3" name="Shape 1"/>
          <p:cNvSpPr/>
          <p:nvPr/>
        </p:nvSpPr>
        <p:spPr>
          <a:xfrm>
            <a:off x="548640" y="786384"/>
            <a:ext cx="640080" cy="640080"/>
          </a:xfrm>
          <a:prstGeom prst="ellipse">
            <a:avLst/>
          </a:prstGeom>
          <a:solidFill>
            <a:srgbClr val="F2A541"/>
          </a:solidFill>
          <a:ln/>
        </p:spPr>
        <p:txBody>
          <a:bodyPr/>
          <a:lstStyle/>
          <a:p>
            <a:endParaRPr lang="en-GH"/>
          </a:p>
        </p:txBody>
      </p:sp>
      <p:pic>
        <p:nvPicPr>
          <p:cNvPr id="4" name="Image 0" descr="/home/claude/icons/shuffle.png"/>
          <p:cNvPicPr>
            <a:picLocks noChangeAspect="1"/>
          </p:cNvPicPr>
          <p:nvPr/>
        </p:nvPicPr>
        <p:blipFill>
          <a:blip r:embed="rId3"/>
          <a:stretch>
            <a:fillRect/>
          </a:stretch>
        </p:blipFill>
        <p:spPr>
          <a:xfrm>
            <a:off x="702259" y="940003"/>
            <a:ext cx="332842" cy="332842"/>
          </a:xfrm>
          <a:prstGeom prst="rect">
            <a:avLst/>
          </a:prstGeom>
        </p:spPr>
      </p:pic>
      <p:sp>
        <p:nvSpPr>
          <p:cNvPr id="5" name="Text 2"/>
          <p:cNvSpPr/>
          <p:nvPr/>
        </p:nvSpPr>
        <p:spPr>
          <a:xfrm>
            <a:off x="1371600" y="786384"/>
            <a:ext cx="8686800" cy="594360"/>
          </a:xfrm>
          <a:prstGeom prst="rect">
            <a:avLst/>
          </a:prstGeom>
          <a:noFill/>
          <a:ln/>
        </p:spPr>
        <p:txBody>
          <a:bodyPr wrap="square" lIns="0" tIns="0" rIns="0" bIns="0" rtlCol="0" anchor="ctr"/>
          <a:lstStyle/>
          <a:p>
            <a:pPr marL="0" indent="0">
              <a:buNone/>
            </a:pPr>
            <a:r>
              <a:rPr lang="en-US" sz="2300" b="1" dirty="0">
                <a:solidFill>
                  <a:srgbClr val="1B2733"/>
                </a:solidFill>
                <a:latin typeface="Cambria" pitchFamily="34" charset="0"/>
                <a:ea typeface="Cambria" pitchFamily="34" charset="-122"/>
                <a:cs typeface="Cambria" pitchFamily="34" charset="-120"/>
              </a:rPr>
              <a:t>EEG Is Always a Difference</a:t>
            </a:r>
            <a:endParaRPr lang="en-US" sz="2300" dirty="0"/>
          </a:p>
        </p:txBody>
      </p:sp>
      <p:sp>
        <p:nvSpPr>
          <p:cNvPr id="6" name="Shape 3"/>
          <p:cNvSpPr/>
          <p:nvPr/>
        </p:nvSpPr>
        <p:spPr>
          <a:xfrm>
            <a:off x="548640" y="1828800"/>
            <a:ext cx="11064240" cy="1280160"/>
          </a:xfrm>
          <a:prstGeom prst="roundRect">
            <a:avLst>
              <a:gd name="adj" fmla="val 7143"/>
            </a:avLst>
          </a:prstGeom>
          <a:ln/>
        </p:spPr>
        <p:style>
          <a:lnRef idx="0">
            <a:schemeClr val="accent3"/>
          </a:lnRef>
          <a:fillRef idx="3">
            <a:schemeClr val="accent3"/>
          </a:fillRef>
          <a:effectRef idx="3">
            <a:schemeClr val="accent3"/>
          </a:effectRef>
          <a:fontRef idx="minor">
            <a:schemeClr val="lt1"/>
          </a:fontRef>
        </p:style>
        <p:txBody>
          <a:bodyPr/>
          <a:lstStyle/>
          <a:p>
            <a:endParaRPr lang="en-GH"/>
          </a:p>
        </p:txBody>
      </p:sp>
      <p:sp>
        <p:nvSpPr>
          <p:cNvPr id="7" name="Text 4"/>
          <p:cNvSpPr/>
          <p:nvPr/>
        </p:nvSpPr>
        <p:spPr>
          <a:xfrm>
            <a:off x="868680" y="2011680"/>
            <a:ext cx="10424160" cy="914400"/>
          </a:xfrm>
          <a:prstGeom prst="rect">
            <a:avLst/>
          </a:prstGeom>
          <a:noFill/>
          <a:ln/>
        </p:spPr>
        <p:txBody>
          <a:bodyPr wrap="square" lIns="0" tIns="0" rIns="0" bIns="0" rtlCol="0" anchor="ctr"/>
          <a:lstStyle/>
          <a:p>
            <a:pPr marL="0" indent="0">
              <a:buNone/>
            </a:pPr>
            <a:r>
              <a:rPr lang="en-US" sz="1550" dirty="0">
                <a:latin typeface="Calibri" pitchFamily="34" charset="0"/>
                <a:ea typeface="Calibri" pitchFamily="34" charset="-122"/>
                <a:cs typeface="Calibri" pitchFamily="34" charset="-120"/>
              </a:rPr>
              <a:t>Every EEG channel is measured relative to a reference electrode. The voltage you see is never absolute — it’s always "this electrode minus the reference."</a:t>
            </a:r>
            <a:endParaRPr lang="en-US" sz="1550" dirty="0"/>
          </a:p>
        </p:txBody>
      </p:sp>
      <p:sp>
        <p:nvSpPr>
          <p:cNvPr id="8" name="Text 5"/>
          <p:cNvSpPr/>
          <p:nvPr/>
        </p:nvSpPr>
        <p:spPr>
          <a:xfrm>
            <a:off x="548640" y="3383280"/>
            <a:ext cx="10515600" cy="365760"/>
          </a:xfrm>
          <a:prstGeom prst="rect">
            <a:avLst/>
          </a:prstGeom>
          <a:noFill/>
          <a:ln/>
        </p:spPr>
        <p:txBody>
          <a:bodyPr wrap="square" lIns="0" tIns="0" rIns="0" bIns="0" rtlCol="0" anchor="ctr"/>
          <a:lstStyle/>
          <a:p>
            <a:pPr marL="0" indent="0">
              <a:buNone/>
            </a:pPr>
            <a:r>
              <a:rPr lang="en-US" sz="1400" b="1" dirty="0">
                <a:solidFill>
                  <a:srgbClr val="F2A541"/>
                </a:solidFill>
                <a:latin typeface="Calibri" pitchFamily="34" charset="0"/>
                <a:ea typeface="Calibri" pitchFamily="34" charset="-122"/>
                <a:cs typeface="Calibri" pitchFamily="34" charset="-120"/>
              </a:rPr>
              <a:t>Why the choice matters</a:t>
            </a:r>
            <a:endParaRPr lang="en-US" sz="1400" dirty="0"/>
          </a:p>
        </p:txBody>
      </p:sp>
      <p:sp>
        <p:nvSpPr>
          <p:cNvPr id="9" name="Shape 6"/>
          <p:cNvSpPr/>
          <p:nvPr/>
        </p:nvSpPr>
        <p:spPr>
          <a:xfrm>
            <a:off x="594360" y="3886200"/>
            <a:ext cx="128016" cy="128016"/>
          </a:xfrm>
          <a:prstGeom prst="ellipse">
            <a:avLst/>
          </a:prstGeom>
          <a:solidFill>
            <a:srgbClr val="F2A541"/>
          </a:solidFill>
          <a:ln/>
        </p:spPr>
        <p:txBody>
          <a:bodyPr/>
          <a:lstStyle/>
          <a:p>
            <a:endParaRPr lang="en-GH"/>
          </a:p>
        </p:txBody>
      </p:sp>
      <p:sp>
        <p:nvSpPr>
          <p:cNvPr id="10" name="Text 7"/>
          <p:cNvSpPr/>
          <p:nvPr/>
        </p:nvSpPr>
        <p:spPr>
          <a:xfrm>
            <a:off x="914400" y="3721608"/>
            <a:ext cx="10149840" cy="548640"/>
          </a:xfrm>
          <a:prstGeom prst="rect">
            <a:avLst/>
          </a:prstGeom>
          <a:noFill/>
          <a:ln/>
        </p:spPr>
        <p:txBody>
          <a:bodyPr wrap="square" lIns="0" tIns="0" rIns="0" bIns="0" rtlCol="0" anchor="ctr"/>
          <a:lstStyle/>
          <a:p>
            <a:pPr marL="0" indent="0">
              <a:buNone/>
            </a:pPr>
            <a:r>
              <a:rPr lang="en-US" sz="1400" dirty="0">
                <a:solidFill>
                  <a:srgbClr val="1B2733"/>
                </a:solidFill>
                <a:latin typeface="Calibri" pitchFamily="34" charset="0"/>
                <a:ea typeface="Calibri" pitchFamily="34" charset="-122"/>
                <a:cs typeface="Calibri" pitchFamily="34" charset="-120"/>
              </a:rPr>
              <a:t>A noisy or biased reference electrode contaminates every single channel in the recording.</a:t>
            </a:r>
            <a:endParaRPr lang="en-US" sz="1400" dirty="0"/>
          </a:p>
        </p:txBody>
      </p:sp>
      <p:sp>
        <p:nvSpPr>
          <p:cNvPr id="11" name="Shape 8"/>
          <p:cNvSpPr/>
          <p:nvPr/>
        </p:nvSpPr>
        <p:spPr>
          <a:xfrm>
            <a:off x="594360" y="4507992"/>
            <a:ext cx="128016" cy="128016"/>
          </a:xfrm>
          <a:prstGeom prst="ellipse">
            <a:avLst/>
          </a:prstGeom>
          <a:solidFill>
            <a:srgbClr val="F2A541"/>
          </a:solidFill>
          <a:ln/>
        </p:spPr>
        <p:txBody>
          <a:bodyPr/>
          <a:lstStyle/>
          <a:p>
            <a:endParaRPr lang="en-GH"/>
          </a:p>
        </p:txBody>
      </p:sp>
      <p:sp>
        <p:nvSpPr>
          <p:cNvPr id="12" name="Text 9"/>
          <p:cNvSpPr/>
          <p:nvPr/>
        </p:nvSpPr>
        <p:spPr>
          <a:xfrm>
            <a:off x="914400" y="4343400"/>
            <a:ext cx="10149840" cy="548640"/>
          </a:xfrm>
          <a:prstGeom prst="rect">
            <a:avLst/>
          </a:prstGeom>
          <a:noFill/>
          <a:ln/>
        </p:spPr>
        <p:txBody>
          <a:bodyPr wrap="square" lIns="0" tIns="0" rIns="0" bIns="0" rtlCol="0" anchor="ctr"/>
          <a:lstStyle/>
          <a:p>
            <a:pPr marL="0" indent="0">
              <a:buNone/>
            </a:pPr>
            <a:r>
              <a:rPr lang="en-US" sz="1400" dirty="0">
                <a:solidFill>
                  <a:srgbClr val="1B2733"/>
                </a:solidFill>
                <a:latin typeface="Calibri" pitchFamily="34" charset="0"/>
                <a:ea typeface="Calibri" pitchFamily="34" charset="-122"/>
                <a:cs typeface="Calibri" pitchFamily="34" charset="-120"/>
              </a:rPr>
              <a:t>Different reference schemes can change apparent amplitude, topography, and even which effects look significant.</a:t>
            </a:r>
            <a:endParaRPr lang="en-US" sz="1400" dirty="0"/>
          </a:p>
        </p:txBody>
      </p:sp>
      <p:sp>
        <p:nvSpPr>
          <p:cNvPr id="13" name="Shape 10"/>
          <p:cNvSpPr/>
          <p:nvPr/>
        </p:nvSpPr>
        <p:spPr>
          <a:xfrm>
            <a:off x="594360" y="5129784"/>
            <a:ext cx="128016" cy="128016"/>
          </a:xfrm>
          <a:prstGeom prst="ellipse">
            <a:avLst/>
          </a:prstGeom>
          <a:solidFill>
            <a:srgbClr val="F2A541"/>
          </a:solidFill>
          <a:ln/>
        </p:spPr>
        <p:txBody>
          <a:bodyPr/>
          <a:lstStyle/>
          <a:p>
            <a:endParaRPr lang="en-GH"/>
          </a:p>
        </p:txBody>
      </p:sp>
      <p:sp>
        <p:nvSpPr>
          <p:cNvPr id="14" name="Text 11"/>
          <p:cNvSpPr/>
          <p:nvPr/>
        </p:nvSpPr>
        <p:spPr>
          <a:xfrm>
            <a:off x="914400" y="4965192"/>
            <a:ext cx="10149840" cy="548640"/>
          </a:xfrm>
          <a:prstGeom prst="rect">
            <a:avLst/>
          </a:prstGeom>
          <a:noFill/>
          <a:ln/>
        </p:spPr>
        <p:txBody>
          <a:bodyPr wrap="square" lIns="0" tIns="0" rIns="0" bIns="0" rtlCol="0" anchor="ctr"/>
          <a:lstStyle/>
          <a:p>
            <a:pPr marL="0" indent="0">
              <a:buNone/>
            </a:pPr>
            <a:r>
              <a:rPr lang="en-US" sz="1400" dirty="0">
                <a:solidFill>
                  <a:srgbClr val="1B2733"/>
                </a:solidFill>
                <a:latin typeface="Calibri" pitchFamily="34" charset="0"/>
                <a:ea typeface="Calibri" pitchFamily="34" charset="-122"/>
                <a:cs typeface="Calibri" pitchFamily="34" charset="-120"/>
              </a:rPr>
              <a:t>There is no universally "correct" reference — only trade-offs suited to different montages and questions.</a:t>
            </a:r>
            <a:endParaRPr lang="en-US" sz="1400" dirty="0"/>
          </a:p>
        </p:txBody>
      </p:sp>
      <p:sp>
        <p:nvSpPr>
          <p:cNvPr id="15" name="Text 12"/>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C · Re-referencing</a:t>
            </a:r>
            <a:endParaRPr lang="en-US" sz="1000" dirty="0"/>
          </a:p>
        </p:txBody>
      </p:sp>
      <p:sp>
        <p:nvSpPr>
          <p:cNvPr id="16" name="Text 13"/>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F2A541"/>
                </a:solidFill>
                <a:latin typeface="Calibri" pitchFamily="34" charset="0"/>
                <a:ea typeface="Calibri" pitchFamily="34" charset="-122"/>
                <a:cs typeface="Calibri" pitchFamily="34" charset="-120"/>
              </a:rPr>
              <a:t>REFERENCING SCHEMES</a:t>
            </a:r>
            <a:endParaRPr lang="en-US" sz="1200" dirty="0"/>
          </a:p>
        </p:txBody>
      </p:sp>
      <p:sp>
        <p:nvSpPr>
          <p:cNvPr id="3" name="Text 1"/>
          <p:cNvSpPr/>
          <p:nvPr/>
        </p:nvSpPr>
        <p:spPr>
          <a:xfrm>
            <a:off x="548640" y="749808"/>
            <a:ext cx="10515600" cy="548640"/>
          </a:xfrm>
          <a:prstGeom prst="rect">
            <a:avLst/>
          </a:prstGeom>
          <a:noFill/>
          <a:ln/>
        </p:spPr>
        <p:txBody>
          <a:bodyPr wrap="square" lIns="0" tIns="0" rIns="0" bIns="0" rtlCol="0" anchor="ctr"/>
          <a:lstStyle/>
          <a:p>
            <a:pPr marL="0" indent="0">
              <a:buNone/>
            </a:pPr>
            <a:r>
              <a:rPr lang="en-US" sz="2600" b="1" dirty="0">
                <a:solidFill>
                  <a:srgbClr val="1B2733"/>
                </a:solidFill>
                <a:latin typeface="Cambria" pitchFamily="34" charset="0"/>
                <a:ea typeface="Cambria" pitchFamily="34" charset="-122"/>
                <a:cs typeface="Cambria" pitchFamily="34" charset="-120"/>
              </a:rPr>
              <a:t>Three common approaches</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4297680"/>
        </p:xfrm>
        <a:graphic>
          <a:graphicData uri="http://schemas.openxmlformats.org/drawingml/2006/table">
            <a:tbl>
              <a:tblPr/>
              <a:tblGrid>
                <a:gridCol w="28346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107442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Scheme</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solidFill>
                      <a:srgbClr val="F2A54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How it works</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solidFill>
                      <a:srgbClr val="F2A54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Trade-off</a:t>
                      </a:r>
                      <a:endParaRPr lang="en-US" sz="130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solidFill>
                      <a:srgbClr val="F2A541"/>
                    </a:solidFill>
                  </a:tcPr>
                </a:tc>
                <a:extLst>
                  <a:ext uri="{0D108BD9-81ED-4DB2-BD59-A6C34878D82A}">
                    <a16:rowId xmlns:a16="http://schemas.microsoft.com/office/drawing/2014/main" val="10000"/>
                  </a:ext>
                </a:extLst>
              </a:tr>
              <a:tr h="1074420">
                <a:tc>
                  <a:txBody>
                    <a:bodyPr/>
                    <a:lstStyle/>
                    <a:p>
                      <a:pPr marL="0" indent="0">
                        <a:buNone/>
                      </a:pPr>
                      <a:r>
                        <a:rPr lang="en-US" sz="1250" dirty="0">
                          <a:solidFill>
                            <a:srgbClr val="1B2733"/>
                          </a:solidFill>
                          <a:latin typeface="Calibri" pitchFamily="34" charset="0"/>
                          <a:ea typeface="Calibri" pitchFamily="34" charset="-122"/>
                          <a:cs typeface="Calibri" pitchFamily="34" charset="-120"/>
                        </a:rPr>
                        <a:t>Linked mastoids (A1 + A2)</a:t>
                      </a:r>
                      <a:endParaRPr lang="en-US" sz="125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tc>
                  <a:txBody>
                    <a:bodyPr/>
                    <a:lstStyle/>
                    <a:p>
                      <a:pPr marL="0" indent="0">
                        <a:buNone/>
                      </a:pPr>
                      <a:r>
                        <a:rPr lang="en-US" sz="1250" dirty="0">
                          <a:solidFill>
                            <a:srgbClr val="1B2733"/>
                          </a:solidFill>
                          <a:latin typeface="Calibri" pitchFamily="34" charset="0"/>
                          <a:ea typeface="Calibri" pitchFamily="34" charset="-122"/>
                          <a:cs typeface="Calibri" pitchFamily="34" charset="-120"/>
                        </a:rPr>
                        <a:t>References to the average of both mastoid electrodes</a:t>
                      </a:r>
                      <a:endParaRPr lang="en-US" sz="125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tc>
                  <a:txBody>
                    <a:bodyPr/>
                    <a:lstStyle/>
                    <a:p>
                      <a:pPr marL="0" indent="0">
                        <a:buNone/>
                      </a:pPr>
                      <a:r>
                        <a:rPr lang="en-US" sz="1250" dirty="0">
                          <a:solidFill>
                            <a:srgbClr val="1B2733"/>
                          </a:solidFill>
                          <a:latin typeface="Calibri" pitchFamily="34" charset="0"/>
                          <a:ea typeface="Calibri" pitchFamily="34" charset="-122"/>
                          <a:cs typeface="Calibri" pitchFamily="34" charset="-120"/>
                        </a:rPr>
                        <a:t>Classic and widely comparable, but can be affected by muscle activity nearby</a:t>
                      </a:r>
                      <a:endParaRPr lang="en-US" sz="125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extLst>
                  <a:ext uri="{0D108BD9-81ED-4DB2-BD59-A6C34878D82A}">
                    <a16:rowId xmlns:a16="http://schemas.microsoft.com/office/drawing/2014/main" val="10001"/>
                  </a:ext>
                </a:extLst>
              </a:tr>
              <a:tr h="1074420">
                <a:tc>
                  <a:txBody>
                    <a:bodyPr/>
                    <a:lstStyle/>
                    <a:p>
                      <a:pPr marL="0" indent="0">
                        <a:buNone/>
                      </a:pPr>
                      <a:r>
                        <a:rPr lang="en-US" sz="1250" dirty="0">
                          <a:solidFill>
                            <a:srgbClr val="1B2733"/>
                          </a:solidFill>
                          <a:latin typeface="Calibri" pitchFamily="34" charset="0"/>
                          <a:ea typeface="Calibri" pitchFamily="34" charset="-122"/>
                          <a:cs typeface="Calibri" pitchFamily="34" charset="-120"/>
                        </a:rPr>
                        <a:t>Average reference</a:t>
                      </a:r>
                      <a:endParaRPr lang="en-US" sz="125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tc>
                  <a:txBody>
                    <a:bodyPr/>
                    <a:lstStyle/>
                    <a:p>
                      <a:pPr marL="0" indent="0">
                        <a:buNone/>
                      </a:pPr>
                      <a:r>
                        <a:rPr lang="en-US" sz="1250" dirty="0">
                          <a:solidFill>
                            <a:srgbClr val="1B2733"/>
                          </a:solidFill>
                          <a:latin typeface="Calibri" pitchFamily="34" charset="0"/>
                          <a:ea typeface="Calibri" pitchFamily="34" charset="-122"/>
                          <a:cs typeface="Calibri" pitchFamily="34" charset="-120"/>
                        </a:rPr>
                        <a:t>Subtracts the mean of all channels from every channel</a:t>
                      </a:r>
                      <a:endParaRPr lang="en-US" sz="125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tc>
                  <a:txBody>
                    <a:bodyPr/>
                    <a:lstStyle/>
                    <a:p>
                      <a:pPr marL="0" indent="0">
                        <a:buNone/>
                      </a:pPr>
                      <a:r>
                        <a:rPr lang="en-US" sz="1250" dirty="0">
                          <a:solidFill>
                            <a:srgbClr val="1B2733"/>
                          </a:solidFill>
                          <a:latin typeface="Calibri" pitchFamily="34" charset="0"/>
                          <a:ea typeface="Calibri" pitchFamily="34" charset="-122"/>
                          <a:cs typeface="Calibri" pitchFamily="34" charset="-120"/>
                        </a:rPr>
                        <a:t>Works well for dense arrays (64+ channels); poor coverage biases the average</a:t>
                      </a:r>
                      <a:endParaRPr lang="en-US" sz="125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extLst>
                  <a:ext uri="{0D108BD9-81ED-4DB2-BD59-A6C34878D82A}">
                    <a16:rowId xmlns:a16="http://schemas.microsoft.com/office/drawing/2014/main" val="10002"/>
                  </a:ext>
                </a:extLst>
              </a:tr>
              <a:tr h="1074420">
                <a:tc>
                  <a:txBody>
                    <a:bodyPr/>
                    <a:lstStyle/>
                    <a:p>
                      <a:pPr marL="0" indent="0">
                        <a:buNone/>
                      </a:pPr>
                      <a:r>
                        <a:rPr lang="en-US" sz="1250" dirty="0">
                          <a:solidFill>
                            <a:srgbClr val="1B2733"/>
                          </a:solidFill>
                          <a:latin typeface="Calibri" pitchFamily="34" charset="0"/>
                          <a:ea typeface="Calibri" pitchFamily="34" charset="-122"/>
                          <a:cs typeface="Calibri" pitchFamily="34" charset="-120"/>
                        </a:rPr>
                        <a:t>Common reference (e.g., Cz)</a:t>
                      </a:r>
                      <a:endParaRPr lang="en-US" sz="125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tc>
                  <a:txBody>
                    <a:bodyPr/>
                    <a:lstStyle/>
                    <a:p>
                      <a:pPr marL="0" indent="0">
                        <a:buNone/>
                      </a:pPr>
                      <a:r>
                        <a:rPr lang="en-US" sz="1250" dirty="0">
                          <a:solidFill>
                            <a:srgbClr val="1B2733"/>
                          </a:solidFill>
                          <a:latin typeface="Calibri" pitchFamily="34" charset="0"/>
                          <a:ea typeface="Calibri" pitchFamily="34" charset="-122"/>
                          <a:cs typeface="Calibri" pitchFamily="34" charset="-120"/>
                        </a:rPr>
                        <a:t>References every channel to one single electrode</a:t>
                      </a:r>
                      <a:endParaRPr lang="en-US" sz="125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tc>
                  <a:txBody>
                    <a:bodyPr/>
                    <a:lstStyle/>
                    <a:p>
                      <a:pPr marL="0" indent="0">
                        <a:buNone/>
                      </a:pPr>
                      <a:r>
                        <a:rPr lang="en-US" sz="1250" dirty="0">
                          <a:solidFill>
                            <a:srgbClr val="1B2733"/>
                          </a:solidFill>
                          <a:latin typeface="Calibri" pitchFamily="34" charset="0"/>
                          <a:ea typeface="Calibri" pitchFamily="34" charset="-122"/>
                          <a:cs typeface="Calibri" pitchFamily="34" charset="-120"/>
                        </a:rPr>
                        <a:t>Simple to set up, but that electrode’s own activity biases the whole recording</a:t>
                      </a:r>
                      <a:endParaRPr lang="en-US" sz="1250" dirty="0">
                        <a:latin typeface="Calibri" charset="0"/>
                        <a:ea typeface="Calibri" charset="0"/>
                        <a:cs typeface="Calibri" charset="0"/>
                      </a:endParaRPr>
                    </a:p>
                  </a:txBody>
                  <a:tcPr anchor="ctr">
                    <a:lnL w="12700" cap="flat" cmpd="sng" algn="ctr">
                      <a:solidFill>
                        <a:srgbClr val="D7E4EC"/>
                      </a:solidFill>
                      <a:prstDash val="solid"/>
                      <a:round/>
                      <a:headEnd type="none" w="med" len="med"/>
                      <a:tailEnd type="none" w="med" len="med"/>
                    </a:lnL>
                    <a:lnR w="12700" cap="flat" cmpd="sng" algn="ctr">
                      <a:solidFill>
                        <a:srgbClr val="D7E4EC"/>
                      </a:solidFill>
                      <a:prstDash val="solid"/>
                      <a:round/>
                      <a:headEnd type="none" w="med" len="med"/>
                      <a:tailEnd type="none" w="med" len="med"/>
                    </a:lnR>
                    <a:lnT w="12700" cap="flat" cmpd="sng" algn="ctr">
                      <a:solidFill>
                        <a:srgbClr val="D7E4EC"/>
                      </a:solidFill>
                      <a:prstDash val="solid"/>
                      <a:round/>
                      <a:headEnd type="none" w="med" len="med"/>
                      <a:tailEnd type="none" w="med" len="med"/>
                    </a:lnT>
                    <a:lnB w="12700" cap="flat" cmpd="sng" algn="ctr">
                      <a:solidFill>
                        <a:srgbClr val="D7E4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C · Re-referencing</a:t>
            </a:r>
            <a:endParaRPr lang="en-US" sz="1000" dirty="0"/>
          </a:p>
        </p:txBody>
      </p:sp>
      <p:sp>
        <p:nvSpPr>
          <p:cNvPr id="6" name="Text 3"/>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132A46"/>
        </a:solidFill>
        <a:effectLst/>
      </p:bgPr>
    </p:bg>
    <p:spTree>
      <p:nvGrpSpPr>
        <p:cNvPr id="1" name=""/>
        <p:cNvGrpSpPr/>
        <p:nvPr/>
      </p:nvGrpSpPr>
      <p:grpSpPr>
        <a:xfrm>
          <a:off x="0" y="0"/>
          <a:ext cx="0" cy="0"/>
          <a:chOff x="0" y="0"/>
          <a:chExt cx="0" cy="0"/>
        </a:xfrm>
      </p:grpSpPr>
      <p:sp>
        <p:nvSpPr>
          <p:cNvPr id="2" name="Shape 0"/>
          <p:cNvSpPr/>
          <p:nvPr/>
        </p:nvSpPr>
        <p:spPr>
          <a:xfrm>
            <a:off x="9875520" y="4206240"/>
            <a:ext cx="3840480" cy="3840480"/>
          </a:xfrm>
          <a:prstGeom prst="ellipse">
            <a:avLst/>
          </a:prstGeom>
          <a:solidFill>
            <a:srgbClr val="1B3A5C"/>
          </a:solidFill>
          <a:ln/>
        </p:spPr>
        <p:txBody>
          <a:bodyPr/>
          <a:lstStyle/>
          <a:p>
            <a:endParaRPr lang="en-GH"/>
          </a:p>
        </p:txBody>
      </p:sp>
      <p:sp>
        <p:nvSpPr>
          <p:cNvPr id="3" name="Text 1"/>
          <p:cNvSpPr/>
          <p:nvPr/>
        </p:nvSpPr>
        <p:spPr>
          <a:xfrm>
            <a:off x="822960" y="2331720"/>
            <a:ext cx="4572000" cy="320040"/>
          </a:xfrm>
          <a:prstGeom prst="rect">
            <a:avLst/>
          </a:prstGeom>
          <a:noFill/>
          <a:ln/>
        </p:spPr>
        <p:txBody>
          <a:bodyPr wrap="square" rtlCol="0" anchor="ctr"/>
          <a:lstStyle/>
          <a:p>
            <a:pPr marL="0" indent="0">
              <a:buNone/>
            </a:pPr>
            <a:r>
              <a:rPr lang="en-US" sz="1200" b="1" kern="0" spc="200" dirty="0">
                <a:solidFill>
                  <a:srgbClr val="F2A541"/>
                </a:solidFill>
                <a:latin typeface="Calibri" pitchFamily="34" charset="0"/>
                <a:ea typeface="Calibri" pitchFamily="34" charset="-122"/>
                <a:cs typeface="Calibri" pitchFamily="34" charset="-120"/>
              </a:rPr>
              <a:t>PART D · 15 MIN</a:t>
            </a:r>
            <a:endParaRPr lang="en-US" sz="1200" dirty="0"/>
          </a:p>
        </p:txBody>
      </p:sp>
      <p:sp>
        <p:nvSpPr>
          <p:cNvPr id="4" name="Text 2"/>
          <p:cNvSpPr/>
          <p:nvPr/>
        </p:nvSpPr>
        <p:spPr>
          <a:xfrm>
            <a:off x="822960" y="2697480"/>
            <a:ext cx="10058400" cy="11887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Practical Considerations</a:t>
            </a:r>
            <a:endParaRPr lang="en-US" sz="4000" dirty="0"/>
          </a:p>
        </p:txBody>
      </p:sp>
      <p:sp>
        <p:nvSpPr>
          <p:cNvPr id="5" name="Text 3"/>
          <p:cNvSpPr/>
          <p:nvPr/>
        </p:nvSpPr>
        <p:spPr>
          <a:xfrm>
            <a:off x="822960" y="3703320"/>
            <a:ext cx="96012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A few rules of thumb — and pitfalls — for real preprocessing pipelines.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PIPELINE ORDER</a:t>
            </a:r>
            <a:endParaRPr lang="en-US" sz="1200" dirty="0"/>
          </a:p>
        </p:txBody>
      </p:sp>
      <p:sp>
        <p:nvSpPr>
          <p:cNvPr id="3" name="Shape 1"/>
          <p:cNvSpPr/>
          <p:nvPr/>
        </p:nvSpPr>
        <p:spPr>
          <a:xfrm>
            <a:off x="548640" y="786384"/>
            <a:ext cx="640080" cy="640080"/>
          </a:xfrm>
          <a:prstGeom prst="ellipse">
            <a:avLst/>
          </a:prstGeom>
          <a:solidFill>
            <a:srgbClr val="1C7293"/>
          </a:solidFill>
          <a:ln/>
        </p:spPr>
        <p:txBody>
          <a:bodyPr/>
          <a:lstStyle/>
          <a:p>
            <a:endParaRPr lang="en-GH"/>
          </a:p>
        </p:txBody>
      </p:sp>
      <p:pic>
        <p:nvPicPr>
          <p:cNvPr id="4" name="Image 0" descr="/home/claude/icons/repeat.png"/>
          <p:cNvPicPr>
            <a:picLocks noChangeAspect="1"/>
          </p:cNvPicPr>
          <p:nvPr/>
        </p:nvPicPr>
        <p:blipFill>
          <a:blip r:embed="rId3"/>
          <a:stretch>
            <a:fillRect/>
          </a:stretch>
        </p:blipFill>
        <p:spPr>
          <a:xfrm>
            <a:off x="702259" y="940003"/>
            <a:ext cx="332842" cy="332842"/>
          </a:xfrm>
          <a:prstGeom prst="rect">
            <a:avLst/>
          </a:prstGeom>
        </p:spPr>
      </p:pic>
      <p:sp>
        <p:nvSpPr>
          <p:cNvPr id="5" name="Text 2"/>
          <p:cNvSpPr/>
          <p:nvPr/>
        </p:nvSpPr>
        <p:spPr>
          <a:xfrm>
            <a:off x="1371600" y="786384"/>
            <a:ext cx="8229600" cy="594360"/>
          </a:xfrm>
          <a:prstGeom prst="rect">
            <a:avLst/>
          </a:prstGeom>
          <a:noFill/>
          <a:ln/>
        </p:spPr>
        <p:txBody>
          <a:bodyPr wrap="square" lIns="0" tIns="0" rIns="0" bIns="0" rtlCol="0" anchor="ctr"/>
          <a:lstStyle/>
          <a:p>
            <a:pPr marL="0" indent="0">
              <a:buNone/>
            </a:pPr>
            <a:r>
              <a:rPr lang="en-US" sz="2300" b="1" dirty="0">
                <a:solidFill>
                  <a:srgbClr val="1B2733"/>
                </a:solidFill>
                <a:latin typeface="Cambria" pitchFamily="34" charset="0"/>
                <a:ea typeface="Cambria" pitchFamily="34" charset="-122"/>
                <a:cs typeface="Cambria" pitchFamily="34" charset="-120"/>
              </a:rPr>
              <a:t>Filter Before You Epoch</a:t>
            </a:r>
            <a:endParaRPr lang="en-US" sz="2300" dirty="0"/>
          </a:p>
        </p:txBody>
      </p:sp>
      <p:sp>
        <p:nvSpPr>
          <p:cNvPr id="6" name="Text 3"/>
          <p:cNvSpPr/>
          <p:nvPr/>
        </p:nvSpPr>
        <p:spPr>
          <a:xfrm>
            <a:off x="548640" y="1463040"/>
            <a:ext cx="10515600" cy="457200"/>
          </a:xfrm>
          <a:prstGeom prst="rect">
            <a:avLst/>
          </a:prstGeom>
          <a:noFill/>
          <a:ln/>
        </p:spPr>
        <p:txBody>
          <a:bodyPr wrap="square" lIns="0" tIns="0" rIns="0" bIns="0" rtlCol="0" anchor="ctr"/>
          <a:lstStyle/>
          <a:p>
            <a:pPr marL="0" indent="0">
              <a:buNone/>
            </a:pPr>
            <a:r>
              <a:rPr lang="en-US" sz="1450" dirty="0">
                <a:solidFill>
                  <a:srgbClr val="5B6B7A"/>
                </a:solidFill>
                <a:latin typeface="Calibri" pitchFamily="34" charset="0"/>
                <a:ea typeface="Calibri" pitchFamily="34" charset="-122"/>
                <a:cs typeface="Calibri" pitchFamily="34" charset="-120"/>
              </a:rPr>
              <a:t>In most workflows, filtering happens on the continuous recording — before it is cut into epochs.</a:t>
            </a:r>
            <a:endParaRPr lang="en-US" sz="1450" dirty="0"/>
          </a:p>
        </p:txBody>
      </p:sp>
      <p:sp>
        <p:nvSpPr>
          <p:cNvPr id="7" name="Shape 4"/>
          <p:cNvSpPr/>
          <p:nvPr/>
        </p:nvSpPr>
        <p:spPr>
          <a:xfrm>
            <a:off x="548640" y="2468880"/>
            <a:ext cx="2514600" cy="1188720"/>
          </a:xfrm>
          <a:prstGeom prst="roundRect">
            <a:avLst>
              <a:gd name="adj" fmla="val 7692"/>
            </a:avLst>
          </a:prstGeom>
          <a:solidFill>
            <a:srgbClr val="E7F2F8"/>
          </a:solidFill>
          <a:ln/>
        </p:spPr>
        <p:txBody>
          <a:bodyPr/>
          <a:lstStyle/>
          <a:p>
            <a:endParaRPr lang="en-GH"/>
          </a:p>
        </p:txBody>
      </p:sp>
      <p:sp>
        <p:nvSpPr>
          <p:cNvPr id="8" name="Text 5"/>
          <p:cNvSpPr/>
          <p:nvPr/>
        </p:nvSpPr>
        <p:spPr>
          <a:xfrm>
            <a:off x="685800" y="2560320"/>
            <a:ext cx="548640" cy="365760"/>
          </a:xfrm>
          <a:prstGeom prst="rect">
            <a:avLst/>
          </a:prstGeom>
          <a:noFill/>
          <a:ln/>
        </p:spPr>
        <p:txBody>
          <a:bodyPr wrap="square" lIns="0" tIns="0" rIns="0" bIns="0" rtlCol="0" anchor="ctr"/>
          <a:lstStyle/>
          <a:p>
            <a:pPr marL="0" indent="0">
              <a:buNone/>
            </a:pPr>
            <a:r>
              <a:rPr lang="en-US" sz="1600" b="1" dirty="0">
                <a:solidFill>
                  <a:srgbClr val="1C7293"/>
                </a:solidFill>
                <a:latin typeface="Cambria" pitchFamily="34" charset="0"/>
                <a:ea typeface="Cambria" pitchFamily="34" charset="-122"/>
                <a:cs typeface="Cambria" pitchFamily="34" charset="-120"/>
              </a:rPr>
              <a:t>1</a:t>
            </a:r>
            <a:endParaRPr lang="en-US" sz="1600" dirty="0"/>
          </a:p>
        </p:txBody>
      </p:sp>
      <p:sp>
        <p:nvSpPr>
          <p:cNvPr id="9" name="Text 6"/>
          <p:cNvSpPr/>
          <p:nvPr/>
        </p:nvSpPr>
        <p:spPr>
          <a:xfrm>
            <a:off x="685800" y="2926080"/>
            <a:ext cx="2240280" cy="640080"/>
          </a:xfrm>
          <a:prstGeom prst="rect">
            <a:avLst/>
          </a:prstGeom>
          <a:noFill/>
          <a:ln/>
        </p:spPr>
        <p:txBody>
          <a:bodyPr wrap="square" lIns="0" tIns="0" rIns="0" bIns="0" rtlCol="0" anchor="ctr"/>
          <a:lstStyle/>
          <a:p>
            <a:pPr marL="0" indent="0">
              <a:buNone/>
            </a:pPr>
            <a:r>
              <a:rPr lang="en-US" sz="1250" b="1" dirty="0">
                <a:solidFill>
                  <a:srgbClr val="1B2733"/>
                </a:solidFill>
                <a:latin typeface="Calibri" pitchFamily="34" charset="0"/>
                <a:ea typeface="Calibri" pitchFamily="34" charset="-122"/>
                <a:cs typeface="Calibri" pitchFamily="34" charset="-120"/>
              </a:rPr>
              <a:t>Raw continuous data</a:t>
            </a:r>
            <a:endParaRPr lang="en-US" sz="1250" dirty="0"/>
          </a:p>
        </p:txBody>
      </p:sp>
      <p:sp>
        <p:nvSpPr>
          <p:cNvPr id="10" name="Text 7"/>
          <p:cNvSpPr/>
          <p:nvPr/>
        </p:nvSpPr>
        <p:spPr>
          <a:xfrm>
            <a:off x="3063240" y="2834640"/>
            <a:ext cx="457200" cy="457200"/>
          </a:xfrm>
          <a:prstGeom prst="rect">
            <a:avLst/>
          </a:prstGeom>
          <a:noFill/>
          <a:ln/>
        </p:spPr>
        <p:txBody>
          <a:bodyPr wrap="square" lIns="0" tIns="0" rIns="0" bIns="0" rtlCol="0" anchor="ctr"/>
          <a:lstStyle/>
          <a:p>
            <a:pPr marL="0" indent="0" algn="ctr">
              <a:buNone/>
            </a:pPr>
            <a:r>
              <a:rPr lang="en-US" sz="2200" dirty="0">
                <a:solidFill>
                  <a:srgbClr val="5B6B7A"/>
                </a:solidFill>
                <a:latin typeface="Calibri" pitchFamily="34" charset="0"/>
                <a:ea typeface="Calibri" pitchFamily="34" charset="-122"/>
                <a:cs typeface="Calibri" pitchFamily="34" charset="-120"/>
              </a:rPr>
              <a:t>→</a:t>
            </a:r>
            <a:endParaRPr lang="en-US" sz="2200" dirty="0"/>
          </a:p>
        </p:txBody>
      </p:sp>
      <p:sp>
        <p:nvSpPr>
          <p:cNvPr id="11" name="Shape 8"/>
          <p:cNvSpPr/>
          <p:nvPr/>
        </p:nvSpPr>
        <p:spPr>
          <a:xfrm>
            <a:off x="3520440" y="2468880"/>
            <a:ext cx="2514600" cy="1188720"/>
          </a:xfrm>
          <a:prstGeom prst="roundRect">
            <a:avLst>
              <a:gd name="adj" fmla="val 7692"/>
            </a:avLst>
          </a:prstGeom>
          <a:solidFill>
            <a:srgbClr val="1C7293"/>
          </a:solidFill>
          <a:ln/>
        </p:spPr>
        <p:txBody>
          <a:bodyPr/>
          <a:lstStyle/>
          <a:p>
            <a:endParaRPr lang="en-GH"/>
          </a:p>
        </p:txBody>
      </p:sp>
      <p:sp>
        <p:nvSpPr>
          <p:cNvPr id="12" name="Text 9"/>
          <p:cNvSpPr/>
          <p:nvPr/>
        </p:nvSpPr>
        <p:spPr>
          <a:xfrm>
            <a:off x="3657600" y="2560320"/>
            <a:ext cx="54864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0"/>
          <p:cNvSpPr/>
          <p:nvPr/>
        </p:nvSpPr>
        <p:spPr>
          <a:xfrm>
            <a:off x="3657600" y="2926080"/>
            <a:ext cx="2240280" cy="6400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Filter (highpass / lowpass / notch)</a:t>
            </a:r>
            <a:endParaRPr lang="en-US" sz="1250" dirty="0"/>
          </a:p>
        </p:txBody>
      </p:sp>
      <p:sp>
        <p:nvSpPr>
          <p:cNvPr id="14" name="Text 11"/>
          <p:cNvSpPr/>
          <p:nvPr/>
        </p:nvSpPr>
        <p:spPr>
          <a:xfrm>
            <a:off x="6035040" y="2834640"/>
            <a:ext cx="457200" cy="457200"/>
          </a:xfrm>
          <a:prstGeom prst="rect">
            <a:avLst/>
          </a:prstGeom>
          <a:noFill/>
          <a:ln/>
        </p:spPr>
        <p:txBody>
          <a:bodyPr wrap="square" lIns="0" tIns="0" rIns="0" bIns="0" rtlCol="0" anchor="ctr"/>
          <a:lstStyle/>
          <a:p>
            <a:pPr marL="0" indent="0" algn="ctr">
              <a:buNone/>
            </a:pPr>
            <a:r>
              <a:rPr lang="en-US" sz="2200" dirty="0">
                <a:solidFill>
                  <a:srgbClr val="5B6B7A"/>
                </a:solidFill>
                <a:latin typeface="Calibri" pitchFamily="34" charset="0"/>
                <a:ea typeface="Calibri" pitchFamily="34" charset="-122"/>
                <a:cs typeface="Calibri" pitchFamily="34" charset="-120"/>
              </a:rPr>
              <a:t>→</a:t>
            </a:r>
            <a:endParaRPr lang="en-US" sz="2200" dirty="0"/>
          </a:p>
        </p:txBody>
      </p:sp>
      <p:sp>
        <p:nvSpPr>
          <p:cNvPr id="15" name="Shape 12"/>
          <p:cNvSpPr/>
          <p:nvPr/>
        </p:nvSpPr>
        <p:spPr>
          <a:xfrm>
            <a:off x="6492240" y="2468880"/>
            <a:ext cx="2514600" cy="1188720"/>
          </a:xfrm>
          <a:prstGeom prst="roundRect">
            <a:avLst>
              <a:gd name="adj" fmla="val 7692"/>
            </a:avLst>
          </a:prstGeom>
          <a:solidFill>
            <a:srgbClr val="E7F2F8"/>
          </a:solidFill>
          <a:ln/>
        </p:spPr>
        <p:txBody>
          <a:bodyPr/>
          <a:lstStyle/>
          <a:p>
            <a:endParaRPr lang="en-GH"/>
          </a:p>
        </p:txBody>
      </p:sp>
      <p:sp>
        <p:nvSpPr>
          <p:cNvPr id="16" name="Text 13"/>
          <p:cNvSpPr/>
          <p:nvPr/>
        </p:nvSpPr>
        <p:spPr>
          <a:xfrm>
            <a:off x="6629400" y="2560320"/>
            <a:ext cx="548640" cy="365760"/>
          </a:xfrm>
          <a:prstGeom prst="rect">
            <a:avLst/>
          </a:prstGeom>
          <a:noFill/>
          <a:ln/>
        </p:spPr>
        <p:txBody>
          <a:bodyPr wrap="square" lIns="0" tIns="0" rIns="0" bIns="0" rtlCol="0" anchor="ctr"/>
          <a:lstStyle/>
          <a:p>
            <a:pPr marL="0" indent="0">
              <a:buNone/>
            </a:pPr>
            <a:r>
              <a:rPr lang="en-US" sz="1600" b="1" dirty="0">
                <a:solidFill>
                  <a:srgbClr val="1C7293"/>
                </a:solidFill>
                <a:latin typeface="Cambria" pitchFamily="34" charset="0"/>
                <a:ea typeface="Cambria" pitchFamily="34" charset="-122"/>
                <a:cs typeface="Cambria" pitchFamily="34" charset="-120"/>
              </a:rPr>
              <a:t>3</a:t>
            </a:r>
            <a:endParaRPr lang="en-US" sz="1600" dirty="0"/>
          </a:p>
        </p:txBody>
      </p:sp>
      <p:sp>
        <p:nvSpPr>
          <p:cNvPr id="17" name="Text 14"/>
          <p:cNvSpPr/>
          <p:nvPr/>
        </p:nvSpPr>
        <p:spPr>
          <a:xfrm>
            <a:off x="6629400" y="2926080"/>
            <a:ext cx="2240280" cy="640080"/>
          </a:xfrm>
          <a:prstGeom prst="rect">
            <a:avLst/>
          </a:prstGeom>
          <a:noFill/>
          <a:ln/>
        </p:spPr>
        <p:txBody>
          <a:bodyPr wrap="square" lIns="0" tIns="0" rIns="0" bIns="0" rtlCol="0" anchor="ctr"/>
          <a:lstStyle/>
          <a:p>
            <a:pPr marL="0" indent="0">
              <a:buNone/>
            </a:pPr>
            <a:r>
              <a:rPr lang="en-US" sz="1250" b="1" dirty="0">
                <a:solidFill>
                  <a:srgbClr val="1B2733"/>
                </a:solidFill>
                <a:latin typeface="Calibri" pitchFamily="34" charset="0"/>
                <a:ea typeface="Calibri" pitchFamily="34" charset="-122"/>
                <a:cs typeface="Calibri" pitchFamily="34" charset="-120"/>
              </a:rPr>
              <a:t>Re-reference</a:t>
            </a:r>
            <a:endParaRPr lang="en-US" sz="1250" dirty="0"/>
          </a:p>
        </p:txBody>
      </p:sp>
      <p:sp>
        <p:nvSpPr>
          <p:cNvPr id="18" name="Text 15"/>
          <p:cNvSpPr/>
          <p:nvPr/>
        </p:nvSpPr>
        <p:spPr>
          <a:xfrm>
            <a:off x="9006840" y="2834640"/>
            <a:ext cx="457200" cy="457200"/>
          </a:xfrm>
          <a:prstGeom prst="rect">
            <a:avLst/>
          </a:prstGeom>
          <a:noFill/>
          <a:ln/>
        </p:spPr>
        <p:txBody>
          <a:bodyPr wrap="square" lIns="0" tIns="0" rIns="0" bIns="0" rtlCol="0" anchor="ctr"/>
          <a:lstStyle/>
          <a:p>
            <a:pPr marL="0" indent="0" algn="ctr">
              <a:buNone/>
            </a:pPr>
            <a:r>
              <a:rPr lang="en-US" sz="2200" dirty="0">
                <a:solidFill>
                  <a:srgbClr val="5B6B7A"/>
                </a:solidFill>
                <a:latin typeface="Calibri" pitchFamily="34" charset="0"/>
                <a:ea typeface="Calibri" pitchFamily="34" charset="-122"/>
                <a:cs typeface="Calibri" pitchFamily="34" charset="-120"/>
              </a:rPr>
              <a:t>→</a:t>
            </a:r>
            <a:endParaRPr lang="en-US" sz="2200" dirty="0"/>
          </a:p>
        </p:txBody>
      </p:sp>
      <p:sp>
        <p:nvSpPr>
          <p:cNvPr id="19" name="Shape 16"/>
          <p:cNvSpPr/>
          <p:nvPr/>
        </p:nvSpPr>
        <p:spPr>
          <a:xfrm>
            <a:off x="9464040" y="2468880"/>
            <a:ext cx="2514600" cy="1188720"/>
          </a:xfrm>
          <a:prstGeom prst="roundRect">
            <a:avLst>
              <a:gd name="adj" fmla="val 7692"/>
            </a:avLst>
          </a:prstGeom>
          <a:solidFill>
            <a:srgbClr val="E7F2F8"/>
          </a:solidFill>
          <a:ln/>
        </p:spPr>
        <p:txBody>
          <a:bodyPr/>
          <a:lstStyle/>
          <a:p>
            <a:endParaRPr lang="en-GH"/>
          </a:p>
        </p:txBody>
      </p:sp>
      <p:sp>
        <p:nvSpPr>
          <p:cNvPr id="20" name="Text 17"/>
          <p:cNvSpPr/>
          <p:nvPr/>
        </p:nvSpPr>
        <p:spPr>
          <a:xfrm>
            <a:off x="9601200" y="2560320"/>
            <a:ext cx="548640" cy="365760"/>
          </a:xfrm>
          <a:prstGeom prst="rect">
            <a:avLst/>
          </a:prstGeom>
          <a:noFill/>
          <a:ln/>
        </p:spPr>
        <p:txBody>
          <a:bodyPr wrap="square" lIns="0" tIns="0" rIns="0" bIns="0" rtlCol="0" anchor="ctr"/>
          <a:lstStyle/>
          <a:p>
            <a:pPr marL="0" indent="0">
              <a:buNone/>
            </a:pPr>
            <a:r>
              <a:rPr lang="en-US" sz="1600" b="1" dirty="0">
                <a:solidFill>
                  <a:srgbClr val="1C7293"/>
                </a:solidFill>
                <a:latin typeface="Cambria" pitchFamily="34" charset="0"/>
                <a:ea typeface="Cambria" pitchFamily="34" charset="-122"/>
                <a:cs typeface="Cambria" pitchFamily="34" charset="-120"/>
              </a:rPr>
              <a:t>4</a:t>
            </a:r>
            <a:endParaRPr lang="en-US" sz="1600" dirty="0"/>
          </a:p>
        </p:txBody>
      </p:sp>
      <p:sp>
        <p:nvSpPr>
          <p:cNvPr id="21" name="Text 18"/>
          <p:cNvSpPr/>
          <p:nvPr/>
        </p:nvSpPr>
        <p:spPr>
          <a:xfrm>
            <a:off x="9601200" y="2926080"/>
            <a:ext cx="2240280" cy="640080"/>
          </a:xfrm>
          <a:prstGeom prst="rect">
            <a:avLst/>
          </a:prstGeom>
          <a:noFill/>
          <a:ln/>
        </p:spPr>
        <p:txBody>
          <a:bodyPr wrap="square" lIns="0" tIns="0" rIns="0" bIns="0" rtlCol="0" anchor="ctr"/>
          <a:lstStyle/>
          <a:p>
            <a:pPr marL="0" indent="0">
              <a:buNone/>
            </a:pPr>
            <a:r>
              <a:rPr lang="en-US" sz="1250" b="1" dirty="0">
                <a:solidFill>
                  <a:srgbClr val="1B2733"/>
                </a:solidFill>
                <a:latin typeface="Calibri" pitchFamily="34" charset="0"/>
                <a:ea typeface="Calibri" pitchFamily="34" charset="-122"/>
                <a:cs typeface="Calibri" pitchFamily="34" charset="-120"/>
              </a:rPr>
              <a:t>Epoch</a:t>
            </a:r>
            <a:endParaRPr lang="en-US" sz="1250" dirty="0"/>
          </a:p>
        </p:txBody>
      </p:sp>
      <p:sp>
        <p:nvSpPr>
          <p:cNvPr id="22" name="Shape 19"/>
          <p:cNvSpPr/>
          <p:nvPr/>
        </p:nvSpPr>
        <p:spPr>
          <a:xfrm>
            <a:off x="548640" y="4114800"/>
            <a:ext cx="11064240" cy="1737360"/>
          </a:xfrm>
          <a:prstGeom prst="roundRect">
            <a:avLst>
              <a:gd name="adj" fmla="val 5263"/>
            </a:avLst>
          </a:prstGeom>
          <a:solidFill>
            <a:srgbClr val="132A46"/>
          </a:solidFill>
          <a:ln/>
        </p:spPr>
        <p:txBody>
          <a:bodyPr/>
          <a:lstStyle/>
          <a:p>
            <a:endParaRPr lang="en-GH"/>
          </a:p>
        </p:txBody>
      </p:sp>
      <p:sp>
        <p:nvSpPr>
          <p:cNvPr id="23" name="Text 20"/>
          <p:cNvSpPr/>
          <p:nvPr/>
        </p:nvSpPr>
        <p:spPr>
          <a:xfrm>
            <a:off x="822960" y="4297680"/>
            <a:ext cx="10515600" cy="320040"/>
          </a:xfrm>
          <a:prstGeom prst="rect">
            <a:avLst/>
          </a:prstGeom>
          <a:noFill/>
          <a:ln/>
        </p:spPr>
        <p:txBody>
          <a:bodyPr wrap="square" lIns="0" tIns="0" rIns="0" bIns="0" rtlCol="0" anchor="ctr"/>
          <a:lstStyle/>
          <a:p>
            <a:pPr marL="0" indent="0">
              <a:buNone/>
            </a:pPr>
            <a:r>
              <a:rPr lang="en-US" sz="1300" b="1" dirty="0">
                <a:solidFill>
                  <a:srgbClr val="F2A541"/>
                </a:solidFill>
                <a:latin typeface="Calibri" pitchFamily="34" charset="0"/>
                <a:ea typeface="Calibri" pitchFamily="34" charset="-122"/>
                <a:cs typeface="Calibri" pitchFamily="34" charset="-120"/>
              </a:rPr>
              <a:t>Why order matters</a:t>
            </a:r>
            <a:endParaRPr lang="en-US" sz="1300" dirty="0"/>
          </a:p>
        </p:txBody>
      </p:sp>
      <p:sp>
        <p:nvSpPr>
          <p:cNvPr id="24" name="Text 21"/>
          <p:cNvSpPr/>
          <p:nvPr/>
        </p:nvSpPr>
        <p:spPr>
          <a:xfrm>
            <a:off x="822960" y="4617720"/>
            <a:ext cx="10515600" cy="1097280"/>
          </a:xfrm>
          <a:prstGeom prst="rect">
            <a:avLst/>
          </a:prstGeom>
          <a:noFill/>
          <a:ln/>
        </p:spPr>
        <p:txBody>
          <a:bodyPr wrap="square" lIns="0" tIns="0" rIns="0" bIns="0" rtlCol="0" anchor="ctr"/>
          <a:lstStyle/>
          <a:p>
            <a:pPr marL="0" indent="0">
              <a:buNone/>
            </a:pPr>
            <a:r>
              <a:rPr lang="en-US" sz="1350" dirty="0">
                <a:solidFill>
                  <a:srgbClr val="E7F2F8"/>
                </a:solidFill>
                <a:latin typeface="Calibri" pitchFamily="34" charset="0"/>
                <a:ea typeface="Calibri" pitchFamily="34" charset="-122"/>
                <a:cs typeface="Calibri" pitchFamily="34" charset="-120"/>
              </a:rPr>
              <a:t>Filtering short, isolated epochs directly can create edge artifacts at the boundaries of each segment. Filtering the continuous signal first, then epoching, avoids distorting the data right at the start and end of each trial.</a:t>
            </a:r>
            <a:endParaRPr lang="en-US" sz="1350" dirty="0"/>
          </a:p>
        </p:txBody>
      </p:sp>
      <p:sp>
        <p:nvSpPr>
          <p:cNvPr id="25" name="Text 22"/>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D · Practical Considerations</a:t>
            </a:r>
            <a:endParaRPr lang="en-US" sz="1000" dirty="0"/>
          </a:p>
        </p:txBody>
      </p:sp>
      <p:sp>
        <p:nvSpPr>
          <p:cNvPr id="26" name="Text 23"/>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320040"/>
          </a:xfrm>
          <a:prstGeom prst="rect">
            <a:avLst/>
          </a:prstGeom>
          <a:noFill/>
          <a:ln/>
        </p:spPr>
        <p:txBody>
          <a:bodyPr wrap="square" rtlCol="0" anchor="ctr"/>
          <a:lstStyle/>
          <a:p>
            <a:pPr marL="0" indent="0">
              <a:buNone/>
            </a:pPr>
            <a:r>
              <a:rPr lang="en-US" sz="1200" b="1" kern="0" spc="200" dirty="0">
                <a:solidFill>
                  <a:srgbClr val="D64550"/>
                </a:solidFill>
                <a:latin typeface="Calibri" pitchFamily="34" charset="0"/>
                <a:ea typeface="Calibri" pitchFamily="34" charset="-122"/>
                <a:cs typeface="Calibri" pitchFamily="34" charset="-120"/>
              </a:rPr>
              <a:t>TWO RULES OF THUMB</a:t>
            </a:r>
            <a:endParaRPr lang="en-US" sz="1200" dirty="0"/>
          </a:p>
        </p:txBody>
      </p:sp>
      <p:sp>
        <p:nvSpPr>
          <p:cNvPr id="3" name="Text 1"/>
          <p:cNvSpPr/>
          <p:nvPr/>
        </p:nvSpPr>
        <p:spPr>
          <a:xfrm>
            <a:off x="548640" y="749808"/>
            <a:ext cx="10515600" cy="548640"/>
          </a:xfrm>
          <a:prstGeom prst="rect">
            <a:avLst/>
          </a:prstGeom>
          <a:noFill/>
          <a:ln/>
        </p:spPr>
        <p:txBody>
          <a:bodyPr wrap="square" lIns="0" tIns="0" rIns="0" bIns="0" rtlCol="0" anchor="ctr"/>
          <a:lstStyle/>
          <a:p>
            <a:pPr marL="0" indent="0">
              <a:buNone/>
            </a:pPr>
            <a:r>
              <a:rPr lang="en-US" sz="2600" b="1" dirty="0">
                <a:solidFill>
                  <a:srgbClr val="1B2733"/>
                </a:solidFill>
                <a:latin typeface="Cambria" pitchFamily="34" charset="0"/>
                <a:ea typeface="Cambria" pitchFamily="34" charset="-122"/>
                <a:cs typeface="Cambria" pitchFamily="34" charset="-120"/>
              </a:rPr>
              <a:t>Pitfalls Worth Remembering</a:t>
            </a:r>
            <a:endParaRPr lang="en-US" sz="2600" dirty="0"/>
          </a:p>
        </p:txBody>
      </p:sp>
      <p:sp>
        <p:nvSpPr>
          <p:cNvPr id="4" name="Shape 2"/>
          <p:cNvSpPr/>
          <p:nvPr/>
        </p:nvSpPr>
        <p:spPr>
          <a:xfrm>
            <a:off x="548640" y="1691640"/>
            <a:ext cx="5349240" cy="4206240"/>
          </a:xfrm>
          <a:prstGeom prst="roundRect">
            <a:avLst>
              <a:gd name="adj" fmla="val 2609"/>
            </a:avLst>
          </a:prstGeom>
          <a:solidFill>
            <a:srgbClr val="D64550"/>
          </a:solidFill>
          <a:ln/>
        </p:spPr>
        <p:txBody>
          <a:bodyPr/>
          <a:lstStyle/>
          <a:p>
            <a:endParaRPr lang="en-GH"/>
          </a:p>
        </p:txBody>
      </p:sp>
      <p:sp>
        <p:nvSpPr>
          <p:cNvPr id="5" name="Shape 3"/>
          <p:cNvSpPr/>
          <p:nvPr/>
        </p:nvSpPr>
        <p:spPr>
          <a:xfrm>
            <a:off x="868680" y="1965960"/>
            <a:ext cx="777240" cy="777240"/>
          </a:xfrm>
          <a:prstGeom prst="ellipse">
            <a:avLst/>
          </a:prstGeom>
          <a:solidFill>
            <a:srgbClr val="FFFFFF">
              <a:alpha val="25000"/>
            </a:srgbClr>
          </a:solidFill>
          <a:ln/>
        </p:spPr>
        <p:txBody>
          <a:bodyPr/>
          <a:lstStyle/>
          <a:p>
            <a:endParaRPr lang="en-GH"/>
          </a:p>
        </p:txBody>
      </p:sp>
      <p:pic>
        <p:nvPicPr>
          <p:cNvPr id="6" name="Image 0" descr="/home/claude/icons/alert.png"/>
          <p:cNvPicPr>
            <a:picLocks noChangeAspect="1"/>
          </p:cNvPicPr>
          <p:nvPr/>
        </p:nvPicPr>
        <p:blipFill>
          <a:blip r:embed="rId3"/>
          <a:stretch>
            <a:fillRect/>
          </a:stretch>
        </p:blipFill>
        <p:spPr>
          <a:xfrm>
            <a:off x="1055218" y="2152498"/>
            <a:ext cx="404165" cy="404165"/>
          </a:xfrm>
          <a:prstGeom prst="rect">
            <a:avLst/>
          </a:prstGeom>
        </p:spPr>
      </p:pic>
      <p:sp>
        <p:nvSpPr>
          <p:cNvPr id="7" name="Text 4"/>
          <p:cNvSpPr/>
          <p:nvPr/>
        </p:nvSpPr>
        <p:spPr>
          <a:xfrm>
            <a:off x="868680" y="2880360"/>
            <a:ext cx="4754880" cy="68580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Aggressive highpass distorts slow ERPs</a:t>
            </a:r>
            <a:endParaRPr lang="en-US" sz="1700" dirty="0"/>
          </a:p>
        </p:txBody>
      </p:sp>
      <p:sp>
        <p:nvSpPr>
          <p:cNvPr id="8" name="Text 5"/>
          <p:cNvSpPr/>
          <p:nvPr/>
        </p:nvSpPr>
        <p:spPr>
          <a:xfrm>
            <a:off x="868680" y="3611880"/>
            <a:ext cx="4754880" cy="2103120"/>
          </a:xfrm>
          <a:prstGeom prst="rect">
            <a:avLst/>
          </a:prstGeom>
          <a:noFill/>
          <a:ln/>
        </p:spPr>
        <p:txBody>
          <a:bodyPr wrap="square" lIns="0" tIns="0" rIns="0" bIns="0" rtlCol="0" anchor="ctr"/>
          <a:lstStyle/>
          <a:p>
            <a:pPr marL="0" indent="0">
              <a:buNone/>
            </a:pPr>
            <a:r>
              <a:rPr lang="en-US" sz="1350" dirty="0">
                <a:solidFill>
                  <a:srgbClr val="FBE7E7"/>
                </a:solidFill>
                <a:latin typeface="Calibri" pitchFamily="34" charset="0"/>
                <a:ea typeface="Calibri" pitchFamily="34" charset="-122"/>
                <a:cs typeface="Calibri" pitchFamily="34" charset="-120"/>
              </a:rPr>
              <a:t>Pushing the highpass cutoff above roughly 2 Hz can distort or even eliminate slow ERP components. Choose the cutoff based on what the analysis actually needs, not just what looks clean.</a:t>
            </a:r>
            <a:endParaRPr lang="en-US" sz="1350" dirty="0"/>
          </a:p>
        </p:txBody>
      </p:sp>
      <p:sp>
        <p:nvSpPr>
          <p:cNvPr id="9" name="Shape 6"/>
          <p:cNvSpPr/>
          <p:nvPr/>
        </p:nvSpPr>
        <p:spPr>
          <a:xfrm>
            <a:off x="6080760" y="1691640"/>
            <a:ext cx="5532120" cy="4206240"/>
          </a:xfrm>
          <a:prstGeom prst="roundRect">
            <a:avLst>
              <a:gd name="adj" fmla="val 2609"/>
            </a:avLst>
          </a:prstGeom>
          <a:solidFill>
            <a:srgbClr val="1C7293"/>
          </a:solidFill>
          <a:ln/>
        </p:spPr>
        <p:txBody>
          <a:bodyPr/>
          <a:lstStyle/>
          <a:p>
            <a:endParaRPr lang="en-GH"/>
          </a:p>
        </p:txBody>
      </p:sp>
      <p:sp>
        <p:nvSpPr>
          <p:cNvPr id="10" name="Shape 7"/>
          <p:cNvSpPr/>
          <p:nvPr/>
        </p:nvSpPr>
        <p:spPr>
          <a:xfrm>
            <a:off x="6400800" y="1965960"/>
            <a:ext cx="777240" cy="777240"/>
          </a:xfrm>
          <a:prstGeom prst="ellipse">
            <a:avLst/>
          </a:prstGeom>
          <a:solidFill>
            <a:srgbClr val="FFFFFF">
              <a:alpha val="25000"/>
            </a:srgbClr>
          </a:solidFill>
          <a:ln/>
        </p:spPr>
        <p:txBody>
          <a:bodyPr/>
          <a:lstStyle/>
          <a:p>
            <a:endParaRPr lang="en-GH"/>
          </a:p>
        </p:txBody>
      </p:sp>
      <p:pic>
        <p:nvPicPr>
          <p:cNvPr id="11" name="Image 1" descr="/home/claude/icons/eye.png"/>
          <p:cNvPicPr>
            <a:picLocks noChangeAspect="1"/>
          </p:cNvPicPr>
          <p:nvPr/>
        </p:nvPicPr>
        <p:blipFill>
          <a:blip r:embed="rId4"/>
          <a:stretch>
            <a:fillRect/>
          </a:stretch>
        </p:blipFill>
        <p:spPr>
          <a:xfrm>
            <a:off x="6587338" y="2152498"/>
            <a:ext cx="404165" cy="404165"/>
          </a:xfrm>
          <a:prstGeom prst="rect">
            <a:avLst/>
          </a:prstGeom>
        </p:spPr>
      </p:pic>
      <p:sp>
        <p:nvSpPr>
          <p:cNvPr id="12" name="Text 8"/>
          <p:cNvSpPr/>
          <p:nvPr/>
        </p:nvSpPr>
        <p:spPr>
          <a:xfrm>
            <a:off x="6400800" y="2880360"/>
            <a:ext cx="4937760" cy="68580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Always inspect visually, before and after</a:t>
            </a:r>
            <a:endParaRPr lang="en-US" sz="1700" dirty="0"/>
          </a:p>
        </p:txBody>
      </p:sp>
      <p:sp>
        <p:nvSpPr>
          <p:cNvPr id="13" name="Text 9"/>
          <p:cNvSpPr/>
          <p:nvPr/>
        </p:nvSpPr>
        <p:spPr>
          <a:xfrm>
            <a:off x="6400800" y="3611880"/>
            <a:ext cx="4937760" cy="2103120"/>
          </a:xfrm>
          <a:prstGeom prst="rect">
            <a:avLst/>
          </a:prstGeom>
          <a:noFill/>
          <a:ln/>
        </p:spPr>
        <p:txBody>
          <a:bodyPr wrap="square" lIns="0" tIns="0" rIns="0" bIns="0" rtlCol="0" anchor="ctr"/>
          <a:lstStyle/>
          <a:p>
            <a:pPr marL="0" indent="0">
              <a:buNone/>
            </a:pPr>
            <a:r>
              <a:rPr lang="en-US" sz="1350" dirty="0">
                <a:solidFill>
                  <a:srgbClr val="E7F2F8"/>
                </a:solidFill>
                <a:latin typeface="Calibri" pitchFamily="34" charset="0"/>
                <a:ea typeface="Calibri" pitchFamily="34" charset="-122"/>
                <a:cs typeface="Calibri" pitchFamily="34" charset="-120"/>
              </a:rPr>
              <a:t>Every preprocessing step — filtering, referencing, anything else — should be checked by eye. Compare the raw trace and power spectrum before and after to confirm the step did what you intended.</a:t>
            </a:r>
            <a:endParaRPr lang="en-US" sz="1350" dirty="0"/>
          </a:p>
        </p:txBody>
      </p:sp>
      <p:sp>
        <p:nvSpPr>
          <p:cNvPr id="14" name="Text 10"/>
          <p:cNvSpPr/>
          <p:nvPr/>
        </p:nvSpPr>
        <p:spPr>
          <a:xfrm>
            <a:off x="457200" y="6510528"/>
            <a:ext cx="7315200" cy="274320"/>
          </a:xfrm>
          <a:prstGeom prst="rect">
            <a:avLst/>
          </a:prstGeom>
          <a:noFill/>
          <a:ln/>
        </p:spPr>
        <p:txBody>
          <a:bodyPr wrap="square" rtlCol="0" anchor="ctr"/>
          <a:lstStyle/>
          <a:p>
            <a:pPr marL="0" indent="0" algn="l">
              <a:buNone/>
            </a:pPr>
            <a:r>
              <a:rPr lang="en-US" sz="1000" dirty="0">
                <a:solidFill>
                  <a:srgbClr val="5B6B7A"/>
                </a:solidFill>
                <a:latin typeface="Calibri" pitchFamily="34" charset="0"/>
                <a:ea typeface="Calibri" pitchFamily="34" charset="-122"/>
                <a:cs typeface="Calibri" pitchFamily="34" charset="-120"/>
              </a:rPr>
              <a:t>Part D · Practical Considerations</a:t>
            </a:r>
            <a:endParaRPr lang="en-US" sz="1000" dirty="0"/>
          </a:p>
        </p:txBody>
      </p:sp>
      <p:sp>
        <p:nvSpPr>
          <p:cNvPr id="15" name="Text 11"/>
          <p:cNvSpPr/>
          <p:nvPr/>
        </p:nvSpPr>
        <p:spPr>
          <a:xfrm>
            <a:off x="8046720" y="6510528"/>
            <a:ext cx="365760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Session 6 · Filtering &amp; Re-referencing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2377</TotalTime>
  <Words>1345</Words>
  <Application>Microsoft Office PowerPoint</Application>
  <PresentationFormat>Widescreen</PresentationFormat>
  <Paragraphs>255</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Anita Eshun</cp:lastModifiedBy>
  <cp:revision>3</cp:revision>
  <dcterms:created xsi:type="dcterms:W3CDTF">2026-07-27T10:14:01Z</dcterms:created>
  <dcterms:modified xsi:type="dcterms:W3CDTF">2026-07-30T16:46:00Z</dcterms:modified>
</cp:coreProperties>
</file>